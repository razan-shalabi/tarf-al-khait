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5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63" y="-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B1ABA-76ED-436D-BF86-BB3DE36F533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FDE48-7FAD-4D76-897A-D3E843F2F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019288" y="107446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تأطير المشكلة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04188" y="3559830"/>
            <a:ext cx="9445752" cy="0"/>
          </a:xfrm>
          <a:prstGeom prst="line">
            <a:avLst/>
          </a:prstGeom>
          <a:noFill/>
          <a:ln w="22225">
            <a:solidFill>
              <a:srgbClr val="D9AE5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97964" y="3504966"/>
            <a:ext cx="109728" cy="109728"/>
          </a:xfrm>
          <a:prstGeom prst="ellipse">
            <a:avLst/>
          </a:prstGeom>
          <a:solidFill>
            <a:srgbClr val="D9AE55"/>
          </a:solidFill>
          <a:ln/>
        </p:spPr>
      </p:sp>
      <p:sp>
        <p:nvSpPr>
          <p:cNvPr id="6" name="Shape 4"/>
          <p:cNvSpPr/>
          <p:nvPr/>
        </p:nvSpPr>
        <p:spPr>
          <a:xfrm>
            <a:off x="6167628" y="3504966"/>
            <a:ext cx="109728" cy="109728"/>
          </a:xfrm>
          <a:prstGeom prst="ellipse">
            <a:avLst/>
          </a:prstGeom>
          <a:solidFill>
            <a:srgbClr val="D9AE55"/>
          </a:solidFill>
          <a:ln/>
        </p:spPr>
      </p:sp>
      <p:sp>
        <p:nvSpPr>
          <p:cNvPr id="7" name="Shape 5"/>
          <p:cNvSpPr/>
          <p:nvPr/>
        </p:nvSpPr>
        <p:spPr>
          <a:xfrm>
            <a:off x="10346436" y="3504966"/>
            <a:ext cx="109728" cy="109728"/>
          </a:xfrm>
          <a:prstGeom prst="ellipse">
            <a:avLst/>
          </a:prstGeom>
          <a:solidFill>
            <a:srgbClr val="D9AE55"/>
          </a:solidFill>
          <a:ln/>
        </p:spPr>
      </p:sp>
      <p:sp>
        <p:nvSpPr>
          <p:cNvPr id="8" name="Shape 6"/>
          <p:cNvSpPr/>
          <p:nvPr/>
        </p:nvSpPr>
        <p:spPr>
          <a:xfrm>
            <a:off x="681228" y="186819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" y="2005350"/>
            <a:ext cx="1101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ar-SA" dirty="0">
                <a:solidFill>
                  <a:schemeClr val="bg1"/>
                </a:solidFill>
              </a:rPr>
              <a:t>تعاني البلديات الفلسطينية من تداخل في الصلاحيات وغياب مسار موحد وموثّق لأي معاملة </a:t>
            </a:r>
            <a:r>
              <a:rPr lang="ar-SA" dirty="0" smtClean="0">
                <a:solidFill>
                  <a:schemeClr val="bg1"/>
                </a:solidFill>
              </a:rPr>
              <a:t>إدارية، فتنتقل </a:t>
            </a:r>
            <a:r>
              <a:rPr lang="ar-SA" dirty="0">
                <a:solidFill>
                  <a:schemeClr val="bg1"/>
                </a:solidFill>
              </a:rPr>
              <a:t>المعاملة بين أقسام متعددة دون طرف خيط واحد يربطها، ويعتمد إنجازها على اجتهاد الموظف لا على إجراء </a:t>
            </a:r>
            <a:r>
              <a:rPr lang="ar-SA" dirty="0" smtClean="0">
                <a:solidFill>
                  <a:schemeClr val="bg1"/>
                </a:solidFill>
              </a:rPr>
              <a:t>واضح، فيضيع </a:t>
            </a:r>
            <a:r>
              <a:rPr lang="ar-SA" dirty="0">
                <a:solidFill>
                  <a:schemeClr val="bg1"/>
                </a:solidFill>
              </a:rPr>
              <a:t>المواطن دون معرفة أين معاملته أو من المسؤول عنها، ويضيع معها الوقت والثقة بالمؤسسة.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70748" y="392559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/>
        </p:spPr>
      </p:sp>
      <p:sp>
        <p:nvSpPr>
          <p:cNvPr id="11" name="Shape 9"/>
          <p:cNvSpPr/>
          <p:nvPr/>
        </p:nvSpPr>
        <p:spPr>
          <a:xfrm>
            <a:off x="9761220" y="4154190"/>
            <a:ext cx="548640" cy="54864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429135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70748" y="483999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المواطن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45068" y="520575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يعرف أين معاملته أو من المسؤول عنها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494276" y="392559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/>
        </p:spPr>
      </p:sp>
      <p:sp>
        <p:nvSpPr>
          <p:cNvPr id="16" name="Shape 13"/>
          <p:cNvSpPr/>
          <p:nvPr/>
        </p:nvSpPr>
        <p:spPr>
          <a:xfrm>
            <a:off x="5984748" y="4154190"/>
            <a:ext cx="548640" cy="54864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429135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94276" y="483999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الموظف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4768596" y="520575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يبحث يدوياً بين الأقسام عن كل ملف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81228" y="3925590"/>
            <a:ext cx="353872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/>
        </p:spPr>
      </p:sp>
      <p:sp>
        <p:nvSpPr>
          <p:cNvPr id="21" name="Shape 17"/>
          <p:cNvSpPr/>
          <p:nvPr/>
        </p:nvSpPr>
        <p:spPr>
          <a:xfrm>
            <a:off x="2171700" y="4154190"/>
            <a:ext cx="548640" cy="54864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" y="429135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" y="483999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المدير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955548" y="520575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يملك رؤية حقيقية لمواقع التعطل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6" b="90000" l="0" r="100000">
                        <a14:foregroundMark x1="59163" y1="35730" x2="59163" y2="35730"/>
                        <a14:foregroundMark x1="80090" y1="33371" x2="80090" y2="33371"/>
                      </a14:backgroundRemoval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53" y="-26"/>
            <a:ext cx="2906453" cy="1463089"/>
          </a:xfrm>
          <a:prstGeom prst="rect">
            <a:avLst/>
          </a:prstGeom>
        </p:spPr>
      </p:pic>
      <p:pic>
        <p:nvPicPr>
          <p:cNvPr id="1026" name="Picture 2" descr="C:\Users\rwtc\Downloads\WhatsApp Image 2026-08-11 at 13.44.50.jpeg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649" l="0" r="100000">
                        <a14:foregroundMark x1="47633" y1="77703" x2="47633" y2="77703"/>
                        <a14:foregroundMark x1="48924" y1="77027" x2="48924" y2="77027"/>
                        <a14:foregroundMark x1="52654" y1="45270" x2="52654" y2="45270"/>
                        <a14:foregroundMark x1="91392" y1="56757" x2="91392" y2="56757"/>
                        <a14:foregroundMark x1="80631" y1="41216" x2="80631" y2="41216"/>
                        <a14:backgroundMark x1="81349" y1="57432" x2="81349" y2="574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61" y="6052033"/>
            <a:ext cx="3257374" cy="69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82712" y="821905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 المقترح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9496" y="161848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618488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منظومة تشغيلية عامة تُطبَّق على أي إجراء بلدي، وتمسك بأربعة أطراف من الخيط بأي لحظة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63640" y="2807208"/>
            <a:ext cx="5367528" cy="1508760"/>
          </a:xfrm>
          <a:prstGeom prst="roundRect">
            <a:avLst>
              <a:gd name="adj" fmla="val 6061"/>
            </a:avLst>
          </a:prstGeom>
          <a:solidFill>
            <a:srgbClr val="F4F1E8"/>
          </a:solidFill>
          <a:ln/>
        </p:spPr>
      </p:sp>
      <p:sp>
        <p:nvSpPr>
          <p:cNvPr id="7" name="Shape 5"/>
          <p:cNvSpPr/>
          <p:nvPr/>
        </p:nvSpPr>
        <p:spPr>
          <a:xfrm>
            <a:off x="10853928" y="2980944"/>
            <a:ext cx="502920" cy="50292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3108960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مين مسؤول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83680" y="337413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مالك واحد يتابع المعاملة من أولها لآخرها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9496" y="2807208"/>
            <a:ext cx="5367528" cy="1508760"/>
          </a:xfrm>
          <a:prstGeom prst="roundRect">
            <a:avLst>
              <a:gd name="adj" fmla="val 6061"/>
            </a:avLst>
          </a:prstGeom>
          <a:solidFill>
            <a:srgbClr val="F4F1E8"/>
          </a:solidFill>
          <a:ln/>
        </p:spPr>
      </p:sp>
      <p:sp>
        <p:nvSpPr>
          <p:cNvPr id="12" name="Shape 9"/>
          <p:cNvSpPr/>
          <p:nvPr/>
        </p:nvSpPr>
        <p:spPr>
          <a:xfrm>
            <a:off x="5129784" y="2980944"/>
            <a:ext cx="502920" cy="50292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108960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وين واصلة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9536" y="337413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</a:t>
            </a: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مسارات</a:t>
            </a:r>
            <a:r>
              <a:rPr lang="en-US" sz="1600" dirty="0" smtClean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جواز رقمي للمعاملة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63640" y="4498848"/>
            <a:ext cx="5367528" cy="1508760"/>
          </a:xfrm>
          <a:prstGeom prst="roundRect">
            <a:avLst>
              <a:gd name="adj" fmla="val 6061"/>
            </a:avLst>
          </a:prstGeom>
          <a:solidFill>
            <a:srgbClr val="F4F1E8"/>
          </a:solidFill>
          <a:ln/>
        </p:spPr>
      </p:sp>
      <p:sp>
        <p:nvSpPr>
          <p:cNvPr id="17" name="Shape 13"/>
          <p:cNvSpPr/>
          <p:nvPr/>
        </p:nvSpPr>
        <p:spPr>
          <a:xfrm>
            <a:off x="10853928" y="4672584"/>
            <a:ext cx="502920" cy="50292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1944" y="4800600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ليش توقفت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583680" y="50657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ساعة خدمة تُبيّن السبب الحقيقي لا الحالة فقط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39496" y="4498848"/>
            <a:ext cx="5367528" cy="1508760"/>
          </a:xfrm>
          <a:prstGeom prst="roundRect">
            <a:avLst>
              <a:gd name="adj" fmla="val 6061"/>
            </a:avLst>
          </a:prstGeom>
          <a:solidFill>
            <a:srgbClr val="F4F1E8"/>
          </a:solidFill>
          <a:ln/>
        </p:spPr>
      </p:sp>
      <p:sp>
        <p:nvSpPr>
          <p:cNvPr id="22" name="Shape 17"/>
          <p:cNvSpPr/>
          <p:nvPr/>
        </p:nvSpPr>
        <p:spPr>
          <a:xfrm>
            <a:off x="5129784" y="4672584"/>
            <a:ext cx="502920" cy="502920"/>
          </a:xfrm>
          <a:prstGeom prst="ellipse">
            <a:avLst/>
          </a:prstGeom>
          <a:solidFill>
            <a:srgbClr val="2D4270"/>
          </a:solidFill>
          <a:ln w="12700">
            <a:solidFill>
              <a:srgbClr val="D9AE5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800600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مين يتدخل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859536" y="50657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تصعيد تلقائي ومسار </a:t>
            </a:r>
            <a:r>
              <a:rPr lang="en-US" sz="1600" dirty="0" err="1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طوارئ</a:t>
            </a:r>
            <a:r>
              <a:rPr lang="en-US" sz="1600" dirty="0">
                <a:solidFill>
                  <a:srgbClr val="24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46" b="90000" l="0" r="100000">
                        <a14:foregroundMark x1="59163" y1="35730" x2="59163" y2="35730"/>
                        <a14:foregroundMark x1="80090" y1="33371" x2="80090" y2="33371"/>
                      </a14:backgroundRemoval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53" y="-26"/>
            <a:ext cx="2906453" cy="1463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132</Words>
  <Application>Microsoft Office PowerPoint</Application>
  <PresentationFormat>Custom</PresentationFormat>
  <Paragraphs>20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Razan Shalabi</cp:lastModifiedBy>
  <cp:revision>15</cp:revision>
  <dcterms:created xsi:type="dcterms:W3CDTF">2026-08-10T18:19:28Z</dcterms:created>
  <dcterms:modified xsi:type="dcterms:W3CDTF">2026-08-11T10:48:01Z</dcterms:modified>
</cp:coreProperties>
</file>