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cxnSp>
        <p:nvCxnSpPr>
          <p:cNvPr id="2" name="Connector 1"/>
          <p:cNvCxnSpPr/>
          <p:nvPr/>
        </p:nvCxnSpPr>
        <p:spPr>
          <a:xfrm flipV="1">
            <a:off x="7863840" y="685800"/>
            <a:ext cx="2926080" cy="50292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1097280" y="5349240"/>
            <a:ext cx="2560320" cy="45720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3696004" y="2692908"/>
            <a:ext cx="137160" cy="137160"/>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31720"/>
            <a:ext cx="12191695" cy="914400"/>
          </a:xfrm>
          <a:prstGeom prst="rect">
            <a:avLst/>
          </a:prstGeom>
          <a:noFill/>
        </p:spPr>
        <p:txBody>
          <a:bodyPr wrap="square" lIns="0" rIns="0" tIns="0" bIns="0" anchor="t">
            <a:spAutoFit/>
          </a:bodyPr>
          <a:lstStyle/>
          <a:p>
            <a:pPr algn="ctr"/>
            <a:r>
              <a:rPr sz="5400" b="1" i="0">
                <a:solidFill>
                  <a:srgbClr val="FFFFFF"/>
                </a:solidFill>
                <a:latin typeface="Arial"/>
                <a:cs typeface="Arial"/>
              </a:rPr>
              <a:t>طرف الخيط</a:t>
            </a:r>
          </a:p>
        </p:txBody>
      </p:sp>
      <p:cxnSp>
        <p:nvCxnSpPr>
          <p:cNvPr id="6" name="Connector 5"/>
          <p:cNvCxnSpPr/>
          <p:nvPr/>
        </p:nvCxnSpPr>
        <p:spPr>
          <a:xfrm>
            <a:off x="4541824" y="3456432"/>
            <a:ext cx="3108960" cy="0"/>
          </a:xfrm>
          <a:prstGeom prst="line">
            <a:avLst/>
          </a:prstGeom>
          <a:ln w="19050">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0" y="3611880"/>
            <a:ext cx="12191695" cy="502920"/>
          </a:xfrm>
          <a:prstGeom prst="rect">
            <a:avLst/>
          </a:prstGeom>
          <a:noFill/>
        </p:spPr>
        <p:txBody>
          <a:bodyPr wrap="square" lIns="0" rIns="0" tIns="0" bIns="0" anchor="t">
            <a:spAutoFit/>
          </a:bodyPr>
          <a:lstStyle/>
          <a:p>
            <a:pPr algn="ctr"/>
            <a:r>
              <a:rPr sz="1900" b="0" i="1">
                <a:solidFill>
                  <a:srgbClr val="E7C476"/>
                </a:solidFill>
                <a:latin typeface="Arial"/>
                <a:cs typeface="Arial"/>
              </a:rPr>
              <a:t>كل معاملة لها خيط… نحن نمسك طرفه</a:t>
            </a:r>
          </a:p>
        </p:txBody>
      </p:sp>
      <p:sp>
        <p:nvSpPr>
          <p:cNvPr id="8" name="TextBox 7"/>
          <p:cNvSpPr txBox="1"/>
          <p:nvPr/>
        </p:nvSpPr>
        <p:spPr>
          <a:xfrm>
            <a:off x="0" y="4160520"/>
            <a:ext cx="12191695" cy="365760"/>
          </a:xfrm>
          <a:prstGeom prst="rect">
            <a:avLst/>
          </a:prstGeom>
          <a:noFill/>
        </p:spPr>
        <p:txBody>
          <a:bodyPr wrap="square" lIns="0" rIns="0" tIns="0" bIns="0" anchor="t">
            <a:spAutoFit/>
          </a:bodyPr>
          <a:lstStyle/>
          <a:p>
            <a:pPr algn="ctr"/>
            <a:r>
              <a:rPr sz="1350" b="0" i="0">
                <a:solidFill>
                  <a:srgbClr val="AEB9CC"/>
                </a:solidFill>
                <a:latin typeface="Arial"/>
                <a:cs typeface="Arial"/>
              </a:rPr>
              <a:t>منصة تشغيلية موحّدة لخدمات البلديات الفلسطينية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المشكلة</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معاملة بلا طرف خيط واحد يمسك بها من أولها لآخرها</a:t>
            </a:r>
          </a:p>
        </p:txBody>
      </p:sp>
      <p:sp>
        <p:nvSpPr>
          <p:cNvPr id="4" name="TextBox 3"/>
          <p:cNvSpPr txBox="1"/>
          <p:nvPr/>
        </p:nvSpPr>
        <p:spPr>
          <a:xfrm>
            <a:off x="548640" y="1600200"/>
            <a:ext cx="11094415" cy="822960"/>
          </a:xfrm>
          <a:prstGeom prst="rect">
            <a:avLst/>
          </a:prstGeom>
          <a:noFill/>
        </p:spPr>
        <p:txBody>
          <a:bodyPr wrap="square" lIns="0" rIns="0" tIns="0" bIns="0" anchor="t">
            <a:spAutoFit/>
          </a:bodyPr>
          <a:lstStyle/>
          <a:p>
            <a:pPr algn="r">
              <a:lnSpc>
                <a:spcPct val="115000"/>
              </a:lnSpc>
            </a:pPr>
            <a:r>
              <a:rPr sz="1500" b="0" i="0">
                <a:solidFill>
                  <a:srgbClr val="1D2433"/>
                </a:solidFill>
                <a:latin typeface="Arial"/>
                <a:cs typeface="Arial"/>
              </a:rPr>
              <a:t>البلديات الفلسطينية تعاني من تداخل في الصلاحيات وغياب مسار موحّد وموثّق لأي معاملة إدارية. رقمنة هذا الواقع كما هو، دون حل هذا التداخل أولاً، تحوّل الفوضى الورقية إلى فوضى إلكترونية أسرع فقط.</a:t>
            </a:r>
          </a:p>
        </p:txBody>
      </p:sp>
      <p:cxnSp>
        <p:nvCxnSpPr>
          <p:cNvPr id="5" name="Connector 4"/>
          <p:cNvCxnSpPr/>
          <p:nvPr/>
        </p:nvCxnSpPr>
        <p:spPr>
          <a:xfrm>
            <a:off x="2291029" y="2679192"/>
            <a:ext cx="7609637" cy="0"/>
          </a:xfrm>
          <a:prstGeom prst="line">
            <a:avLst/>
          </a:prstGeom>
          <a:ln w="22225">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158277" y="2697480"/>
            <a:ext cx="3484778" cy="21488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726930" y="2523744"/>
            <a:ext cx="347472" cy="347472"/>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Arial"/>
                <a:cs typeface="Arial"/>
              </a:rPr>
              <a:t>١</a:t>
            </a:r>
          </a:p>
        </p:txBody>
      </p:sp>
      <p:sp>
        <p:nvSpPr>
          <p:cNvPr id="8" name="TextBox 7"/>
          <p:cNvSpPr txBox="1"/>
          <p:nvPr/>
        </p:nvSpPr>
        <p:spPr>
          <a:xfrm>
            <a:off x="8386877" y="3081528"/>
            <a:ext cx="3027578" cy="365760"/>
          </a:xfrm>
          <a:prstGeom prst="rect">
            <a:avLst/>
          </a:prstGeom>
          <a:noFill/>
        </p:spPr>
        <p:txBody>
          <a:bodyPr wrap="square" lIns="0" rIns="0" tIns="0" bIns="0" anchor="t">
            <a:spAutoFit/>
          </a:bodyPr>
          <a:lstStyle/>
          <a:p>
            <a:pPr algn="ctr"/>
            <a:r>
              <a:rPr sz="1700" b="1" i="0">
                <a:solidFill>
                  <a:srgbClr val="0E2340"/>
                </a:solidFill>
                <a:latin typeface="Arial"/>
                <a:cs typeface="Arial"/>
              </a:rPr>
              <a:t>المواطن</a:t>
            </a:r>
          </a:p>
        </p:txBody>
      </p:sp>
      <p:sp>
        <p:nvSpPr>
          <p:cNvPr id="9" name="TextBox 8"/>
          <p:cNvSpPr txBox="1"/>
          <p:nvPr/>
        </p:nvSpPr>
        <p:spPr>
          <a:xfrm>
            <a:off x="8386877" y="3566160"/>
            <a:ext cx="3027578" cy="1097280"/>
          </a:xfrm>
          <a:prstGeom prst="rect">
            <a:avLst/>
          </a:prstGeom>
          <a:noFill/>
        </p:spPr>
        <p:txBody>
          <a:bodyPr wrap="square" lIns="0" rIns="0" tIns="0" bIns="0" anchor="t">
            <a:spAutoFit/>
          </a:bodyPr>
          <a:lstStyle/>
          <a:p>
            <a:pPr algn="ctr"/>
            <a:r>
              <a:rPr sz="1250" b="0" i="0">
                <a:solidFill>
                  <a:srgbClr val="5B6472"/>
                </a:solidFill>
                <a:latin typeface="Arial"/>
                <a:cs typeface="Arial"/>
              </a:rPr>
              <a:t>يضيع دون معرفة أين معاملته أو من المسؤول عنها</a:t>
            </a:r>
          </a:p>
        </p:txBody>
      </p:sp>
      <p:sp>
        <p:nvSpPr>
          <p:cNvPr id="10" name="Rounded Rectangle 9"/>
          <p:cNvSpPr/>
          <p:nvPr/>
        </p:nvSpPr>
        <p:spPr>
          <a:xfrm>
            <a:off x="4353459" y="2697480"/>
            <a:ext cx="3484778" cy="21488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922112" y="2523744"/>
            <a:ext cx="347472" cy="347472"/>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Arial"/>
                <a:cs typeface="Arial"/>
              </a:rPr>
              <a:t>٢</a:t>
            </a:r>
          </a:p>
        </p:txBody>
      </p:sp>
      <p:sp>
        <p:nvSpPr>
          <p:cNvPr id="12" name="TextBox 11"/>
          <p:cNvSpPr txBox="1"/>
          <p:nvPr/>
        </p:nvSpPr>
        <p:spPr>
          <a:xfrm>
            <a:off x="4582059" y="3081528"/>
            <a:ext cx="3027578" cy="365760"/>
          </a:xfrm>
          <a:prstGeom prst="rect">
            <a:avLst/>
          </a:prstGeom>
          <a:noFill/>
        </p:spPr>
        <p:txBody>
          <a:bodyPr wrap="square" lIns="0" rIns="0" tIns="0" bIns="0" anchor="t">
            <a:spAutoFit/>
          </a:bodyPr>
          <a:lstStyle/>
          <a:p>
            <a:pPr algn="ctr"/>
            <a:r>
              <a:rPr sz="1700" b="1" i="0">
                <a:solidFill>
                  <a:srgbClr val="0E2340"/>
                </a:solidFill>
                <a:latin typeface="Arial"/>
                <a:cs typeface="Arial"/>
              </a:rPr>
              <a:t>الموظف</a:t>
            </a:r>
          </a:p>
        </p:txBody>
      </p:sp>
      <p:sp>
        <p:nvSpPr>
          <p:cNvPr id="13" name="TextBox 12"/>
          <p:cNvSpPr txBox="1"/>
          <p:nvPr/>
        </p:nvSpPr>
        <p:spPr>
          <a:xfrm>
            <a:off x="4582059" y="3566160"/>
            <a:ext cx="3027578" cy="1097280"/>
          </a:xfrm>
          <a:prstGeom prst="rect">
            <a:avLst/>
          </a:prstGeom>
          <a:noFill/>
        </p:spPr>
        <p:txBody>
          <a:bodyPr wrap="square" lIns="0" rIns="0" tIns="0" bIns="0" anchor="t">
            <a:spAutoFit/>
          </a:bodyPr>
          <a:lstStyle/>
          <a:p>
            <a:pPr algn="ctr"/>
            <a:r>
              <a:rPr sz="1250" b="0" i="0">
                <a:solidFill>
                  <a:srgbClr val="5B6472"/>
                </a:solidFill>
                <a:latin typeface="Arial"/>
                <a:cs typeface="Arial"/>
              </a:rPr>
              <a:t>ينسّق يدوياً ومتكرراً بين الأقسام لإنجاز خطوة واحدة</a:t>
            </a:r>
          </a:p>
        </p:txBody>
      </p:sp>
      <p:sp>
        <p:nvSpPr>
          <p:cNvPr id="14" name="Rounded Rectangle 13"/>
          <p:cNvSpPr/>
          <p:nvPr/>
        </p:nvSpPr>
        <p:spPr>
          <a:xfrm>
            <a:off x="548641" y="2697480"/>
            <a:ext cx="3484778" cy="21488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117294" y="2523744"/>
            <a:ext cx="347472" cy="347472"/>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i="0">
                <a:solidFill>
                  <a:srgbClr val="FFFFFF"/>
                </a:solidFill>
                <a:latin typeface="Arial"/>
                <a:cs typeface="Arial"/>
              </a:rPr>
              <a:t>٣</a:t>
            </a:r>
          </a:p>
        </p:txBody>
      </p:sp>
      <p:sp>
        <p:nvSpPr>
          <p:cNvPr id="16" name="TextBox 15"/>
          <p:cNvSpPr txBox="1"/>
          <p:nvPr/>
        </p:nvSpPr>
        <p:spPr>
          <a:xfrm>
            <a:off x="777241" y="3081528"/>
            <a:ext cx="3027578" cy="365760"/>
          </a:xfrm>
          <a:prstGeom prst="rect">
            <a:avLst/>
          </a:prstGeom>
          <a:noFill/>
        </p:spPr>
        <p:txBody>
          <a:bodyPr wrap="square" lIns="0" rIns="0" tIns="0" bIns="0" anchor="t">
            <a:spAutoFit/>
          </a:bodyPr>
          <a:lstStyle/>
          <a:p>
            <a:pPr algn="ctr"/>
            <a:r>
              <a:rPr sz="1700" b="1" i="0">
                <a:solidFill>
                  <a:srgbClr val="0E2340"/>
                </a:solidFill>
                <a:latin typeface="Arial"/>
                <a:cs typeface="Arial"/>
              </a:rPr>
              <a:t>المدير</a:t>
            </a:r>
          </a:p>
        </p:txBody>
      </p:sp>
      <p:sp>
        <p:nvSpPr>
          <p:cNvPr id="17" name="TextBox 16"/>
          <p:cNvSpPr txBox="1"/>
          <p:nvPr/>
        </p:nvSpPr>
        <p:spPr>
          <a:xfrm>
            <a:off x="777241" y="3566160"/>
            <a:ext cx="3027578" cy="1097280"/>
          </a:xfrm>
          <a:prstGeom prst="rect">
            <a:avLst/>
          </a:prstGeom>
          <a:noFill/>
        </p:spPr>
        <p:txBody>
          <a:bodyPr wrap="square" lIns="0" rIns="0" tIns="0" bIns="0" anchor="t">
            <a:spAutoFit/>
          </a:bodyPr>
          <a:lstStyle/>
          <a:p>
            <a:pPr algn="ctr"/>
            <a:r>
              <a:rPr sz="1250" b="0" i="0">
                <a:solidFill>
                  <a:srgbClr val="5B6472"/>
                </a:solidFill>
                <a:latin typeface="Arial"/>
                <a:cs typeface="Arial"/>
              </a:rPr>
              <a:t>يفتقر لأي رؤية حقيقية لمكامن التعطل الفعلية</a:t>
            </a:r>
          </a:p>
        </p:txBody>
      </p:sp>
      <p:sp>
        <p:nvSpPr>
          <p:cNvPr id="18" name="TextBox 17"/>
          <p:cNvSpPr txBox="1"/>
          <p:nvPr/>
        </p:nvSpPr>
        <p:spPr>
          <a:xfrm>
            <a:off x="548640" y="5166360"/>
            <a:ext cx="11094415" cy="822960"/>
          </a:xfrm>
          <a:prstGeom prst="rect">
            <a:avLst/>
          </a:prstGeom>
          <a:noFill/>
        </p:spPr>
        <p:txBody>
          <a:bodyPr wrap="square" lIns="0" rIns="0" tIns="0" bIns="0" anchor="t">
            <a:spAutoFit/>
          </a:bodyPr>
          <a:lstStyle/>
          <a:p>
            <a:pPr algn="r">
              <a:lnSpc>
                <a:spcPct val="115000"/>
              </a:lnSpc>
            </a:pPr>
            <a:r>
              <a:rPr sz="1300" b="0" i="1">
                <a:solidFill>
                  <a:srgbClr val="9C7726"/>
                </a:solidFill>
                <a:latin typeface="Arial"/>
                <a:cs typeface="Arial"/>
              </a:rPr>
              <a:t>المنافسون سيقولون إن المشكلة هي تأخير المعاملات. المشكلة الحقيقية هي غياب طرف خيط واحد — نقطة واحدة يمسك بها الثلاثة لمعرفة الحقيقة الكاملة عن أي معاملة، بأي لحظة.</a:t>
            </a:r>
          </a:p>
        </p:txBody>
      </p:sp>
      <p:sp>
        <p:nvSpPr>
          <p:cNvPr id="19" name="TextBox 18"/>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02</a:t>
            </a:r>
          </a:p>
        </p:txBody>
      </p:sp>
      <p:sp>
        <p:nvSpPr>
          <p:cNvPr id="20" name="TextBox 19"/>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لماذا الآن</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الرقمنة وحدها لا تكفي</a:t>
            </a:r>
          </a:p>
        </p:txBody>
      </p:sp>
      <p:sp>
        <p:nvSpPr>
          <p:cNvPr id="4" name="Rounded Rectangle 3"/>
          <p:cNvSpPr/>
          <p:nvPr/>
        </p:nvSpPr>
        <p:spPr>
          <a:xfrm>
            <a:off x="6308728" y="1736640"/>
            <a:ext cx="5364327" cy="3337560"/>
          </a:xfrm>
          <a:prstGeom prst="roundRect">
            <a:avLst>
              <a:gd name="adj" fmla="val 8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78728" y="1691640"/>
            <a:ext cx="5364327" cy="3337560"/>
          </a:xfrm>
          <a:prstGeom prst="roundRect">
            <a:avLst>
              <a:gd name="adj" fmla="val 8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53048" y="1947672"/>
            <a:ext cx="4815687" cy="320040"/>
          </a:xfrm>
          <a:prstGeom prst="rect">
            <a:avLst/>
          </a:prstGeom>
          <a:noFill/>
        </p:spPr>
        <p:txBody>
          <a:bodyPr wrap="square" lIns="0" rIns="0" tIns="0" bIns="0" anchor="t">
            <a:spAutoFit/>
          </a:bodyPr>
          <a:lstStyle/>
          <a:p>
            <a:pPr algn="r"/>
            <a:r>
              <a:rPr sz="1200" b="1" i="0">
                <a:solidFill>
                  <a:srgbClr val="9C7726"/>
                </a:solidFill>
                <a:latin typeface="Arial"/>
                <a:cs typeface="Arial"/>
              </a:rPr>
              <a:t>بلدية رام الله</a:t>
            </a:r>
          </a:p>
        </p:txBody>
      </p:sp>
      <p:sp>
        <p:nvSpPr>
          <p:cNvPr id="7" name="TextBox 6"/>
          <p:cNvSpPr txBox="1"/>
          <p:nvPr/>
        </p:nvSpPr>
        <p:spPr>
          <a:xfrm>
            <a:off x="6553048" y="2258568"/>
            <a:ext cx="4815687" cy="731520"/>
          </a:xfrm>
          <a:prstGeom prst="rect">
            <a:avLst/>
          </a:prstGeom>
          <a:noFill/>
        </p:spPr>
        <p:txBody>
          <a:bodyPr wrap="square" lIns="0" rIns="0" tIns="0" bIns="0" anchor="t">
            <a:spAutoFit/>
          </a:bodyPr>
          <a:lstStyle/>
          <a:p>
            <a:pPr algn="r">
              <a:lnSpc>
                <a:spcPct val="110000"/>
              </a:lnSpc>
            </a:pPr>
            <a:r>
              <a:rPr sz="1550" b="1" i="0">
                <a:solidFill>
                  <a:srgbClr val="0E2340"/>
                </a:solidFill>
                <a:latin typeface="Arial"/>
                <a:cs typeface="Arial"/>
              </a:rPr>
              <a:t>منصة متقدمة رقمياً — لكن التتبع لا يزال «قريباً»</a:t>
            </a:r>
          </a:p>
        </p:txBody>
      </p:sp>
      <p:sp>
        <p:nvSpPr>
          <p:cNvPr id="8" name="TextBox 7"/>
          <p:cNvSpPr txBox="1"/>
          <p:nvPr/>
        </p:nvSpPr>
        <p:spPr>
          <a:xfrm>
            <a:off x="6553048" y="3063240"/>
            <a:ext cx="4815687" cy="1554480"/>
          </a:xfrm>
          <a:prstGeom prst="rect">
            <a:avLst/>
          </a:prstGeom>
          <a:noFill/>
        </p:spPr>
        <p:txBody>
          <a:bodyPr wrap="square" lIns="0" rIns="0" tIns="0" bIns="0" anchor="t">
            <a:spAutoFit/>
          </a:bodyPr>
          <a:lstStyle/>
          <a:p>
            <a:pPr algn="r">
              <a:lnSpc>
                <a:spcPct val="115000"/>
              </a:lnSpc>
            </a:pPr>
            <a:r>
              <a:rPr sz="1200" b="0" i="0">
                <a:solidFill>
                  <a:srgbClr val="1D2433"/>
                </a:solidFill>
                <a:latin typeface="Arial"/>
                <a:cs typeface="Arial"/>
              </a:rPr>
              <a:t>كتالوج خدمات إلكتروني كامل بـ١٩ فئة، مع تعبئة وتسليم الطلب إلكترونياً. لكن الوصف الرسمي للمنصة يذكر صراحة أن تتبع مسار الطلبات والدفع والاستلام إلكترونياً « سيُتاح قريباً » — أي أن هذا الجزء بالتحديد لم يُبنَ بعد.</a:t>
            </a:r>
          </a:p>
        </p:txBody>
      </p:sp>
      <p:sp>
        <p:nvSpPr>
          <p:cNvPr id="9" name="TextBox 8"/>
          <p:cNvSpPr txBox="1"/>
          <p:nvPr/>
        </p:nvSpPr>
        <p:spPr>
          <a:xfrm>
            <a:off x="6553048" y="4572000"/>
            <a:ext cx="4815687" cy="320040"/>
          </a:xfrm>
          <a:prstGeom prst="rect">
            <a:avLst/>
          </a:prstGeom>
          <a:noFill/>
        </p:spPr>
        <p:txBody>
          <a:bodyPr wrap="square" lIns="0" rIns="0" tIns="0" bIns="0" anchor="t">
            <a:spAutoFit/>
          </a:bodyPr>
          <a:lstStyle/>
          <a:p>
            <a:pPr algn="r"/>
            <a:r>
              <a:rPr sz="950" b="0" i="1">
                <a:solidFill>
                  <a:srgbClr val="8A93A3"/>
                </a:solidFill>
                <a:latin typeface="Arial"/>
                <a:cs typeface="Arial"/>
              </a:rPr>
              <a:t>المصدر: الوصف الرسمي لمنصة الخدمات الإلكترونية لبلدية رام الله</a:t>
            </a:r>
          </a:p>
        </p:txBody>
      </p:sp>
      <p:sp>
        <p:nvSpPr>
          <p:cNvPr id="10" name="Rounded Rectangle 9"/>
          <p:cNvSpPr/>
          <p:nvPr/>
        </p:nvSpPr>
        <p:spPr>
          <a:xfrm>
            <a:off x="578640" y="1736640"/>
            <a:ext cx="5364327" cy="3337560"/>
          </a:xfrm>
          <a:prstGeom prst="roundRect">
            <a:avLst>
              <a:gd name="adj" fmla="val 8000"/>
            </a:avLst>
          </a:prstGeom>
          <a:solidFill>
            <a:srgbClr val="E3E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1691640"/>
            <a:ext cx="5364327" cy="3337560"/>
          </a:xfrm>
          <a:prstGeom prst="roundRect">
            <a:avLst>
              <a:gd name="adj" fmla="val 8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47672"/>
            <a:ext cx="4815687" cy="320040"/>
          </a:xfrm>
          <a:prstGeom prst="rect">
            <a:avLst/>
          </a:prstGeom>
          <a:noFill/>
        </p:spPr>
        <p:txBody>
          <a:bodyPr wrap="square" lIns="0" rIns="0" tIns="0" bIns="0" anchor="t">
            <a:spAutoFit/>
          </a:bodyPr>
          <a:lstStyle/>
          <a:p>
            <a:pPr algn="r"/>
            <a:r>
              <a:rPr sz="1200" b="1" i="0">
                <a:solidFill>
                  <a:srgbClr val="9C7726"/>
                </a:solidFill>
                <a:latin typeface="Arial"/>
                <a:cs typeface="Arial"/>
              </a:rPr>
              <a:t>TAMM — أبوظبي</a:t>
            </a:r>
          </a:p>
        </p:txBody>
      </p:sp>
      <p:sp>
        <p:nvSpPr>
          <p:cNvPr id="13" name="TextBox 12"/>
          <p:cNvSpPr txBox="1"/>
          <p:nvPr/>
        </p:nvSpPr>
        <p:spPr>
          <a:xfrm>
            <a:off x="822960" y="2258568"/>
            <a:ext cx="4815687" cy="731520"/>
          </a:xfrm>
          <a:prstGeom prst="rect">
            <a:avLst/>
          </a:prstGeom>
          <a:noFill/>
        </p:spPr>
        <p:txBody>
          <a:bodyPr wrap="square" lIns="0" rIns="0" tIns="0" bIns="0" anchor="t">
            <a:spAutoFit/>
          </a:bodyPr>
          <a:lstStyle/>
          <a:p>
            <a:pPr algn="r">
              <a:lnSpc>
                <a:spcPct val="110000"/>
              </a:lnSpc>
            </a:pPr>
            <a:r>
              <a:rPr sz="1550" b="1" i="0">
                <a:solidFill>
                  <a:srgbClr val="0E2340"/>
                </a:solidFill>
                <a:latin typeface="Arial"/>
                <a:cs typeface="Arial"/>
              </a:rPr>
              <a:t>+١١٠٠ خدمة حكومية — بلا طبقة مسؤولية داخلية</a:t>
            </a:r>
          </a:p>
        </p:txBody>
      </p:sp>
      <p:sp>
        <p:nvSpPr>
          <p:cNvPr id="14" name="TextBox 13"/>
          <p:cNvSpPr txBox="1"/>
          <p:nvPr/>
        </p:nvSpPr>
        <p:spPr>
          <a:xfrm>
            <a:off x="822960" y="3063240"/>
            <a:ext cx="4815687" cy="1554480"/>
          </a:xfrm>
          <a:prstGeom prst="rect">
            <a:avLst/>
          </a:prstGeom>
          <a:noFill/>
        </p:spPr>
        <p:txBody>
          <a:bodyPr wrap="square" lIns="0" rIns="0" tIns="0" bIns="0" anchor="t">
            <a:spAutoFit/>
          </a:bodyPr>
          <a:lstStyle/>
          <a:p>
            <a:pPr algn="r">
              <a:lnSpc>
                <a:spcPct val="115000"/>
              </a:lnSpc>
            </a:pPr>
            <a:r>
              <a:rPr sz="1200" b="0" i="0">
                <a:solidFill>
                  <a:srgbClr val="1D2433"/>
                </a:solidFill>
                <a:latin typeface="Arial"/>
                <a:cs typeface="Arial"/>
              </a:rPr>
              <a:t>أقوى منصة إقليمية: كتالوج موحّد من عشرات الجهات الحكومية، بمعلومات شفافة عن الرسوم والمستندات والخطوات. لكن صفحات الخدمة العامة لا تعرض مالك المعاملة ولا سبب التأخير الحقيقي — هذه الطبقة غير موجودة أصلاً.</a:t>
            </a:r>
          </a:p>
        </p:txBody>
      </p:sp>
      <p:sp>
        <p:nvSpPr>
          <p:cNvPr id="15" name="TextBox 14"/>
          <p:cNvSpPr txBox="1"/>
          <p:nvPr/>
        </p:nvSpPr>
        <p:spPr>
          <a:xfrm>
            <a:off x="822960" y="4572000"/>
            <a:ext cx="4815687" cy="320040"/>
          </a:xfrm>
          <a:prstGeom prst="rect">
            <a:avLst/>
          </a:prstGeom>
          <a:noFill/>
        </p:spPr>
        <p:txBody>
          <a:bodyPr wrap="square" lIns="0" rIns="0" tIns="0" bIns="0" anchor="t">
            <a:spAutoFit/>
          </a:bodyPr>
          <a:lstStyle/>
          <a:p>
            <a:pPr algn="r"/>
            <a:r>
              <a:rPr sz="950" b="0" i="1">
                <a:solidFill>
                  <a:srgbClr val="8A93A3"/>
                </a:solidFill>
                <a:latin typeface="Arial"/>
                <a:cs typeface="Arial"/>
              </a:rPr>
              <a:t>المصدر: معاينة مباشرة لمنصة tamm.abudhabi</a:t>
            </a:r>
          </a:p>
        </p:txBody>
      </p:sp>
      <p:sp>
        <p:nvSpPr>
          <p:cNvPr id="16" name="Rounded Rectangle 15"/>
          <p:cNvSpPr/>
          <p:nvPr/>
        </p:nvSpPr>
        <p:spPr>
          <a:xfrm>
            <a:off x="548640" y="5257800"/>
            <a:ext cx="11094415" cy="548640"/>
          </a:xfrm>
          <a:prstGeom prst="roundRect">
            <a:avLst>
              <a:gd name="adj" fmla="val 15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257800"/>
            <a:ext cx="10545775" cy="548640"/>
          </a:xfrm>
          <a:prstGeom prst="rect">
            <a:avLst/>
          </a:prstGeom>
          <a:noFill/>
        </p:spPr>
        <p:txBody>
          <a:bodyPr wrap="square" lIns="0" rIns="0" tIns="0" bIns="0" anchor="ctr">
            <a:spAutoFit/>
          </a:bodyPr>
          <a:lstStyle/>
          <a:p>
            <a:pPr algn="ctr"/>
            <a:r>
              <a:rPr sz="1350" b="1" i="0">
                <a:solidFill>
                  <a:srgbClr val="E7C476"/>
                </a:solidFill>
                <a:latin typeface="Arial"/>
                <a:cs typeface="Arial"/>
              </a:rPr>
              <a:t>حتى أقوى الأنظمة الإقليمية توقفت عند « أين طلبي؟ » — طرف الخيط يجاوب: مين مسؤول، ليش توقّف، ومين يتدخل.</a:t>
            </a:r>
          </a:p>
        </p:txBody>
      </p:sp>
      <p:sp>
        <p:nvSpPr>
          <p:cNvPr id="18" name="TextBox 17"/>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03</a:t>
            </a:r>
          </a:p>
        </p:txBody>
      </p:sp>
      <p:sp>
        <p:nvSpPr>
          <p:cNvPr id="19" name="TextBox 18"/>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الحل</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طرف الخيط: أربعة أطراف يمسكها المواطن والموظف والمدير في أي لحظة</a:t>
            </a:r>
          </a:p>
        </p:txBody>
      </p:sp>
      <p:cxnSp>
        <p:nvCxnSpPr>
          <p:cNvPr id="4" name="Connector 3"/>
          <p:cNvCxnSpPr/>
          <p:nvPr/>
        </p:nvCxnSpPr>
        <p:spPr>
          <a:xfrm>
            <a:off x="1832571" y="2103120"/>
            <a:ext cx="8526553" cy="0"/>
          </a:xfrm>
          <a:prstGeom prst="line">
            <a:avLst/>
          </a:prstGeom>
          <a:ln w="22225">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0139667"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١</a:t>
            </a:r>
          </a:p>
        </p:txBody>
      </p:sp>
      <p:sp>
        <p:nvSpPr>
          <p:cNvPr id="6" name="Rounded Rectangle 5"/>
          <p:cNvSpPr/>
          <p:nvPr/>
        </p:nvSpPr>
        <p:spPr>
          <a:xfrm>
            <a:off x="9075192"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9784"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مين مسؤول</a:t>
            </a:r>
          </a:p>
        </p:txBody>
      </p:sp>
      <p:sp>
        <p:nvSpPr>
          <p:cNvPr id="8" name="TextBox 7"/>
          <p:cNvSpPr txBox="1"/>
          <p:nvPr/>
        </p:nvSpPr>
        <p:spPr>
          <a:xfrm>
            <a:off x="9258072"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مالك واحد يتابع المعاملة من أولها لآخرها، بغض النظر عن عدد الأقسام التي تمر بها.</a:t>
            </a:r>
          </a:p>
        </p:txBody>
      </p:sp>
      <p:sp>
        <p:nvSpPr>
          <p:cNvPr id="9" name="Oval 8"/>
          <p:cNvSpPr/>
          <p:nvPr/>
        </p:nvSpPr>
        <p:spPr>
          <a:xfrm>
            <a:off x="7297484"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٢</a:t>
            </a:r>
          </a:p>
        </p:txBody>
      </p:sp>
      <p:sp>
        <p:nvSpPr>
          <p:cNvPr id="10" name="Rounded Rectangle 9"/>
          <p:cNvSpPr/>
          <p:nvPr/>
        </p:nvSpPr>
        <p:spPr>
          <a:xfrm>
            <a:off x="6233009"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7601"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وين واصلة</a:t>
            </a:r>
          </a:p>
        </p:txBody>
      </p:sp>
      <p:sp>
        <p:nvSpPr>
          <p:cNvPr id="12" name="TextBox 11"/>
          <p:cNvSpPr txBox="1"/>
          <p:nvPr/>
        </p:nvSpPr>
        <p:spPr>
          <a:xfrm>
            <a:off x="6415889"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محرك مسارات قابل للتهيئة، مع جواز رقمي واحد يوثّق رحلة كل معاملة كاملة.</a:t>
            </a:r>
          </a:p>
        </p:txBody>
      </p:sp>
      <p:sp>
        <p:nvSpPr>
          <p:cNvPr id="13" name="Oval 12"/>
          <p:cNvSpPr/>
          <p:nvPr/>
        </p:nvSpPr>
        <p:spPr>
          <a:xfrm>
            <a:off x="4455301"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٣</a:t>
            </a:r>
          </a:p>
        </p:txBody>
      </p:sp>
      <p:sp>
        <p:nvSpPr>
          <p:cNvPr id="14" name="Rounded Rectangle 13"/>
          <p:cNvSpPr/>
          <p:nvPr/>
        </p:nvSpPr>
        <p:spPr>
          <a:xfrm>
            <a:off x="3390826"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55418"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ليش توقفت</a:t>
            </a:r>
          </a:p>
        </p:txBody>
      </p:sp>
      <p:sp>
        <p:nvSpPr>
          <p:cNvPr id="16" name="TextBox 15"/>
          <p:cNvSpPr txBox="1"/>
          <p:nvPr/>
        </p:nvSpPr>
        <p:spPr>
          <a:xfrm>
            <a:off x="3573706"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ساعة خدمة تتوقف لا تعدّ بعمى — تُظهر السبب الحقيقي وراء أي تأخير.</a:t>
            </a:r>
          </a:p>
        </p:txBody>
      </p:sp>
      <p:sp>
        <p:nvSpPr>
          <p:cNvPr id="17" name="Oval 16"/>
          <p:cNvSpPr/>
          <p:nvPr/>
        </p:nvSpPr>
        <p:spPr>
          <a:xfrm>
            <a:off x="1613118" y="1883664"/>
            <a:ext cx="438912" cy="438912"/>
          </a:xfrm>
          <a:prstGeom prst="ellipse">
            <a:avLst/>
          </a:prstGeom>
          <a:solidFill>
            <a:srgbClr val="0E2340"/>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i="0">
                <a:solidFill>
                  <a:srgbClr val="FFFFFF"/>
                </a:solidFill>
                <a:latin typeface="Arial"/>
                <a:cs typeface="Arial"/>
              </a:rPr>
              <a:t>٤</a:t>
            </a:r>
          </a:p>
        </p:txBody>
      </p:sp>
      <p:sp>
        <p:nvSpPr>
          <p:cNvPr id="18" name="Rounded Rectangle 17"/>
          <p:cNvSpPr/>
          <p:nvPr/>
        </p:nvSpPr>
        <p:spPr>
          <a:xfrm>
            <a:off x="548643" y="2423160"/>
            <a:ext cx="2567863" cy="32461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5" y="2651760"/>
            <a:ext cx="2238679" cy="457200"/>
          </a:xfrm>
          <a:prstGeom prst="rect">
            <a:avLst/>
          </a:prstGeom>
          <a:noFill/>
        </p:spPr>
        <p:txBody>
          <a:bodyPr wrap="square" lIns="0" rIns="0" tIns="0" bIns="0" anchor="t">
            <a:spAutoFit/>
          </a:bodyPr>
          <a:lstStyle/>
          <a:p>
            <a:pPr algn="ctr"/>
            <a:r>
              <a:rPr sz="1600" b="1" i="0">
                <a:solidFill>
                  <a:srgbClr val="0E2340"/>
                </a:solidFill>
                <a:latin typeface="Arial"/>
                <a:cs typeface="Arial"/>
              </a:rPr>
              <a:t>مين يتدخل</a:t>
            </a:r>
          </a:p>
        </p:txBody>
      </p:sp>
      <p:sp>
        <p:nvSpPr>
          <p:cNvPr id="20" name="TextBox 19"/>
          <p:cNvSpPr txBox="1"/>
          <p:nvPr/>
        </p:nvSpPr>
        <p:spPr>
          <a:xfrm>
            <a:off x="731523" y="3154680"/>
            <a:ext cx="2202103" cy="2057400"/>
          </a:xfrm>
          <a:prstGeom prst="rect">
            <a:avLst/>
          </a:prstGeom>
          <a:noFill/>
        </p:spPr>
        <p:txBody>
          <a:bodyPr wrap="square" lIns="0" rIns="0" tIns="0" bIns="0" anchor="t">
            <a:spAutoFit/>
          </a:bodyPr>
          <a:lstStyle/>
          <a:p>
            <a:pPr algn="ctr">
              <a:lnSpc>
                <a:spcPct val="110000"/>
              </a:lnSpc>
            </a:pPr>
            <a:r>
              <a:rPr sz="1150" b="0" i="0">
                <a:solidFill>
                  <a:srgbClr val="5B6472"/>
                </a:solidFill>
                <a:latin typeface="Arial"/>
                <a:cs typeface="Arial"/>
              </a:rPr>
              <a:t>تصعيد تلقائي قبل تجاوز المدة، ومسار طوارئ منفصل تماماً عن الطابور العادي.</a:t>
            </a:r>
          </a:p>
        </p:txBody>
      </p:sp>
      <p:sp>
        <p:nvSpPr>
          <p:cNvPr id="21" name="TextBox 20"/>
          <p:cNvSpPr txBox="1"/>
          <p:nvPr/>
        </p:nvSpPr>
        <p:spPr>
          <a:xfrm>
            <a:off x="548640" y="5852160"/>
            <a:ext cx="11094415" cy="365760"/>
          </a:xfrm>
          <a:prstGeom prst="rect">
            <a:avLst/>
          </a:prstGeom>
          <a:noFill/>
        </p:spPr>
        <p:txBody>
          <a:bodyPr wrap="square" lIns="0" rIns="0" tIns="0" bIns="0" anchor="t">
            <a:spAutoFit/>
          </a:bodyPr>
          <a:lstStyle/>
          <a:p>
            <a:pPr algn="ctr"/>
            <a:r>
              <a:rPr sz="1200" b="0" i="1">
                <a:solidFill>
                  <a:srgbClr val="9C7726"/>
                </a:solidFill>
                <a:latin typeface="Arial"/>
                <a:cs typeface="Arial"/>
              </a:rPr>
              <a:t>تُبنى المنظومة فوق الخدمات الإلكترونية القائمة (كحكومتي) وتضيف الطبقة التشغيلية الغائبة عنها — لا تستبدلها.</a:t>
            </a:r>
          </a:p>
        </p:txBody>
      </p:sp>
      <p:sp>
        <p:nvSpPr>
          <p:cNvPr id="22" name="TextBox 21"/>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04</a:t>
            </a:r>
          </a:p>
        </p:txBody>
      </p:sp>
      <p:sp>
        <p:nvSpPr>
          <p:cNvPr id="23" name="TextBox 22"/>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كيف يعمل</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محرك واحد، أي عدد بلديات</a:t>
            </a:r>
          </a:p>
        </p:txBody>
      </p:sp>
      <p:sp>
        <p:nvSpPr>
          <p:cNvPr id="4" name="Rounded Rectangle 3"/>
          <p:cNvSpPr/>
          <p:nvPr/>
        </p:nvSpPr>
        <p:spPr>
          <a:xfrm>
            <a:off x="6507328" y="1965960"/>
            <a:ext cx="5135727" cy="3200400"/>
          </a:xfrm>
          <a:prstGeom prst="roundRect">
            <a:avLst>
              <a:gd name="adj" fmla="val 10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27368" y="2258568"/>
            <a:ext cx="3901287" cy="411480"/>
          </a:xfrm>
          <a:prstGeom prst="rect">
            <a:avLst/>
          </a:prstGeom>
          <a:noFill/>
        </p:spPr>
        <p:txBody>
          <a:bodyPr wrap="square" lIns="0" rIns="0" tIns="0" bIns="0" anchor="t">
            <a:spAutoFit/>
          </a:bodyPr>
          <a:lstStyle/>
          <a:p>
            <a:pPr algn="r"/>
            <a:r>
              <a:rPr sz="1700" b="1" i="0">
                <a:solidFill>
                  <a:srgbClr val="FFFFFF"/>
                </a:solidFill>
                <a:latin typeface="Arial"/>
                <a:cs typeface="Arial"/>
              </a:rPr>
              <a:t>لوحة تحكم البلدية</a:t>
            </a:r>
          </a:p>
        </p:txBody>
      </p:sp>
      <p:sp>
        <p:nvSpPr>
          <p:cNvPr id="6" name="Oval 5"/>
          <p:cNvSpPr/>
          <p:nvPr/>
        </p:nvSpPr>
        <p:spPr>
          <a:xfrm>
            <a:off x="11158423" y="2121408"/>
            <a:ext cx="329184" cy="329184"/>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0E2340"/>
                </a:solidFill>
                <a:latin typeface="Arial"/>
                <a:cs typeface="Arial"/>
              </a:rPr>
              <a:t>١</a:t>
            </a:r>
          </a:p>
        </p:txBody>
      </p:sp>
      <p:sp>
        <p:nvSpPr>
          <p:cNvPr id="7" name="Oval 6"/>
          <p:cNvSpPr/>
          <p:nvPr/>
        </p:nvSpPr>
        <p:spPr>
          <a:xfrm>
            <a:off x="11181283" y="2884932"/>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81648" y="2788920"/>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اسم الخدمة والوصف والقسم المسؤول</a:t>
            </a:r>
          </a:p>
        </p:txBody>
      </p:sp>
      <p:sp>
        <p:nvSpPr>
          <p:cNvPr id="9" name="Oval 8"/>
          <p:cNvSpPr/>
          <p:nvPr/>
        </p:nvSpPr>
        <p:spPr>
          <a:xfrm>
            <a:off x="11181283" y="3323844"/>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81648" y="3227832"/>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مسار المعاملة: الأقسام والترتيب والمدة القصوى لكل مرحلة</a:t>
            </a:r>
          </a:p>
        </p:txBody>
      </p:sp>
      <p:sp>
        <p:nvSpPr>
          <p:cNvPr id="11" name="Oval 10"/>
          <p:cNvSpPr/>
          <p:nvPr/>
        </p:nvSpPr>
        <p:spPr>
          <a:xfrm>
            <a:off x="11181283" y="3762756"/>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1648" y="3666744"/>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الرسوم العادية والمستعجلة</a:t>
            </a:r>
          </a:p>
        </p:txBody>
      </p:sp>
      <p:sp>
        <p:nvSpPr>
          <p:cNvPr id="13" name="Oval 12"/>
          <p:cNvSpPr/>
          <p:nvPr/>
        </p:nvSpPr>
        <p:spPr>
          <a:xfrm>
            <a:off x="11181283" y="4201668"/>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81648" y="4105656"/>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قائمة المستندات المطلوبة (إلزامي/اختياري)</a:t>
            </a:r>
          </a:p>
        </p:txBody>
      </p:sp>
      <p:sp>
        <p:nvSpPr>
          <p:cNvPr id="15" name="Oval 14"/>
          <p:cNvSpPr/>
          <p:nvPr/>
        </p:nvSpPr>
        <p:spPr>
          <a:xfrm>
            <a:off x="11181283" y="4640580"/>
            <a:ext cx="100584" cy="100584"/>
          </a:xfrm>
          <a:prstGeom prst="ellipse">
            <a:avLst/>
          </a:prstGeom>
          <a:solidFill>
            <a:srgbClr val="E7C476"/>
          </a:solidFill>
          <a:ln w="15875">
            <a:solidFill>
              <a:srgbClr val="E7C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81648" y="4544568"/>
            <a:ext cx="4358487" cy="365760"/>
          </a:xfrm>
          <a:prstGeom prst="rect">
            <a:avLst/>
          </a:prstGeom>
          <a:noFill/>
        </p:spPr>
        <p:txBody>
          <a:bodyPr wrap="square" lIns="0" rIns="0" tIns="0" bIns="0" anchor="t">
            <a:spAutoFit/>
          </a:bodyPr>
          <a:lstStyle/>
          <a:p>
            <a:pPr algn="r"/>
            <a:r>
              <a:rPr sz="1150" b="0" i="0">
                <a:solidFill>
                  <a:srgbClr val="D7DEEA"/>
                </a:solidFill>
                <a:latin typeface="Arial"/>
                <a:cs typeface="Arial"/>
              </a:rPr>
              <a:t>نشر الخدمة — بلا كتابة كود</a:t>
            </a:r>
          </a:p>
        </p:txBody>
      </p:sp>
      <p:cxnSp>
        <p:nvCxnSpPr>
          <p:cNvPr id="17" name="Connector 16"/>
          <p:cNvCxnSpPr/>
          <p:nvPr/>
        </p:nvCxnSpPr>
        <p:spPr>
          <a:xfrm>
            <a:off x="5684367" y="3566160"/>
            <a:ext cx="822961" cy="0"/>
          </a:xfrm>
          <a:prstGeom prst="line">
            <a:avLst/>
          </a:prstGeom>
          <a:ln w="25400">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16200000">
            <a:off x="5666079" y="3483864"/>
            <a:ext cx="164592" cy="164592"/>
          </a:xfrm>
          <a:prstGeom prst="triangle">
            <a:avLst/>
          </a:prstGeom>
          <a:solidFill>
            <a:srgbClr val="C79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84367" y="2999232"/>
            <a:ext cx="822961" cy="411480"/>
          </a:xfrm>
          <a:prstGeom prst="rect">
            <a:avLst/>
          </a:prstGeom>
          <a:noFill/>
        </p:spPr>
        <p:txBody>
          <a:bodyPr wrap="square" lIns="0" rIns="0" tIns="0" bIns="0" anchor="t">
            <a:spAutoFit/>
          </a:bodyPr>
          <a:lstStyle/>
          <a:p>
            <a:pPr algn="ctr"/>
            <a:r>
              <a:rPr sz="1000" b="0" i="1">
                <a:solidFill>
                  <a:srgbClr val="9C7726"/>
                </a:solidFill>
                <a:latin typeface="Arial"/>
                <a:cs typeface="Arial"/>
              </a:rPr>
              <a:t>بمجرد النشر، تظهر الخدمة فوراً</a:t>
            </a:r>
          </a:p>
        </p:txBody>
      </p:sp>
      <p:sp>
        <p:nvSpPr>
          <p:cNvPr id="20" name="Rounded Rectangle 19"/>
          <p:cNvSpPr/>
          <p:nvPr/>
        </p:nvSpPr>
        <p:spPr>
          <a:xfrm>
            <a:off x="548640" y="1965960"/>
            <a:ext cx="5135727" cy="3200400"/>
          </a:xfrm>
          <a:prstGeom prst="roundRect">
            <a:avLst>
              <a:gd name="adj" fmla="val 10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258568"/>
            <a:ext cx="3901287" cy="411480"/>
          </a:xfrm>
          <a:prstGeom prst="rect">
            <a:avLst/>
          </a:prstGeom>
          <a:noFill/>
        </p:spPr>
        <p:txBody>
          <a:bodyPr wrap="square" lIns="0" rIns="0" tIns="0" bIns="0" anchor="t">
            <a:spAutoFit/>
          </a:bodyPr>
          <a:lstStyle/>
          <a:p>
            <a:pPr algn="r"/>
            <a:r>
              <a:rPr sz="1700" b="1" i="0">
                <a:solidFill>
                  <a:srgbClr val="0E2340"/>
                </a:solidFill>
                <a:latin typeface="Arial"/>
                <a:cs typeface="Arial"/>
              </a:rPr>
              <a:t>واجهة طرف الخيط للمواطن</a:t>
            </a:r>
          </a:p>
        </p:txBody>
      </p:sp>
      <p:sp>
        <p:nvSpPr>
          <p:cNvPr id="22" name="Oval 21"/>
          <p:cNvSpPr/>
          <p:nvPr/>
        </p:nvSpPr>
        <p:spPr>
          <a:xfrm>
            <a:off x="5199735" y="2121408"/>
            <a:ext cx="329184" cy="329184"/>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Arial"/>
                <a:cs typeface="Arial"/>
              </a:rPr>
              <a:t>٢</a:t>
            </a:r>
          </a:p>
        </p:txBody>
      </p:sp>
      <p:sp>
        <p:nvSpPr>
          <p:cNvPr id="23" name="Oval 22"/>
          <p:cNvSpPr/>
          <p:nvPr/>
        </p:nvSpPr>
        <p:spPr>
          <a:xfrm>
            <a:off x="5222595" y="2884932"/>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788920"/>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كتالوج خدمات حي، يعكس كل بلدية بشكل مستقل</a:t>
            </a:r>
          </a:p>
        </p:txBody>
      </p:sp>
      <p:sp>
        <p:nvSpPr>
          <p:cNvPr id="25" name="Oval 24"/>
          <p:cNvSpPr/>
          <p:nvPr/>
        </p:nvSpPr>
        <p:spPr>
          <a:xfrm>
            <a:off x="5222595" y="3323844"/>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227832"/>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تقديم طلب بخطوات واضحة وقائمة مستندات دقيقة</a:t>
            </a:r>
          </a:p>
        </p:txBody>
      </p:sp>
      <p:sp>
        <p:nvSpPr>
          <p:cNvPr id="27" name="Oval 26"/>
          <p:cNvSpPr/>
          <p:nvPr/>
        </p:nvSpPr>
        <p:spPr>
          <a:xfrm>
            <a:off x="5222595" y="3762756"/>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4"/>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تتبع لحظي: المرحلة، مالك المعاملة، سبب أي تأخير</a:t>
            </a:r>
          </a:p>
        </p:txBody>
      </p:sp>
      <p:sp>
        <p:nvSpPr>
          <p:cNvPr id="29" name="Oval 28"/>
          <p:cNvSpPr/>
          <p:nvPr/>
        </p:nvSpPr>
        <p:spPr>
          <a:xfrm>
            <a:off x="5222595" y="4201668"/>
            <a:ext cx="100584" cy="100584"/>
          </a:xfrm>
          <a:prstGeom prst="ellipse">
            <a:avLst/>
          </a:prstGeom>
          <a:solidFill>
            <a:srgbClr val="9C7726"/>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105656"/>
            <a:ext cx="4358487" cy="365760"/>
          </a:xfrm>
          <a:prstGeom prst="rect">
            <a:avLst/>
          </a:prstGeom>
          <a:noFill/>
        </p:spPr>
        <p:txBody>
          <a:bodyPr wrap="square" lIns="0" rIns="0" tIns="0" bIns="0" anchor="t">
            <a:spAutoFit/>
          </a:bodyPr>
          <a:lstStyle/>
          <a:p>
            <a:pPr algn="r"/>
            <a:r>
              <a:rPr sz="1150" b="0" i="0">
                <a:solidFill>
                  <a:srgbClr val="1D2433"/>
                </a:solidFill>
                <a:latin typeface="Arial"/>
                <a:cs typeface="Arial"/>
              </a:rPr>
              <a:t>تنبيه تأخير + تصعيد تلقائي عند تجاوز المدة</a:t>
            </a:r>
          </a:p>
        </p:txBody>
      </p:sp>
      <p:sp>
        <p:nvSpPr>
          <p:cNvPr id="31" name="TextBox 30"/>
          <p:cNvSpPr txBox="1"/>
          <p:nvPr/>
        </p:nvSpPr>
        <p:spPr>
          <a:xfrm>
            <a:off x="548640" y="5440680"/>
            <a:ext cx="11094415" cy="548640"/>
          </a:xfrm>
          <a:prstGeom prst="rect">
            <a:avLst/>
          </a:prstGeom>
          <a:noFill/>
        </p:spPr>
        <p:txBody>
          <a:bodyPr wrap="square" lIns="0" rIns="0" tIns="0" bIns="0" anchor="t">
            <a:spAutoFit/>
          </a:bodyPr>
          <a:lstStyle/>
          <a:p>
            <a:pPr algn="ctr">
              <a:lnSpc>
                <a:spcPct val="110000"/>
              </a:lnSpc>
            </a:pPr>
            <a:r>
              <a:rPr sz="1250" b="0" i="0">
                <a:solidFill>
                  <a:srgbClr val="5B6472"/>
                </a:solidFill>
                <a:latin typeface="Arial"/>
                <a:cs typeface="Arial"/>
              </a:rPr>
              <a:t>النتيجة: منصة واحدة تخدم أي عدد من البلديات — كل بلدية تُعرّف خدماتها بنفسها، والمواطن يحصل على نفس تجربة الثقة والتتبع أياً كانت بلديته.</a:t>
            </a:r>
          </a:p>
        </p:txBody>
      </p:sp>
      <p:sp>
        <p:nvSpPr>
          <p:cNvPr id="32" name="TextBox 31"/>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05</a:t>
            </a:r>
          </a:p>
        </p:txBody>
      </p:sp>
      <p:sp>
        <p:nvSpPr>
          <p:cNvPr id="33" name="TextBox 32"/>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E7C476"/>
                </a:solidFill>
                <a:latin typeface="Arial"/>
                <a:cs typeface="Arial"/>
              </a:rPr>
              <a:t>من الداخل</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FFFFFF"/>
                </a:solidFill>
                <a:latin typeface="Arial"/>
                <a:cs typeface="Arial"/>
              </a:rPr>
              <a:t>مبني، لا مُتخيَّل فقط</a:t>
            </a:r>
          </a:p>
        </p:txBody>
      </p:sp>
      <p:sp>
        <p:nvSpPr>
          <p:cNvPr id="4" name="Rounded Rectangle 3"/>
          <p:cNvSpPr/>
          <p:nvPr/>
        </p:nvSpPr>
        <p:spPr>
          <a:xfrm>
            <a:off x="8158277" y="1691640"/>
            <a:ext cx="3484778"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41157" y="1856232"/>
            <a:ext cx="3119018" cy="274320"/>
          </a:xfrm>
          <a:prstGeom prst="rect">
            <a:avLst/>
          </a:prstGeom>
          <a:noFill/>
        </p:spPr>
        <p:txBody>
          <a:bodyPr wrap="square" lIns="0" rIns="0" tIns="0" bIns="0" anchor="t">
            <a:spAutoFit/>
          </a:bodyPr>
          <a:lstStyle/>
          <a:p>
            <a:pPr algn="r"/>
            <a:r>
              <a:rPr sz="1100" b="1" i="0">
                <a:solidFill>
                  <a:srgbClr val="0E2340"/>
                </a:solidFill>
                <a:latin typeface="Arial"/>
                <a:cs typeface="Arial"/>
              </a:rPr>
              <a:t>واجهة المواطن</a:t>
            </a:r>
          </a:p>
        </p:txBody>
      </p:sp>
      <p:sp>
        <p:nvSpPr>
          <p:cNvPr id="6" name="Rounded Rectangle 5"/>
          <p:cNvSpPr/>
          <p:nvPr/>
        </p:nvSpPr>
        <p:spPr>
          <a:xfrm>
            <a:off x="8341157" y="2221992"/>
            <a:ext cx="3119018" cy="7772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78317" y="2286000"/>
            <a:ext cx="2844698" cy="201168"/>
          </a:xfrm>
          <a:prstGeom prst="rect">
            <a:avLst/>
          </a:prstGeom>
          <a:noFill/>
        </p:spPr>
        <p:txBody>
          <a:bodyPr wrap="square" lIns="0" rIns="0" tIns="0" bIns="0" anchor="t">
            <a:spAutoFit/>
          </a:bodyPr>
          <a:lstStyle/>
          <a:p>
            <a:pPr algn="r"/>
            <a:r>
              <a:rPr sz="900" b="0" i="0">
                <a:solidFill>
                  <a:srgbClr val="5B6472"/>
                </a:solidFill>
                <a:latin typeface="Arial"/>
                <a:cs typeface="Arial"/>
              </a:rPr>
              <a:t>REQ-2026-40231</a:t>
            </a:r>
          </a:p>
        </p:txBody>
      </p:sp>
      <p:sp>
        <p:nvSpPr>
          <p:cNvPr id="8" name="TextBox 7"/>
          <p:cNvSpPr txBox="1"/>
          <p:nvPr/>
        </p:nvSpPr>
        <p:spPr>
          <a:xfrm>
            <a:off x="8478317" y="2478024"/>
            <a:ext cx="2844698" cy="237744"/>
          </a:xfrm>
          <a:prstGeom prst="rect">
            <a:avLst/>
          </a:prstGeom>
          <a:noFill/>
        </p:spPr>
        <p:txBody>
          <a:bodyPr wrap="square" lIns="0" rIns="0" tIns="0" bIns="0" anchor="t">
            <a:spAutoFit/>
          </a:bodyPr>
          <a:lstStyle/>
          <a:p>
            <a:pPr algn="r"/>
            <a:r>
              <a:rPr sz="1250" b="1" i="0">
                <a:solidFill>
                  <a:srgbClr val="0E2340"/>
                </a:solidFill>
                <a:latin typeface="Arial"/>
                <a:cs typeface="Arial"/>
              </a:rPr>
              <a:t>رخصة بناء</a:t>
            </a:r>
          </a:p>
        </p:txBody>
      </p:sp>
      <p:sp>
        <p:nvSpPr>
          <p:cNvPr id="9" name="Rounded Rectangle 8"/>
          <p:cNvSpPr/>
          <p:nvPr/>
        </p:nvSpPr>
        <p:spPr>
          <a:xfrm>
            <a:off x="10682935" y="2734055"/>
            <a:ext cx="640080" cy="201168"/>
          </a:xfrm>
          <a:prstGeom prst="roundRect">
            <a:avLst>
              <a:gd name="adj" fmla="val 50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82935" y="2734055"/>
            <a:ext cx="640080" cy="201168"/>
          </a:xfrm>
          <a:prstGeom prst="rect">
            <a:avLst/>
          </a:prstGeom>
          <a:noFill/>
        </p:spPr>
        <p:txBody>
          <a:bodyPr wrap="square" lIns="0" rIns="0" tIns="0" bIns="0" anchor="ctr">
            <a:spAutoFit/>
          </a:bodyPr>
          <a:lstStyle/>
          <a:p>
            <a:pPr algn="ctr"/>
            <a:r>
              <a:rPr sz="750" b="1" i="0">
                <a:solidFill>
                  <a:srgbClr val="2E5C8A"/>
                </a:solidFill>
                <a:latin typeface="Arial"/>
                <a:cs typeface="Arial"/>
              </a:rPr>
              <a:t>قيد المعالجة</a:t>
            </a:r>
          </a:p>
        </p:txBody>
      </p:sp>
      <p:sp>
        <p:nvSpPr>
          <p:cNvPr id="11" name="Oval 10"/>
          <p:cNvSpPr/>
          <p:nvPr/>
        </p:nvSpPr>
        <p:spPr>
          <a:xfrm>
            <a:off x="11222431" y="3209544"/>
            <a:ext cx="109728" cy="109728"/>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1277295" y="3319272"/>
            <a:ext cx="0" cy="365760"/>
          </a:xfrm>
          <a:prstGeom prst="line">
            <a:avLst/>
          </a:prstGeom>
          <a:ln w="15875">
            <a:solidFill>
              <a:srgbClr val="E7C476"/>
            </a:solidFill>
            <a:prstDash val="dash"/>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41157" y="3154680"/>
            <a:ext cx="2798978" cy="274320"/>
          </a:xfrm>
          <a:prstGeom prst="rect">
            <a:avLst/>
          </a:prstGeom>
          <a:noFill/>
        </p:spPr>
        <p:txBody>
          <a:bodyPr wrap="square" lIns="0" rIns="0" tIns="0" bIns="0" anchor="t">
            <a:spAutoFit/>
          </a:bodyPr>
          <a:lstStyle/>
          <a:p>
            <a:pPr algn="r"/>
            <a:r>
              <a:rPr sz="950" b="0" i="0">
                <a:solidFill>
                  <a:srgbClr val="5B6472"/>
                </a:solidFill>
                <a:latin typeface="Arial"/>
                <a:cs typeface="Arial"/>
              </a:rPr>
              <a:t>استلام الطلب</a:t>
            </a:r>
          </a:p>
        </p:txBody>
      </p:sp>
      <p:sp>
        <p:nvSpPr>
          <p:cNvPr id="14" name="Oval 13"/>
          <p:cNvSpPr/>
          <p:nvPr/>
        </p:nvSpPr>
        <p:spPr>
          <a:xfrm>
            <a:off x="11222431" y="3648456"/>
            <a:ext cx="109728" cy="109728"/>
          </a:xfrm>
          <a:prstGeom prst="ellipse">
            <a:avLst/>
          </a:prstGeom>
          <a:solidFill>
            <a:srgbClr val="C79A3F"/>
          </a:solidFill>
          <a:ln w="15875">
            <a:solidFill>
              <a:srgbClr val="9C77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1277295" y="3758184"/>
            <a:ext cx="0" cy="365760"/>
          </a:xfrm>
          <a:prstGeom prst="line">
            <a:avLst/>
          </a:prstGeom>
          <a:ln w="15875">
            <a:solidFill>
              <a:srgbClr val="E7C476"/>
            </a:solidFill>
            <a:prstDash val="dash"/>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41157" y="3593592"/>
            <a:ext cx="2798978" cy="274320"/>
          </a:xfrm>
          <a:prstGeom prst="rect">
            <a:avLst/>
          </a:prstGeom>
          <a:noFill/>
        </p:spPr>
        <p:txBody>
          <a:bodyPr wrap="square" lIns="0" rIns="0" tIns="0" bIns="0" anchor="t">
            <a:spAutoFit/>
          </a:bodyPr>
          <a:lstStyle/>
          <a:p>
            <a:pPr algn="r"/>
            <a:r>
              <a:rPr sz="950" b="0" i="0">
                <a:solidFill>
                  <a:srgbClr val="5B6472"/>
                </a:solidFill>
                <a:latin typeface="Arial"/>
                <a:cs typeface="Arial"/>
              </a:rPr>
              <a:t>فحص الديون والرسوم</a:t>
            </a:r>
          </a:p>
        </p:txBody>
      </p:sp>
      <p:sp>
        <p:nvSpPr>
          <p:cNvPr id="17" name="Oval 16"/>
          <p:cNvSpPr/>
          <p:nvPr/>
        </p:nvSpPr>
        <p:spPr>
          <a:xfrm>
            <a:off x="11222431" y="4087368"/>
            <a:ext cx="109728" cy="10972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1277295" y="4197096"/>
            <a:ext cx="0" cy="365760"/>
          </a:xfrm>
          <a:prstGeom prst="line">
            <a:avLst/>
          </a:prstGeom>
          <a:ln w="15875">
            <a:solidFill>
              <a:srgbClr val="E7C476"/>
            </a:solidFill>
            <a:prstDash val="dash"/>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341157" y="4032504"/>
            <a:ext cx="2798978" cy="274320"/>
          </a:xfrm>
          <a:prstGeom prst="rect">
            <a:avLst/>
          </a:prstGeom>
          <a:noFill/>
        </p:spPr>
        <p:txBody>
          <a:bodyPr wrap="square" lIns="0" rIns="0" tIns="0" bIns="0" anchor="t">
            <a:spAutoFit/>
          </a:bodyPr>
          <a:lstStyle/>
          <a:p>
            <a:pPr algn="r"/>
            <a:r>
              <a:rPr sz="950" b="1" i="0">
                <a:solidFill>
                  <a:srgbClr val="0E2340"/>
                </a:solidFill>
                <a:latin typeface="Arial"/>
                <a:cs typeface="Arial"/>
              </a:rPr>
              <a:t>فحص المخطط الهندسي</a:t>
            </a:r>
          </a:p>
        </p:txBody>
      </p:sp>
      <p:sp>
        <p:nvSpPr>
          <p:cNvPr id="20" name="Oval 19"/>
          <p:cNvSpPr/>
          <p:nvPr/>
        </p:nvSpPr>
        <p:spPr>
          <a:xfrm>
            <a:off x="11222431" y="4526280"/>
            <a:ext cx="109728" cy="109728"/>
          </a:xfrm>
          <a:prstGeom prst="ellipse">
            <a:avLst/>
          </a:prstGeom>
          <a:solidFill>
            <a:srgbClr val="FFFFFF"/>
          </a:solidFill>
          <a:ln w="1587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1157" y="4471416"/>
            <a:ext cx="2798978" cy="274320"/>
          </a:xfrm>
          <a:prstGeom prst="rect">
            <a:avLst/>
          </a:prstGeom>
          <a:noFill/>
        </p:spPr>
        <p:txBody>
          <a:bodyPr wrap="square" lIns="0" rIns="0" tIns="0" bIns="0" anchor="t">
            <a:spAutoFit/>
          </a:bodyPr>
          <a:lstStyle/>
          <a:p>
            <a:pPr algn="r"/>
            <a:r>
              <a:rPr sz="950" b="0" i="0">
                <a:solidFill>
                  <a:srgbClr val="5B6472"/>
                </a:solidFill>
                <a:latin typeface="Arial"/>
                <a:cs typeface="Arial"/>
              </a:rPr>
              <a:t>الموافقة النهائية</a:t>
            </a:r>
          </a:p>
        </p:txBody>
      </p:sp>
      <p:sp>
        <p:nvSpPr>
          <p:cNvPr id="22" name="TextBox 21"/>
          <p:cNvSpPr txBox="1"/>
          <p:nvPr/>
        </p:nvSpPr>
        <p:spPr>
          <a:xfrm>
            <a:off x="8341157" y="5285231"/>
            <a:ext cx="3119018" cy="256032"/>
          </a:xfrm>
          <a:prstGeom prst="rect">
            <a:avLst/>
          </a:prstGeom>
          <a:noFill/>
        </p:spPr>
        <p:txBody>
          <a:bodyPr wrap="square" lIns="0" rIns="0" tIns="0" bIns="0" anchor="t">
            <a:spAutoFit/>
          </a:bodyPr>
          <a:lstStyle/>
          <a:p>
            <a:pPr algn="r"/>
            <a:r>
              <a:rPr sz="850" b="0" i="1">
                <a:solidFill>
                  <a:srgbClr val="9C7726"/>
                </a:solidFill>
                <a:latin typeface="Arial"/>
                <a:cs typeface="Arial"/>
              </a:rPr>
              <a:t>مالك معاملتك: ليان عودة</a:t>
            </a:r>
          </a:p>
        </p:txBody>
      </p:sp>
      <p:sp>
        <p:nvSpPr>
          <p:cNvPr id="23" name="Rounded Rectangle 22"/>
          <p:cNvSpPr/>
          <p:nvPr/>
        </p:nvSpPr>
        <p:spPr>
          <a:xfrm>
            <a:off x="4353459" y="1691640"/>
            <a:ext cx="3484778"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6339" y="1856232"/>
            <a:ext cx="3119018" cy="274320"/>
          </a:xfrm>
          <a:prstGeom prst="rect">
            <a:avLst/>
          </a:prstGeom>
          <a:noFill/>
        </p:spPr>
        <p:txBody>
          <a:bodyPr wrap="square" lIns="0" rIns="0" tIns="0" bIns="0" anchor="t">
            <a:spAutoFit/>
          </a:bodyPr>
          <a:lstStyle/>
          <a:p>
            <a:pPr algn="r"/>
            <a:r>
              <a:rPr sz="1100" b="1" i="0">
                <a:solidFill>
                  <a:srgbClr val="0E2340"/>
                </a:solidFill>
                <a:latin typeface="Arial"/>
                <a:cs typeface="Arial"/>
              </a:rPr>
              <a:t>مساحة الموظف</a:t>
            </a:r>
          </a:p>
        </p:txBody>
      </p:sp>
      <p:sp>
        <p:nvSpPr>
          <p:cNvPr id="25" name="Rounded Rectangle 24"/>
          <p:cNvSpPr/>
          <p:nvPr/>
        </p:nvSpPr>
        <p:spPr>
          <a:xfrm>
            <a:off x="4536339" y="2240280"/>
            <a:ext cx="3119018" cy="475488"/>
          </a:xfrm>
          <a:prstGeom prst="roundRect">
            <a:avLst>
              <a:gd name="adj" fmla="val 12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73499" y="2304288"/>
            <a:ext cx="2844698" cy="182880"/>
          </a:xfrm>
          <a:prstGeom prst="rect">
            <a:avLst/>
          </a:prstGeom>
          <a:noFill/>
        </p:spPr>
        <p:txBody>
          <a:bodyPr wrap="square" lIns="0" rIns="0" tIns="0" bIns="0" anchor="t">
            <a:spAutoFit/>
          </a:bodyPr>
          <a:lstStyle/>
          <a:p>
            <a:pPr algn="r"/>
            <a:r>
              <a:rPr sz="850" b="0" i="0">
                <a:solidFill>
                  <a:srgbClr val="5B6472"/>
                </a:solidFill>
                <a:latin typeface="Arial"/>
                <a:cs typeface="Arial"/>
              </a:rPr>
              <a:t>REQ-40231</a:t>
            </a:r>
          </a:p>
        </p:txBody>
      </p:sp>
      <p:sp>
        <p:nvSpPr>
          <p:cNvPr id="27" name="Rounded Rectangle 26"/>
          <p:cNvSpPr/>
          <p:nvPr/>
        </p:nvSpPr>
        <p:spPr>
          <a:xfrm>
            <a:off x="4646067" y="2487168"/>
            <a:ext cx="566928" cy="173736"/>
          </a:xfrm>
          <a:prstGeom prst="roundRect">
            <a:avLst>
              <a:gd name="adj" fmla="val 5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6067" y="2487168"/>
            <a:ext cx="566928" cy="173736"/>
          </a:xfrm>
          <a:prstGeom prst="rect">
            <a:avLst/>
          </a:prstGeom>
          <a:noFill/>
        </p:spPr>
        <p:txBody>
          <a:bodyPr wrap="square" lIns="0" rIns="0" tIns="0" bIns="0" anchor="ctr">
            <a:spAutoFit/>
          </a:bodyPr>
          <a:lstStyle/>
          <a:p>
            <a:pPr algn="ctr"/>
            <a:r>
              <a:rPr sz="700" b="1" i="0">
                <a:solidFill>
                  <a:srgbClr val="B3261E"/>
                </a:solidFill>
                <a:latin typeface="Arial"/>
                <a:cs typeface="Arial"/>
              </a:rPr>
              <a:t>متأخر</a:t>
            </a:r>
          </a:p>
        </p:txBody>
      </p:sp>
      <p:sp>
        <p:nvSpPr>
          <p:cNvPr id="29" name="Rounded Rectangle 28"/>
          <p:cNvSpPr/>
          <p:nvPr/>
        </p:nvSpPr>
        <p:spPr>
          <a:xfrm>
            <a:off x="4536339" y="2816352"/>
            <a:ext cx="3119018" cy="475488"/>
          </a:xfrm>
          <a:prstGeom prst="roundRect">
            <a:avLst>
              <a:gd name="adj" fmla="val 12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73499" y="2880360"/>
            <a:ext cx="2844698" cy="182880"/>
          </a:xfrm>
          <a:prstGeom prst="rect">
            <a:avLst/>
          </a:prstGeom>
          <a:noFill/>
        </p:spPr>
        <p:txBody>
          <a:bodyPr wrap="square" lIns="0" rIns="0" tIns="0" bIns="0" anchor="t">
            <a:spAutoFit/>
          </a:bodyPr>
          <a:lstStyle/>
          <a:p>
            <a:pPr algn="r"/>
            <a:r>
              <a:rPr sz="850" b="0" i="0">
                <a:solidFill>
                  <a:srgbClr val="5B6472"/>
                </a:solidFill>
                <a:latin typeface="Arial"/>
                <a:cs typeface="Arial"/>
              </a:rPr>
              <a:t>REQ-40188</a:t>
            </a:r>
          </a:p>
        </p:txBody>
      </p:sp>
      <p:sp>
        <p:nvSpPr>
          <p:cNvPr id="31" name="Rounded Rectangle 30"/>
          <p:cNvSpPr/>
          <p:nvPr/>
        </p:nvSpPr>
        <p:spPr>
          <a:xfrm>
            <a:off x="4646067" y="3063240"/>
            <a:ext cx="566928" cy="173736"/>
          </a:xfrm>
          <a:prstGeom prst="roundRect">
            <a:avLst>
              <a:gd name="adj" fmla="val 50000"/>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6067" y="3063240"/>
            <a:ext cx="566928" cy="173736"/>
          </a:xfrm>
          <a:prstGeom prst="rect">
            <a:avLst/>
          </a:prstGeom>
          <a:noFill/>
        </p:spPr>
        <p:txBody>
          <a:bodyPr wrap="square" lIns="0" rIns="0" tIns="0" bIns="0" anchor="ctr">
            <a:spAutoFit/>
          </a:bodyPr>
          <a:lstStyle/>
          <a:p>
            <a:pPr algn="ctr"/>
            <a:r>
              <a:rPr sz="700" b="1" i="0">
                <a:solidFill>
                  <a:srgbClr val="6B7686"/>
                </a:solidFill>
                <a:latin typeface="Arial"/>
                <a:cs typeface="Arial"/>
              </a:rPr>
              <a:t>معلّق</a:t>
            </a:r>
          </a:p>
        </p:txBody>
      </p:sp>
      <p:sp>
        <p:nvSpPr>
          <p:cNvPr id="33" name="Rounded Rectangle 32"/>
          <p:cNvSpPr/>
          <p:nvPr/>
        </p:nvSpPr>
        <p:spPr>
          <a:xfrm>
            <a:off x="4536339" y="3392424"/>
            <a:ext cx="3119018" cy="475488"/>
          </a:xfrm>
          <a:prstGeom prst="roundRect">
            <a:avLst>
              <a:gd name="adj" fmla="val 12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73499" y="3456432"/>
            <a:ext cx="2844698" cy="182880"/>
          </a:xfrm>
          <a:prstGeom prst="rect">
            <a:avLst/>
          </a:prstGeom>
          <a:noFill/>
        </p:spPr>
        <p:txBody>
          <a:bodyPr wrap="square" lIns="0" rIns="0" tIns="0" bIns="0" anchor="t">
            <a:spAutoFit/>
          </a:bodyPr>
          <a:lstStyle/>
          <a:p>
            <a:pPr algn="r"/>
            <a:r>
              <a:rPr sz="850" b="0" i="0">
                <a:solidFill>
                  <a:srgbClr val="5B6472"/>
                </a:solidFill>
                <a:latin typeface="Arial"/>
                <a:cs typeface="Arial"/>
              </a:rPr>
              <a:t>REQ-40295</a:t>
            </a:r>
          </a:p>
        </p:txBody>
      </p:sp>
      <p:sp>
        <p:nvSpPr>
          <p:cNvPr id="35" name="Rounded Rectangle 34"/>
          <p:cNvSpPr/>
          <p:nvPr/>
        </p:nvSpPr>
        <p:spPr>
          <a:xfrm>
            <a:off x="4646067" y="3639312"/>
            <a:ext cx="566928" cy="173736"/>
          </a:xfrm>
          <a:prstGeom prst="roundRect">
            <a:avLst>
              <a:gd name="adj" fmla="val 50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46067" y="3639312"/>
            <a:ext cx="566928" cy="173736"/>
          </a:xfrm>
          <a:prstGeom prst="rect">
            <a:avLst/>
          </a:prstGeom>
          <a:noFill/>
        </p:spPr>
        <p:txBody>
          <a:bodyPr wrap="square" lIns="0" rIns="0" tIns="0" bIns="0" anchor="ctr">
            <a:spAutoFit/>
          </a:bodyPr>
          <a:lstStyle/>
          <a:p>
            <a:pPr algn="ctr"/>
            <a:r>
              <a:rPr sz="700" b="1" i="0">
                <a:solidFill>
                  <a:srgbClr val="2E5C8A"/>
                </a:solidFill>
                <a:latin typeface="Arial"/>
                <a:cs typeface="Arial"/>
              </a:rPr>
              <a:t>مقدّم</a:t>
            </a:r>
          </a:p>
        </p:txBody>
      </p:sp>
      <p:sp>
        <p:nvSpPr>
          <p:cNvPr id="37" name="Rounded Rectangle 36"/>
          <p:cNvSpPr/>
          <p:nvPr/>
        </p:nvSpPr>
        <p:spPr>
          <a:xfrm>
            <a:off x="4536339" y="4041648"/>
            <a:ext cx="3119018" cy="384048"/>
          </a:xfrm>
          <a:prstGeom prst="roundRect">
            <a:avLst>
              <a:gd name="adj" fmla="val 50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82059" y="4041648"/>
            <a:ext cx="3027578" cy="384048"/>
          </a:xfrm>
          <a:prstGeom prst="rect">
            <a:avLst/>
          </a:prstGeom>
          <a:noFill/>
        </p:spPr>
        <p:txBody>
          <a:bodyPr wrap="square" lIns="0" rIns="0" tIns="0" bIns="0" anchor="ctr">
            <a:spAutoFit/>
          </a:bodyPr>
          <a:lstStyle/>
          <a:p>
            <a:pPr algn="ctr"/>
            <a:r>
              <a:rPr sz="850" b="1" i="0">
                <a:solidFill>
                  <a:srgbClr val="E7C476"/>
                </a:solidFill>
                <a:latin typeface="Arial"/>
                <a:cs typeface="Arial"/>
              </a:rPr>
              <a:t>مراجعة مستند: مخطط هندسي</a:t>
            </a:r>
          </a:p>
        </p:txBody>
      </p:sp>
      <p:sp>
        <p:nvSpPr>
          <p:cNvPr id="39" name="TextBox 38"/>
          <p:cNvSpPr txBox="1"/>
          <p:nvPr/>
        </p:nvSpPr>
        <p:spPr>
          <a:xfrm>
            <a:off x="4536339" y="5102351"/>
            <a:ext cx="3119018" cy="457200"/>
          </a:xfrm>
          <a:prstGeom prst="rect">
            <a:avLst/>
          </a:prstGeom>
          <a:noFill/>
        </p:spPr>
        <p:txBody>
          <a:bodyPr wrap="square" lIns="0" rIns="0" tIns="0" bIns="0" anchor="t">
            <a:spAutoFit/>
          </a:bodyPr>
          <a:lstStyle/>
          <a:p>
            <a:pPr algn="r"/>
            <a:r>
              <a:rPr sz="850" b="0" i="1">
                <a:solidFill>
                  <a:srgbClr val="5B6472"/>
                </a:solidFill>
                <a:latin typeface="Arial"/>
                <a:cs typeface="Arial"/>
              </a:rPr>
              <a:t>قبول أو رفض بسبب واضح — مراجعة بشرية على كل نتيجة فحص آلي</a:t>
            </a:r>
          </a:p>
        </p:txBody>
      </p:sp>
      <p:sp>
        <p:nvSpPr>
          <p:cNvPr id="40" name="Rounded Rectangle 39"/>
          <p:cNvSpPr/>
          <p:nvPr/>
        </p:nvSpPr>
        <p:spPr>
          <a:xfrm>
            <a:off x="548640" y="1691640"/>
            <a:ext cx="3484778"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1856232"/>
            <a:ext cx="3119018" cy="274320"/>
          </a:xfrm>
          <a:prstGeom prst="rect">
            <a:avLst/>
          </a:prstGeom>
          <a:noFill/>
        </p:spPr>
        <p:txBody>
          <a:bodyPr wrap="square" lIns="0" rIns="0" tIns="0" bIns="0" anchor="t">
            <a:spAutoFit/>
          </a:bodyPr>
          <a:lstStyle/>
          <a:p>
            <a:pPr algn="r"/>
            <a:r>
              <a:rPr sz="1100" b="1" i="0">
                <a:solidFill>
                  <a:srgbClr val="0E2340"/>
                </a:solidFill>
                <a:latin typeface="Arial"/>
                <a:cs typeface="Arial"/>
              </a:rPr>
              <a:t>لوحة البلدية</a:t>
            </a:r>
          </a:p>
        </p:txBody>
      </p:sp>
      <p:sp>
        <p:nvSpPr>
          <p:cNvPr id="42" name="TextBox 41"/>
          <p:cNvSpPr txBox="1"/>
          <p:nvPr/>
        </p:nvSpPr>
        <p:spPr>
          <a:xfrm>
            <a:off x="731520" y="2221992"/>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اسم المعاملة</a:t>
            </a:r>
          </a:p>
        </p:txBody>
      </p:sp>
      <p:sp>
        <p:nvSpPr>
          <p:cNvPr id="43" name="Rounded Rectangle 42"/>
          <p:cNvSpPr/>
          <p:nvPr/>
        </p:nvSpPr>
        <p:spPr>
          <a:xfrm>
            <a:off x="731520" y="2423160"/>
            <a:ext cx="3119018" cy="274320"/>
          </a:xfrm>
          <a:prstGeom prst="roundRect">
            <a:avLst>
              <a:gd name="adj" fmla="val 15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2752344"/>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القسم المسؤول</a:t>
            </a:r>
          </a:p>
        </p:txBody>
      </p:sp>
      <p:sp>
        <p:nvSpPr>
          <p:cNvPr id="45" name="Rounded Rectangle 44"/>
          <p:cNvSpPr/>
          <p:nvPr/>
        </p:nvSpPr>
        <p:spPr>
          <a:xfrm>
            <a:off x="731520" y="2953512"/>
            <a:ext cx="3119018" cy="274320"/>
          </a:xfrm>
          <a:prstGeom prst="roundRect">
            <a:avLst>
              <a:gd name="adj" fmla="val 15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3282696"/>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الرسم الأساسي</a:t>
            </a:r>
          </a:p>
        </p:txBody>
      </p:sp>
      <p:sp>
        <p:nvSpPr>
          <p:cNvPr id="47" name="Rounded Rectangle 46"/>
          <p:cNvSpPr/>
          <p:nvPr/>
        </p:nvSpPr>
        <p:spPr>
          <a:xfrm>
            <a:off x="731520" y="3483864"/>
            <a:ext cx="3119018" cy="274320"/>
          </a:xfrm>
          <a:prstGeom prst="roundRect">
            <a:avLst>
              <a:gd name="adj" fmla="val 15000"/>
            </a:avLst>
          </a:prstGeom>
          <a:solidFill>
            <a:srgbClr val="FFFFFF"/>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3849624"/>
            <a:ext cx="3119018" cy="182880"/>
          </a:xfrm>
          <a:prstGeom prst="rect">
            <a:avLst/>
          </a:prstGeom>
          <a:noFill/>
        </p:spPr>
        <p:txBody>
          <a:bodyPr wrap="square" lIns="0" rIns="0" tIns="0" bIns="0" anchor="t">
            <a:spAutoFit/>
          </a:bodyPr>
          <a:lstStyle/>
          <a:p>
            <a:pPr algn="r"/>
            <a:r>
              <a:rPr sz="800" b="0" i="0">
                <a:solidFill>
                  <a:srgbClr val="5B6472"/>
                </a:solidFill>
                <a:latin typeface="Arial"/>
                <a:cs typeface="Arial"/>
              </a:rPr>
              <a:t>مسار الخدمة</a:t>
            </a:r>
          </a:p>
        </p:txBody>
      </p:sp>
      <p:sp>
        <p:nvSpPr>
          <p:cNvPr id="49" name="Rounded Rectangle 48"/>
          <p:cNvSpPr/>
          <p:nvPr/>
        </p:nvSpPr>
        <p:spPr>
          <a:xfrm>
            <a:off x="731520" y="4142232"/>
            <a:ext cx="3119018" cy="310896"/>
          </a:xfrm>
          <a:prstGeom prst="roundRect">
            <a:avLst>
              <a:gd name="adj" fmla="val 50000"/>
            </a:avLst>
          </a:prstGeom>
          <a:solidFill>
            <a:srgbClr val="F2F4F8"/>
          </a:solidFill>
          <a:ln w="952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4142232"/>
            <a:ext cx="2936138" cy="310896"/>
          </a:xfrm>
          <a:prstGeom prst="rect">
            <a:avLst/>
          </a:prstGeom>
          <a:noFill/>
        </p:spPr>
        <p:txBody>
          <a:bodyPr wrap="square" lIns="0" rIns="0" tIns="0" bIns="0" anchor="ctr">
            <a:spAutoFit/>
          </a:bodyPr>
          <a:lstStyle/>
          <a:p>
            <a:pPr algn="r"/>
            <a:r>
              <a:rPr sz="900" b="0" i="0">
                <a:solidFill>
                  <a:srgbClr val="0E2340"/>
                </a:solidFill>
                <a:latin typeface="Arial"/>
                <a:cs typeface="Arial"/>
              </a:rPr>
              <a:t>٠1   خدمات الجمهور</a:t>
            </a:r>
          </a:p>
        </p:txBody>
      </p:sp>
      <p:sp>
        <p:nvSpPr>
          <p:cNvPr id="51" name="Rounded Rectangle 50"/>
          <p:cNvSpPr/>
          <p:nvPr/>
        </p:nvSpPr>
        <p:spPr>
          <a:xfrm>
            <a:off x="731520" y="4526280"/>
            <a:ext cx="3119018" cy="310896"/>
          </a:xfrm>
          <a:prstGeom prst="roundRect">
            <a:avLst>
              <a:gd name="adj" fmla="val 50000"/>
            </a:avLst>
          </a:prstGeom>
          <a:solidFill>
            <a:srgbClr val="F2F4F8"/>
          </a:solidFill>
          <a:ln w="952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4526280"/>
            <a:ext cx="2936138" cy="310896"/>
          </a:xfrm>
          <a:prstGeom prst="rect">
            <a:avLst/>
          </a:prstGeom>
          <a:noFill/>
        </p:spPr>
        <p:txBody>
          <a:bodyPr wrap="square" lIns="0" rIns="0" tIns="0" bIns="0" anchor="ctr">
            <a:spAutoFit/>
          </a:bodyPr>
          <a:lstStyle/>
          <a:p>
            <a:pPr algn="r"/>
            <a:r>
              <a:rPr sz="900" b="0" i="0">
                <a:solidFill>
                  <a:srgbClr val="0E2340"/>
                </a:solidFill>
                <a:latin typeface="Arial"/>
                <a:cs typeface="Arial"/>
              </a:rPr>
              <a:t>٠2   الدائرة المالية</a:t>
            </a:r>
          </a:p>
        </p:txBody>
      </p:sp>
      <p:sp>
        <p:nvSpPr>
          <p:cNvPr id="53" name="Rounded Rectangle 52"/>
          <p:cNvSpPr/>
          <p:nvPr/>
        </p:nvSpPr>
        <p:spPr>
          <a:xfrm>
            <a:off x="731520" y="4910328"/>
            <a:ext cx="3119018" cy="310896"/>
          </a:xfrm>
          <a:prstGeom prst="roundRect">
            <a:avLst>
              <a:gd name="adj" fmla="val 50000"/>
            </a:avLst>
          </a:prstGeom>
          <a:solidFill>
            <a:srgbClr val="F2F4F8"/>
          </a:solidFill>
          <a:ln w="9525">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 y="4910328"/>
            <a:ext cx="2936138" cy="310896"/>
          </a:xfrm>
          <a:prstGeom prst="rect">
            <a:avLst/>
          </a:prstGeom>
          <a:noFill/>
        </p:spPr>
        <p:txBody>
          <a:bodyPr wrap="square" lIns="0" rIns="0" tIns="0" bIns="0" anchor="ctr">
            <a:spAutoFit/>
          </a:bodyPr>
          <a:lstStyle/>
          <a:p>
            <a:pPr algn="r"/>
            <a:r>
              <a:rPr sz="900" b="0" i="0">
                <a:solidFill>
                  <a:srgbClr val="0E2340"/>
                </a:solidFill>
                <a:latin typeface="Arial"/>
                <a:cs typeface="Arial"/>
              </a:rPr>
              <a:t>٠3   الهندسة والتنظيم</a:t>
            </a:r>
          </a:p>
        </p:txBody>
      </p:sp>
      <p:sp>
        <p:nvSpPr>
          <p:cNvPr id="55" name="Rounded Rectangle 54"/>
          <p:cNvSpPr/>
          <p:nvPr/>
        </p:nvSpPr>
        <p:spPr>
          <a:xfrm>
            <a:off x="731520" y="5230367"/>
            <a:ext cx="3119018" cy="310896"/>
          </a:xfrm>
          <a:prstGeom prst="roundRect">
            <a:avLst>
              <a:gd name="adj" fmla="val 50000"/>
            </a:avLst>
          </a:prstGeom>
          <a:solidFill>
            <a:srgbClr val="C79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230367"/>
            <a:ext cx="3119018" cy="310896"/>
          </a:xfrm>
          <a:prstGeom prst="rect">
            <a:avLst/>
          </a:prstGeom>
          <a:noFill/>
        </p:spPr>
        <p:txBody>
          <a:bodyPr wrap="square" lIns="0" rIns="0" tIns="0" bIns="0" anchor="ctr">
            <a:spAutoFit/>
          </a:bodyPr>
          <a:lstStyle/>
          <a:p>
            <a:pPr algn="ctr"/>
            <a:r>
              <a:rPr sz="900" b="1" i="0">
                <a:solidFill>
                  <a:srgbClr val="0E2340"/>
                </a:solidFill>
                <a:latin typeface="Arial"/>
                <a:cs typeface="Arial"/>
              </a:rPr>
              <a:t>حفظ ونشر الآن</a:t>
            </a:r>
          </a:p>
        </p:txBody>
      </p:sp>
      <p:sp>
        <p:nvSpPr>
          <p:cNvPr id="57" name="TextBox 56"/>
          <p:cNvSpPr txBox="1"/>
          <p:nvPr/>
        </p:nvSpPr>
        <p:spPr>
          <a:xfrm>
            <a:off x="548640" y="5897879"/>
            <a:ext cx="11094415" cy="365760"/>
          </a:xfrm>
          <a:prstGeom prst="rect">
            <a:avLst/>
          </a:prstGeom>
          <a:noFill/>
        </p:spPr>
        <p:txBody>
          <a:bodyPr wrap="square" lIns="0" rIns="0" tIns="0" bIns="0" anchor="t">
            <a:spAutoFit/>
          </a:bodyPr>
          <a:lstStyle/>
          <a:p>
            <a:pPr algn="ctr"/>
            <a:r>
              <a:rPr sz="1250" b="0" i="1">
                <a:solidFill>
                  <a:srgbClr val="E7C476"/>
                </a:solidFill>
                <a:latin typeface="Arial"/>
                <a:cs typeface="Arial"/>
              </a:rPr>
              <a:t>بروتوتايب تفاعلي كامل — ثلاث واجهات فعلية تعمل على نفس البيانات لحظياً، لا مجرد تصاميم ثابتة.</a:t>
            </a:r>
          </a:p>
        </p:txBody>
      </p:sp>
      <p:sp>
        <p:nvSpPr>
          <p:cNvPr id="58" name="TextBox 57"/>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6E7C93"/>
                </a:solidFill>
                <a:latin typeface="Arial"/>
                <a:cs typeface="Arial"/>
              </a:rPr>
              <a:t>06</a:t>
            </a:r>
          </a:p>
        </p:txBody>
      </p:sp>
      <p:sp>
        <p:nvSpPr>
          <p:cNvPr id="59" name="TextBox 58"/>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6E7C93"/>
                </a:solidFill>
                <a:latin typeface="Arial"/>
                <a:cs typeface="Arial"/>
              </a:rPr>
              <a:t>طرف الخيط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أين نتميّز</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لا أحد يبني طبقة المسؤولية الداخلية</a:t>
            </a:r>
          </a:p>
        </p:txBody>
      </p:sp>
      <p:graphicFrame>
        <p:nvGraphicFramePr>
          <p:cNvPr id="4" name="Table 3"/>
          <p:cNvGraphicFramePr>
            <a:graphicFrameLocks noGrp="1"/>
          </p:cNvGraphicFramePr>
          <p:nvPr/>
        </p:nvGraphicFramePr>
        <p:xfrm>
          <a:off x="548640" y="1828800"/>
          <a:ext cx="11085271" cy="3867912"/>
        </p:xfrm>
        <a:graphic>
          <a:graphicData uri="http://schemas.openxmlformats.org/drawingml/2006/table">
            <a:tbl>
              <a:tblPr firstRow="1" bandRow="1">
                <a:tableStyleId>{5C22544A-7EE6-4342-B048-85BDC9FD1C3A}</a:tableStyleId>
              </a:tblPr>
              <a:tblGrid>
                <a:gridCol w="3931920"/>
                <a:gridCol w="2606040"/>
                <a:gridCol w="2194560"/>
                <a:gridCol w="2352751"/>
              </a:tblGrid>
              <a:tr h="685800">
                <a:tc>
                  <a:txBody>
                    <a:bodyPr wrap="square"/>
                    <a:lstStyle/>
                    <a:p>
                      <a:pPr algn="r"/>
                      <a:r>
                        <a:rPr sz="1450" b="1" i="0">
                          <a:solidFill>
                            <a:srgbClr val="FFFFFF"/>
                          </a:solidFill>
                          <a:latin typeface="Arial"/>
                          <a:cs typeface="Arial"/>
                        </a:rPr>
                        <a:t>المعيار</a:t>
                      </a:r>
                    </a:p>
                  </a:txBody>
                  <a:tcPr marL="109728" marR="109728" marT="36576" marB="36576" anchor="ctr">
                    <a:solidFill>
                      <a:srgbClr val="0E2340"/>
                    </a:solidFill>
                  </a:tcPr>
                </a:tc>
                <a:tc>
                  <a:txBody>
                    <a:bodyPr wrap="square"/>
                    <a:lstStyle/>
                    <a:p>
                      <a:pPr algn="ctr"/>
                      <a:r>
                        <a:rPr sz="1450" b="1" i="0">
                          <a:solidFill>
                            <a:srgbClr val="FFFFFF"/>
                          </a:solidFill>
                          <a:latin typeface="Arial"/>
                          <a:cs typeface="Arial"/>
                        </a:rPr>
                        <a:t>الخدمات البلدية الحالية</a:t>
                      </a:r>
                    </a:p>
                  </a:txBody>
                  <a:tcPr marL="109728" marR="109728" marT="36576" marB="36576" anchor="ctr">
                    <a:solidFill>
                      <a:srgbClr val="0E2340"/>
                    </a:solidFill>
                  </a:tcPr>
                </a:tc>
                <a:tc>
                  <a:txBody>
                    <a:bodyPr wrap="square"/>
                    <a:lstStyle/>
                    <a:p>
                      <a:pPr algn="ctr"/>
                      <a:r>
                        <a:rPr sz="1450" b="1" i="0">
                          <a:solidFill>
                            <a:srgbClr val="FFFFFF"/>
                          </a:solidFill>
                          <a:latin typeface="Arial"/>
                          <a:cs typeface="Arial"/>
                        </a:rPr>
                        <a:t>TAMM (أبوظبي)</a:t>
                      </a:r>
                    </a:p>
                  </a:txBody>
                  <a:tcPr marL="109728" marR="109728" marT="36576" marB="36576" anchor="ctr">
                    <a:solidFill>
                      <a:srgbClr val="0E2340"/>
                    </a:solidFill>
                  </a:tcPr>
                </a:tc>
                <a:tc>
                  <a:txBody>
                    <a:bodyPr wrap="square"/>
                    <a:lstStyle/>
                    <a:p>
                      <a:pPr algn="ctr"/>
                      <a:r>
                        <a:rPr sz="1450" b="1" i="0">
                          <a:solidFill>
                            <a:srgbClr val="FFFFFF"/>
                          </a:solidFill>
                          <a:latin typeface="Arial"/>
                          <a:cs typeface="Arial"/>
                        </a:rPr>
                        <a:t>طرف الخيط</a:t>
                      </a:r>
                    </a:p>
                  </a:txBody>
                  <a:tcPr marL="109728" marR="109728" marT="36576" marB="36576" anchor="ctr">
                    <a:solidFill>
                      <a:srgbClr val="0E2340"/>
                    </a:solidFill>
                  </a:tcPr>
                </a:tc>
              </a:tr>
              <a:tr h="530352">
                <a:tc>
                  <a:txBody>
                    <a:bodyPr wrap="square"/>
                    <a:lstStyle/>
                    <a:p>
                      <a:pPr algn="r"/>
                      <a:r>
                        <a:rPr sz="1350" b="0" i="0">
                          <a:solidFill>
                            <a:srgbClr val="1D2433"/>
                          </a:solidFill>
                          <a:latin typeface="Arial"/>
                          <a:cs typeface="Arial"/>
                        </a:rPr>
                        <a:t>كتالوج خدمات إلكتروني</a:t>
                      </a:r>
                    </a:p>
                  </a:txBody>
                  <a:tcPr marL="109728" marR="109728" marT="36576" marB="36576" anchor="ctr">
                    <a:solidFill>
                      <a:srgbClr val="F2F4F8"/>
                    </a:solidFill>
                  </a:tcPr>
                </a:tc>
                <a:tc>
                  <a:txBody>
                    <a:bodyPr wrap="square"/>
                    <a:lstStyle/>
                    <a:p>
                      <a:pPr algn="ctr"/>
                      <a:r>
                        <a:rPr sz="1350" b="0" i="0">
                          <a:solidFill>
                            <a:srgbClr val="1E7B4D"/>
                          </a:solidFill>
                          <a:latin typeface="Arial"/>
                          <a:cs typeface="Arial"/>
                        </a:rPr>
                        <a:t>✓</a:t>
                      </a:r>
                    </a:p>
                  </a:txBody>
                  <a:tcPr marL="109728" marR="109728" marT="36576" marB="36576" anchor="ctr">
                    <a:solidFill>
                      <a:srgbClr val="F2F4F8"/>
                    </a:solidFill>
                  </a:tcPr>
                </a:tc>
                <a:tc>
                  <a:txBody>
                    <a:bodyPr wrap="square"/>
                    <a:lstStyle/>
                    <a:p>
                      <a:pPr algn="ctr"/>
                      <a:r>
                        <a:rPr sz="1350" b="0" i="0">
                          <a:solidFill>
                            <a:srgbClr val="1E7B4D"/>
                          </a:solidFill>
                          <a:latin typeface="Arial"/>
                          <a:cs typeface="Arial"/>
                        </a:rPr>
                        <a:t>✓</a:t>
                      </a:r>
                    </a:p>
                  </a:txBody>
                  <a:tcPr marL="109728" marR="109728" marT="36576" marB="36576" anchor="ctr">
                    <a:solidFill>
                      <a:srgbClr val="F2F4F8"/>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تتبع حي لحالة الطلب</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 (معلن «قريباً»)</a:t>
                      </a:r>
                    </a:p>
                  </a:txBody>
                  <a:tcPr marL="109728" marR="109728" marT="36576" marB="36576" anchor="ctr">
                    <a:solidFill>
                      <a:srgbClr val="FFFFFF"/>
                    </a:solidFill>
                  </a:tcPr>
                </a:tc>
                <a:tc>
                  <a:txBody>
                    <a:bodyPr wrap="square"/>
                    <a:lstStyle/>
                    <a:p>
                      <a:pPr algn="ctr"/>
                      <a:r>
                        <a:rPr sz="1350" b="0" i="0">
                          <a:solidFill>
                            <a:srgbClr val="1E7B4D"/>
                          </a:solidFill>
                          <a:latin typeface="Arial"/>
                          <a:cs typeface="Arial"/>
                        </a:rPr>
                        <a:t>✓</a:t>
                      </a:r>
                    </a:p>
                  </a:txBody>
                  <a:tcPr marL="109728" marR="109728" marT="36576" marB="36576" anchor="ctr">
                    <a:solidFill>
                      <a:srgbClr val="FFFFFF"/>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مالك واضح للمعاملة</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السبب الحقيقي للتأخير</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FFFFF"/>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مسار طوارئ منفصل تماماً</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2F4F8"/>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r h="530352">
                <a:tc>
                  <a:txBody>
                    <a:bodyPr wrap="square"/>
                    <a:lstStyle/>
                    <a:p>
                      <a:pPr algn="r"/>
                      <a:r>
                        <a:rPr sz="1350" b="0" i="0">
                          <a:solidFill>
                            <a:srgbClr val="1D2433"/>
                          </a:solidFill>
                          <a:latin typeface="Arial"/>
                          <a:cs typeface="Arial"/>
                        </a:rPr>
                        <a:t>أي بلدية تضيف خدماتها بنفسها</a:t>
                      </a:r>
                    </a:p>
                  </a:txBody>
                  <a:tcPr marL="109728" marR="109728" marT="36576" marB="36576" anchor="ctr">
                    <a:solidFill>
                      <a:srgbClr val="FFFFFF"/>
                    </a:solidFill>
                  </a:tcPr>
                </a:tc>
                <a:tc>
                  <a:txBody>
                    <a:bodyPr wrap="square"/>
                    <a:lstStyle/>
                    <a:p>
                      <a:pPr algn="ctr"/>
                      <a:r>
                        <a:rPr sz="1350" b="0" i="0">
                          <a:solidFill>
                            <a:srgbClr val="B3261E"/>
                          </a:solidFill>
                          <a:latin typeface="Arial"/>
                          <a:cs typeface="Arial"/>
                        </a:rPr>
                        <a:t>✗</a:t>
                      </a:r>
                    </a:p>
                  </a:txBody>
                  <a:tcPr marL="109728" marR="109728" marT="36576" marB="36576" anchor="ctr">
                    <a:solidFill>
                      <a:srgbClr val="FFFFFF"/>
                    </a:solidFill>
                  </a:tcPr>
                </a:tc>
                <a:tc>
                  <a:txBody>
                    <a:bodyPr wrap="square"/>
                    <a:lstStyle/>
                    <a:p>
                      <a:pPr algn="ctr"/>
                      <a:r>
                        <a:rPr sz="1350" b="0" i="0">
                          <a:solidFill>
                            <a:srgbClr val="1D2433"/>
                          </a:solidFill>
                          <a:latin typeface="Arial"/>
                          <a:cs typeface="Arial"/>
                        </a:rPr>
                        <a:t>—</a:t>
                      </a:r>
                    </a:p>
                  </a:txBody>
                  <a:tcPr marL="109728" marR="109728" marT="36576" marB="36576" anchor="ctr">
                    <a:solidFill>
                      <a:srgbClr val="FFFFFF"/>
                    </a:solidFill>
                  </a:tcPr>
                </a:tc>
                <a:tc>
                  <a:txBody>
                    <a:bodyPr wrap="square"/>
                    <a:lstStyle/>
                    <a:p>
                      <a:pPr algn="ctr"/>
                      <a:r>
                        <a:rPr sz="1350" b="1" i="0">
                          <a:solidFill>
                            <a:srgbClr val="9C7726"/>
                          </a:solidFill>
                          <a:latin typeface="Arial"/>
                          <a:cs typeface="Arial"/>
                        </a:rPr>
                        <a:t>✓</a:t>
                      </a:r>
                    </a:p>
                  </a:txBody>
                  <a:tcPr marL="109728" marR="109728" marT="36576" marB="36576" anchor="ctr">
                    <a:solidFill>
                      <a:srgbClr val="FBF6EA"/>
                    </a:solidFill>
                  </a:tcPr>
                </a:tc>
              </a:tr>
            </a:tbl>
          </a:graphicData>
        </a:graphic>
      </p:graphicFrame>
      <p:sp>
        <p:nvSpPr>
          <p:cNvPr id="5" name="TextBox 4"/>
          <p:cNvSpPr txBox="1"/>
          <p:nvPr/>
        </p:nvSpPr>
        <p:spPr>
          <a:xfrm>
            <a:off x="548640" y="6172200"/>
            <a:ext cx="11094415" cy="274320"/>
          </a:xfrm>
          <a:prstGeom prst="rect">
            <a:avLst/>
          </a:prstGeom>
          <a:noFill/>
        </p:spPr>
        <p:txBody>
          <a:bodyPr wrap="square" lIns="0" rIns="0" tIns="0" bIns="0" anchor="t">
            <a:spAutoFit/>
          </a:bodyPr>
          <a:lstStyle/>
          <a:p>
            <a:pPr algn="r"/>
            <a:r>
              <a:rPr sz="900" b="0" i="1">
                <a:solidFill>
                  <a:srgbClr val="8A93A3"/>
                </a:solidFill>
                <a:latin typeface="Arial"/>
                <a:cs typeface="Arial"/>
              </a:rPr>
              <a:t>* حسب الوصف الرسمي المُعلن لمنصات الخدمات البلدية الفلسطينية الحالية، ومعاينة مباشرة لمنصة TAMM.</a:t>
            </a:r>
          </a:p>
        </p:txBody>
      </p:sp>
      <p:sp>
        <p:nvSpPr>
          <p:cNvPr id="6" name="TextBox 5"/>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07</a:t>
            </a:r>
          </a:p>
        </p:txBody>
      </p:sp>
      <p:sp>
        <p:nvSpPr>
          <p:cNvPr id="7" name="TextBox 6"/>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مصمّم للجميع</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الشمولية ومسار الطوارئ ليسا إضافة، بل أساس</a:t>
            </a:r>
          </a:p>
        </p:txBody>
      </p:sp>
      <p:sp>
        <p:nvSpPr>
          <p:cNvPr id="4" name="Rounded Rectangle 3"/>
          <p:cNvSpPr/>
          <p:nvPr/>
        </p:nvSpPr>
        <p:spPr>
          <a:xfrm>
            <a:off x="6301588" y="1828800"/>
            <a:ext cx="5341467" cy="39319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75908" y="2057400"/>
            <a:ext cx="4792827" cy="365760"/>
          </a:xfrm>
          <a:prstGeom prst="rect">
            <a:avLst/>
          </a:prstGeom>
          <a:noFill/>
        </p:spPr>
        <p:txBody>
          <a:bodyPr wrap="square" lIns="0" rIns="0" tIns="0" bIns="0" anchor="t">
            <a:spAutoFit/>
          </a:bodyPr>
          <a:lstStyle/>
          <a:p>
            <a:pPr algn="r"/>
            <a:r>
              <a:rPr sz="1600" b="1" i="0">
                <a:solidFill>
                  <a:srgbClr val="0E2340"/>
                </a:solidFill>
                <a:latin typeface="Arial"/>
                <a:cs typeface="Arial"/>
              </a:rPr>
              <a:t>الشمولية</a:t>
            </a:r>
          </a:p>
        </p:txBody>
      </p:sp>
      <p:sp>
        <p:nvSpPr>
          <p:cNvPr id="6" name="Oval 5"/>
          <p:cNvSpPr/>
          <p:nvPr/>
        </p:nvSpPr>
        <p:spPr>
          <a:xfrm>
            <a:off x="11167567" y="269748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5908" y="259689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متابعة عن بُعد</a:t>
            </a:r>
          </a:p>
        </p:txBody>
      </p:sp>
      <p:sp>
        <p:nvSpPr>
          <p:cNvPr id="8" name="TextBox 7"/>
          <p:cNvSpPr txBox="1"/>
          <p:nvPr/>
        </p:nvSpPr>
        <p:spPr>
          <a:xfrm>
            <a:off x="6575908" y="288950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بدل الحضور الإلزامي — فيديو أو زيارة ميدانية لذوي الإعاقة وكبار السن</a:t>
            </a:r>
          </a:p>
        </p:txBody>
      </p:sp>
      <p:sp>
        <p:nvSpPr>
          <p:cNvPr id="9" name="Oval 8"/>
          <p:cNvSpPr/>
          <p:nvPr/>
        </p:nvSpPr>
        <p:spPr>
          <a:xfrm>
            <a:off x="11167567" y="347472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8" y="337413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توافق قارئ الشاشة</a:t>
            </a:r>
          </a:p>
        </p:txBody>
      </p:sp>
      <p:sp>
        <p:nvSpPr>
          <p:cNvPr id="11" name="TextBox 10"/>
          <p:cNvSpPr txBox="1"/>
          <p:nvPr/>
        </p:nvSpPr>
        <p:spPr>
          <a:xfrm>
            <a:off x="6575908" y="366674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وتباين لوني عالٍ لضعاف البصر</a:t>
            </a:r>
          </a:p>
        </p:txBody>
      </p:sp>
      <p:sp>
        <p:nvSpPr>
          <p:cNvPr id="12" name="Oval 11"/>
          <p:cNvSpPr/>
          <p:nvPr/>
        </p:nvSpPr>
        <p:spPr>
          <a:xfrm>
            <a:off x="11167567" y="425196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5908" y="415137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وضع مبسّط</a:t>
            </a:r>
          </a:p>
        </p:txBody>
      </p:sp>
      <p:sp>
        <p:nvSpPr>
          <p:cNvPr id="14" name="TextBox 13"/>
          <p:cNvSpPr txBox="1"/>
          <p:nvPr/>
        </p:nvSpPr>
        <p:spPr>
          <a:xfrm>
            <a:off x="6575908" y="444398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خطوة واحدة بالمرة لكبار السن وذوي الإعاقة الذهنية</a:t>
            </a:r>
          </a:p>
        </p:txBody>
      </p:sp>
      <p:sp>
        <p:nvSpPr>
          <p:cNvPr id="15" name="Oval 14"/>
          <p:cNvSpPr/>
          <p:nvPr/>
        </p:nvSpPr>
        <p:spPr>
          <a:xfrm>
            <a:off x="11167567" y="5029200"/>
            <a:ext cx="201168" cy="201168"/>
          </a:xfrm>
          <a:prstGeom prst="ellipse">
            <a:avLst/>
          </a:prstGeom>
          <a:solidFill>
            <a:srgbClr val="0E2340"/>
          </a:solidFill>
          <a:ln w="15875">
            <a:solidFill>
              <a:srgbClr val="0E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5908" y="492861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قنوات بلا إنترنت</a:t>
            </a:r>
          </a:p>
        </p:txBody>
      </p:sp>
      <p:sp>
        <p:nvSpPr>
          <p:cNvPr id="17" name="TextBox 16"/>
          <p:cNvSpPr txBox="1"/>
          <p:nvPr/>
        </p:nvSpPr>
        <p:spPr>
          <a:xfrm>
            <a:off x="6575908" y="522122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رسائل SMS وأكشاك بمساعدة موظف لمن هم خارج التغطية الرقمية</a:t>
            </a:r>
          </a:p>
        </p:txBody>
      </p:sp>
      <p:sp>
        <p:nvSpPr>
          <p:cNvPr id="18" name="Rounded Rectangle 17"/>
          <p:cNvSpPr/>
          <p:nvPr/>
        </p:nvSpPr>
        <p:spPr>
          <a:xfrm>
            <a:off x="548640" y="1828800"/>
            <a:ext cx="5341467" cy="393192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057400"/>
            <a:ext cx="4792827" cy="365760"/>
          </a:xfrm>
          <a:prstGeom prst="rect">
            <a:avLst/>
          </a:prstGeom>
          <a:noFill/>
        </p:spPr>
        <p:txBody>
          <a:bodyPr wrap="square" lIns="0" rIns="0" tIns="0" bIns="0" anchor="t">
            <a:spAutoFit/>
          </a:bodyPr>
          <a:lstStyle/>
          <a:p>
            <a:pPr algn="r"/>
            <a:r>
              <a:rPr sz="1600" b="1" i="0">
                <a:solidFill>
                  <a:srgbClr val="B3261E"/>
                </a:solidFill>
                <a:latin typeface="Arial"/>
                <a:cs typeface="Arial"/>
              </a:rPr>
              <a:t>مسار الطوارئ</a:t>
            </a:r>
          </a:p>
        </p:txBody>
      </p:sp>
      <p:sp>
        <p:nvSpPr>
          <p:cNvPr id="20" name="Oval 19"/>
          <p:cNvSpPr/>
          <p:nvPr/>
        </p:nvSpPr>
        <p:spPr>
          <a:xfrm>
            <a:off x="5414619" y="269748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259689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استجابة بالساعات لا الأيام</a:t>
            </a:r>
          </a:p>
        </p:txBody>
      </p:sp>
      <p:sp>
        <p:nvSpPr>
          <p:cNvPr id="22" name="TextBox 21"/>
          <p:cNvSpPr txBox="1"/>
          <p:nvPr/>
        </p:nvSpPr>
        <p:spPr>
          <a:xfrm>
            <a:off x="822960" y="288950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غرفة عمليات طوارئ منفصلة تماماً عن الطابور الإداري</a:t>
            </a:r>
          </a:p>
        </p:txBody>
      </p:sp>
      <p:sp>
        <p:nvSpPr>
          <p:cNvPr id="23" name="Oval 22"/>
          <p:cNvSpPr/>
          <p:nvPr/>
        </p:nvSpPr>
        <p:spPr>
          <a:xfrm>
            <a:off x="5414619" y="347472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37413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دمج البلاغات المكررة</a:t>
            </a:r>
          </a:p>
        </p:txBody>
      </p:sp>
      <p:sp>
        <p:nvSpPr>
          <p:cNvPr id="25" name="TextBox 24"/>
          <p:cNvSpPr txBox="1"/>
          <p:nvPr/>
        </p:nvSpPr>
        <p:spPr>
          <a:xfrm>
            <a:off x="822960" y="366674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تلقائياً حسب الموقع والتوقيت لنفس الحادثة</a:t>
            </a:r>
          </a:p>
        </p:txBody>
      </p:sp>
      <p:sp>
        <p:nvSpPr>
          <p:cNvPr id="26" name="Oval 25"/>
          <p:cNvSpPr/>
          <p:nvPr/>
        </p:nvSpPr>
        <p:spPr>
          <a:xfrm>
            <a:off x="5414619" y="425196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15137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إثبات تنفيذ إلزامي</a:t>
            </a:r>
          </a:p>
        </p:txBody>
      </p:sp>
      <p:sp>
        <p:nvSpPr>
          <p:cNvPr id="28" name="TextBox 27"/>
          <p:cNvSpPr txBox="1"/>
          <p:nvPr/>
        </p:nvSpPr>
        <p:spPr>
          <a:xfrm>
            <a:off x="822960" y="444398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صورة + توقيت + تقرير قبل إغلاق أي بلاغ</a:t>
            </a:r>
          </a:p>
        </p:txBody>
      </p:sp>
      <p:sp>
        <p:nvSpPr>
          <p:cNvPr id="29" name="Oval 28"/>
          <p:cNvSpPr/>
          <p:nvPr/>
        </p:nvSpPr>
        <p:spPr>
          <a:xfrm>
            <a:off x="5414619" y="5029200"/>
            <a:ext cx="201168" cy="201168"/>
          </a:xfrm>
          <a:prstGeom prst="ellipse">
            <a:avLst/>
          </a:prstGeom>
          <a:solidFill>
            <a:srgbClr val="B3261E"/>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928616"/>
            <a:ext cx="4463643" cy="310896"/>
          </a:xfrm>
          <a:prstGeom prst="rect">
            <a:avLst/>
          </a:prstGeom>
          <a:noFill/>
        </p:spPr>
        <p:txBody>
          <a:bodyPr wrap="square" lIns="0" rIns="0" tIns="0" bIns="0" anchor="t">
            <a:spAutoFit/>
          </a:bodyPr>
          <a:lstStyle/>
          <a:p>
            <a:pPr algn="r"/>
            <a:r>
              <a:rPr sz="1500" b="1" i="0">
                <a:solidFill>
                  <a:srgbClr val="0E2340"/>
                </a:solidFill>
                <a:latin typeface="Arial"/>
                <a:cs typeface="Arial"/>
              </a:rPr>
              <a:t>لا يمر خطر على الأرواح</a:t>
            </a:r>
          </a:p>
        </p:txBody>
      </p:sp>
      <p:sp>
        <p:nvSpPr>
          <p:cNvPr id="31" name="TextBox 30"/>
          <p:cNvSpPr txBox="1"/>
          <p:nvPr/>
        </p:nvSpPr>
        <p:spPr>
          <a:xfrm>
            <a:off x="822960" y="5221224"/>
            <a:ext cx="4463643" cy="502920"/>
          </a:xfrm>
          <a:prstGeom prst="rect">
            <a:avLst/>
          </a:prstGeom>
          <a:noFill/>
        </p:spPr>
        <p:txBody>
          <a:bodyPr wrap="square" lIns="0" rIns="0" tIns="0" bIns="0" anchor="t">
            <a:spAutoFit/>
          </a:bodyPr>
          <a:lstStyle/>
          <a:p>
            <a:pPr algn="r"/>
            <a:r>
              <a:rPr sz="1150" b="0" i="0">
                <a:solidFill>
                  <a:srgbClr val="5B6472"/>
                </a:solidFill>
                <a:latin typeface="Arial"/>
                <a:cs typeface="Arial"/>
              </a:rPr>
              <a:t>بنفس طابور معاملة روتينية عادية</a:t>
            </a:r>
          </a:p>
        </p:txBody>
      </p:sp>
      <p:sp>
        <p:nvSpPr>
          <p:cNvPr id="32" name="TextBox 31"/>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08</a:t>
            </a:r>
          </a:p>
        </p:txBody>
      </p:sp>
      <p:sp>
        <p:nvSpPr>
          <p:cNvPr id="33" name="TextBox 32"/>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94415" cy="365760"/>
          </a:xfrm>
          <a:prstGeom prst="rect">
            <a:avLst/>
          </a:prstGeom>
          <a:noFill/>
        </p:spPr>
        <p:txBody>
          <a:bodyPr wrap="square" lIns="0" rIns="0" tIns="0" bIns="0" anchor="t">
            <a:spAutoFit/>
          </a:bodyPr>
          <a:lstStyle/>
          <a:p>
            <a:pPr algn="r"/>
            <a:r>
              <a:rPr sz="1300" b="1" i="0">
                <a:solidFill>
                  <a:srgbClr val="9C7726"/>
                </a:solidFill>
                <a:latin typeface="Arial"/>
                <a:cs typeface="Arial"/>
              </a:rPr>
              <a:t>نموذج العمل وخارطة الطريق</a:t>
            </a:r>
          </a:p>
        </p:txBody>
      </p:sp>
      <p:sp>
        <p:nvSpPr>
          <p:cNvPr id="3" name="TextBox 2"/>
          <p:cNvSpPr txBox="1"/>
          <p:nvPr/>
        </p:nvSpPr>
        <p:spPr>
          <a:xfrm>
            <a:off x="548640" y="850392"/>
            <a:ext cx="11094415" cy="777240"/>
          </a:xfrm>
          <a:prstGeom prst="rect">
            <a:avLst/>
          </a:prstGeom>
          <a:noFill/>
        </p:spPr>
        <p:txBody>
          <a:bodyPr wrap="square" lIns="0" rIns="0" tIns="0" bIns="0" anchor="t">
            <a:spAutoFit/>
          </a:bodyPr>
          <a:lstStyle/>
          <a:p>
            <a:pPr algn="r"/>
            <a:r>
              <a:rPr sz="3000" b="1" i="0">
                <a:solidFill>
                  <a:srgbClr val="0E2340"/>
                </a:solidFill>
                <a:latin typeface="Arial"/>
                <a:cs typeface="Arial"/>
              </a:rPr>
              <a:t>استدامة مالية واضحة، وتوسّع تدريجي</a:t>
            </a:r>
          </a:p>
        </p:txBody>
      </p:sp>
      <p:sp>
        <p:nvSpPr>
          <p:cNvPr id="4" name="Rounded Rectangle 3"/>
          <p:cNvSpPr/>
          <p:nvPr/>
        </p:nvSpPr>
        <p:spPr>
          <a:xfrm>
            <a:off x="548640" y="1691640"/>
            <a:ext cx="11094415" cy="1234440"/>
          </a:xfrm>
          <a:prstGeom prst="roundRect">
            <a:avLst>
              <a:gd name="adj" fmla="val 7000"/>
            </a:avLst>
          </a:prstGeom>
          <a:solidFill>
            <a:srgbClr val="0E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96935" y="1874519"/>
            <a:ext cx="2926080" cy="320040"/>
          </a:xfrm>
          <a:prstGeom prst="rect">
            <a:avLst/>
          </a:prstGeom>
          <a:noFill/>
        </p:spPr>
        <p:txBody>
          <a:bodyPr wrap="square" lIns="0" rIns="0" tIns="0" bIns="0" anchor="t">
            <a:spAutoFit/>
          </a:bodyPr>
          <a:lstStyle/>
          <a:p>
            <a:pPr algn="r"/>
            <a:r>
              <a:rPr sz="1400" b="1" i="0">
                <a:solidFill>
                  <a:srgbClr val="E7C476"/>
                </a:solidFill>
                <a:latin typeface="Arial"/>
                <a:cs typeface="Arial"/>
              </a:rPr>
              <a:t>نموذج العمل: B2G</a:t>
            </a:r>
          </a:p>
        </p:txBody>
      </p:sp>
      <p:sp>
        <p:nvSpPr>
          <p:cNvPr id="6" name="TextBox 5"/>
          <p:cNvSpPr txBox="1"/>
          <p:nvPr/>
        </p:nvSpPr>
        <p:spPr>
          <a:xfrm>
            <a:off x="868680" y="2212848"/>
            <a:ext cx="10454335" cy="640080"/>
          </a:xfrm>
          <a:prstGeom prst="rect">
            <a:avLst/>
          </a:prstGeom>
          <a:noFill/>
        </p:spPr>
        <p:txBody>
          <a:bodyPr wrap="square" lIns="0" rIns="0" tIns="0" bIns="0" anchor="t">
            <a:spAutoFit/>
          </a:bodyPr>
          <a:lstStyle/>
          <a:p>
            <a:pPr algn="r">
              <a:lnSpc>
                <a:spcPct val="115000"/>
              </a:lnSpc>
            </a:pPr>
            <a:r>
              <a:rPr sz="1200" b="0" i="0">
                <a:solidFill>
                  <a:srgbClr val="D7DEEA"/>
                </a:solidFill>
                <a:latin typeface="Arial"/>
                <a:cs typeface="Arial"/>
              </a:rPr>
              <a:t>اشتراك سنوي للبلدية يُحتسب حسب عدد الخدمات المفعّلة، بالإضافة إلى رسوم تفعيل أولى لمرة واحدة عند الانضمام. المنصة تُبنى فوق الأنظمة القائمة — بلا تكلفة استبدال، وبلا تعطيل لأي خدمة تعمل حالياً.</a:t>
            </a:r>
          </a:p>
        </p:txBody>
      </p:sp>
      <p:sp>
        <p:nvSpPr>
          <p:cNvPr id="7" name="TextBox 6"/>
          <p:cNvSpPr txBox="1"/>
          <p:nvPr/>
        </p:nvSpPr>
        <p:spPr>
          <a:xfrm>
            <a:off x="548640" y="3246120"/>
            <a:ext cx="11094415" cy="365760"/>
          </a:xfrm>
          <a:prstGeom prst="rect">
            <a:avLst/>
          </a:prstGeom>
          <a:noFill/>
        </p:spPr>
        <p:txBody>
          <a:bodyPr wrap="square" lIns="0" rIns="0" tIns="0" bIns="0" anchor="t">
            <a:spAutoFit/>
          </a:bodyPr>
          <a:lstStyle/>
          <a:p>
            <a:pPr algn="r"/>
            <a:r>
              <a:rPr sz="1500" b="1" i="0">
                <a:solidFill>
                  <a:srgbClr val="0E2340"/>
                </a:solidFill>
                <a:latin typeface="Arial"/>
                <a:cs typeface="Arial"/>
              </a:rPr>
              <a:t>خارطة الطريق</a:t>
            </a:r>
          </a:p>
        </p:txBody>
      </p:sp>
      <p:cxnSp>
        <p:nvCxnSpPr>
          <p:cNvPr id="8" name="Connector 7"/>
          <p:cNvCxnSpPr/>
          <p:nvPr/>
        </p:nvCxnSpPr>
        <p:spPr>
          <a:xfrm>
            <a:off x="2291029" y="3886200"/>
            <a:ext cx="7609637" cy="0"/>
          </a:xfrm>
          <a:prstGeom prst="line">
            <a:avLst/>
          </a:prstGeom>
          <a:ln w="22225">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699498" y="3685032"/>
            <a:ext cx="402336" cy="402336"/>
          </a:xfrm>
          <a:prstGeom prst="ellipse">
            <a:avLst/>
          </a:prstGeom>
          <a:solidFill>
            <a:srgbClr val="C79A3F"/>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0E2340"/>
                </a:solidFill>
                <a:latin typeface="Arial"/>
                <a:cs typeface="Arial"/>
              </a:rPr>
              <a:t>١</a:t>
            </a:r>
          </a:p>
        </p:txBody>
      </p:sp>
      <p:sp>
        <p:nvSpPr>
          <p:cNvPr id="10" name="Rounded Rectangle 9"/>
          <p:cNvSpPr/>
          <p:nvPr/>
        </p:nvSpPr>
        <p:spPr>
          <a:xfrm>
            <a:off x="8158277" y="4142232"/>
            <a:ext cx="3484778" cy="16916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1157" y="4343400"/>
            <a:ext cx="3119018" cy="320040"/>
          </a:xfrm>
          <a:prstGeom prst="rect">
            <a:avLst/>
          </a:prstGeom>
          <a:noFill/>
        </p:spPr>
        <p:txBody>
          <a:bodyPr wrap="square" lIns="0" rIns="0" tIns="0" bIns="0" anchor="t">
            <a:spAutoFit/>
          </a:bodyPr>
          <a:lstStyle/>
          <a:p>
            <a:pPr algn="ctr"/>
            <a:r>
              <a:rPr sz="1350" b="1" i="0">
                <a:solidFill>
                  <a:srgbClr val="0E2340"/>
                </a:solidFill>
                <a:latin typeface="Arial"/>
                <a:cs typeface="Arial"/>
              </a:rPr>
              <a:t>الآن</a:t>
            </a:r>
          </a:p>
        </p:txBody>
      </p:sp>
      <p:sp>
        <p:nvSpPr>
          <p:cNvPr id="12" name="TextBox 11"/>
          <p:cNvSpPr txBox="1"/>
          <p:nvPr/>
        </p:nvSpPr>
        <p:spPr>
          <a:xfrm>
            <a:off x="8359445" y="4727448"/>
            <a:ext cx="3082442" cy="685800"/>
          </a:xfrm>
          <a:prstGeom prst="rect">
            <a:avLst/>
          </a:prstGeom>
          <a:noFill/>
        </p:spPr>
        <p:txBody>
          <a:bodyPr wrap="square" lIns="0" rIns="0" tIns="0" bIns="0" anchor="t">
            <a:spAutoFit/>
          </a:bodyPr>
          <a:lstStyle/>
          <a:p>
            <a:pPr algn="ctr">
              <a:lnSpc>
                <a:spcPct val="110000"/>
              </a:lnSpc>
            </a:pPr>
            <a:r>
              <a:rPr sz="1050" b="0" i="0">
                <a:solidFill>
                  <a:srgbClr val="5B6472"/>
                </a:solidFill>
                <a:latin typeface="Arial"/>
                <a:cs typeface="Arial"/>
              </a:rPr>
              <a:t>نموذج أولي متكامل — ثلاث واجهات فعلية (مواطن، موظف، بلدية) وخمس خدمات مُهيّأة، بمنطق تتبع وتصعيد حقيقي.</a:t>
            </a:r>
          </a:p>
        </p:txBody>
      </p:sp>
      <p:sp>
        <p:nvSpPr>
          <p:cNvPr id="13" name="Oval 12"/>
          <p:cNvSpPr/>
          <p:nvPr/>
        </p:nvSpPr>
        <p:spPr>
          <a:xfrm>
            <a:off x="5894680" y="3685032"/>
            <a:ext cx="402336" cy="402336"/>
          </a:xfrm>
          <a:prstGeom prst="ellipse">
            <a:avLst/>
          </a:prstGeom>
          <a:solidFill>
            <a:srgbClr val="FFFFFF"/>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9C7726"/>
                </a:solidFill>
                <a:latin typeface="Arial"/>
                <a:cs typeface="Arial"/>
              </a:rPr>
              <a:t>٢</a:t>
            </a:r>
          </a:p>
        </p:txBody>
      </p:sp>
      <p:sp>
        <p:nvSpPr>
          <p:cNvPr id="14" name="Rounded Rectangle 13"/>
          <p:cNvSpPr/>
          <p:nvPr/>
        </p:nvSpPr>
        <p:spPr>
          <a:xfrm>
            <a:off x="4353459" y="4142232"/>
            <a:ext cx="3484778" cy="16916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6339" y="4343400"/>
            <a:ext cx="3119018" cy="320040"/>
          </a:xfrm>
          <a:prstGeom prst="rect">
            <a:avLst/>
          </a:prstGeom>
          <a:noFill/>
        </p:spPr>
        <p:txBody>
          <a:bodyPr wrap="square" lIns="0" rIns="0" tIns="0" bIns="0" anchor="t">
            <a:spAutoFit/>
          </a:bodyPr>
          <a:lstStyle/>
          <a:p>
            <a:pPr algn="ctr"/>
            <a:r>
              <a:rPr sz="1350" b="1" i="0">
                <a:solidFill>
                  <a:srgbClr val="0E2340"/>
                </a:solidFill>
                <a:latin typeface="Arial"/>
                <a:cs typeface="Arial"/>
              </a:rPr>
              <a:t>المرحلة القادمة</a:t>
            </a:r>
          </a:p>
        </p:txBody>
      </p:sp>
      <p:sp>
        <p:nvSpPr>
          <p:cNvPr id="16" name="TextBox 15"/>
          <p:cNvSpPr txBox="1"/>
          <p:nvPr/>
        </p:nvSpPr>
        <p:spPr>
          <a:xfrm>
            <a:off x="4554627" y="4727448"/>
            <a:ext cx="3082442" cy="685800"/>
          </a:xfrm>
          <a:prstGeom prst="rect">
            <a:avLst/>
          </a:prstGeom>
          <a:noFill/>
        </p:spPr>
        <p:txBody>
          <a:bodyPr wrap="square" lIns="0" rIns="0" tIns="0" bIns="0" anchor="t">
            <a:spAutoFit/>
          </a:bodyPr>
          <a:lstStyle/>
          <a:p>
            <a:pPr algn="ctr">
              <a:lnSpc>
                <a:spcPct val="110000"/>
              </a:lnSpc>
            </a:pPr>
            <a:r>
              <a:rPr sz="1050" b="0" i="0">
                <a:solidFill>
                  <a:srgbClr val="5B6472"/>
                </a:solidFill>
                <a:latin typeface="Arial"/>
                <a:cs typeface="Arial"/>
              </a:rPr>
              <a:t>شراكة تجريبية مع بلدية واحدة على خدمة حقيقية واحدة، لقياس الأثر قبل التوسّع.</a:t>
            </a:r>
          </a:p>
        </p:txBody>
      </p:sp>
      <p:sp>
        <p:nvSpPr>
          <p:cNvPr id="17" name="Oval 16"/>
          <p:cNvSpPr/>
          <p:nvPr/>
        </p:nvSpPr>
        <p:spPr>
          <a:xfrm>
            <a:off x="2089862" y="3685032"/>
            <a:ext cx="402336" cy="402336"/>
          </a:xfrm>
          <a:prstGeom prst="ellipse">
            <a:avLst/>
          </a:prstGeom>
          <a:solidFill>
            <a:srgbClr val="FFFFFF"/>
          </a:solidFill>
          <a:ln w="15875">
            <a:solidFill>
              <a:srgbClr val="C79A3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a:solidFill>
                  <a:srgbClr val="9C7726"/>
                </a:solidFill>
                <a:latin typeface="Arial"/>
                <a:cs typeface="Arial"/>
              </a:rPr>
              <a:t>٣</a:t>
            </a:r>
          </a:p>
        </p:txBody>
      </p:sp>
      <p:sp>
        <p:nvSpPr>
          <p:cNvPr id="18" name="Rounded Rectangle 17"/>
          <p:cNvSpPr/>
          <p:nvPr/>
        </p:nvSpPr>
        <p:spPr>
          <a:xfrm>
            <a:off x="548641" y="4142232"/>
            <a:ext cx="3484778" cy="1691640"/>
          </a:xfrm>
          <a:prstGeom prst="roundRect">
            <a:avLst>
              <a:gd name="adj" fmla="val 8000"/>
            </a:avLst>
          </a:prstGeom>
          <a:solidFill>
            <a:srgbClr val="F2F4F8"/>
          </a:solidFill>
          <a:ln w="12700">
            <a:solidFill>
              <a:srgbClr val="DD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1" y="4343400"/>
            <a:ext cx="3119018" cy="320040"/>
          </a:xfrm>
          <a:prstGeom prst="rect">
            <a:avLst/>
          </a:prstGeom>
          <a:noFill/>
        </p:spPr>
        <p:txBody>
          <a:bodyPr wrap="square" lIns="0" rIns="0" tIns="0" bIns="0" anchor="t">
            <a:spAutoFit/>
          </a:bodyPr>
          <a:lstStyle/>
          <a:p>
            <a:pPr algn="ctr"/>
            <a:r>
              <a:rPr sz="1350" b="1" i="0">
                <a:solidFill>
                  <a:srgbClr val="0E2340"/>
                </a:solidFill>
                <a:latin typeface="Arial"/>
                <a:cs typeface="Arial"/>
              </a:rPr>
              <a:t>الرؤية</a:t>
            </a:r>
          </a:p>
        </p:txBody>
      </p:sp>
      <p:sp>
        <p:nvSpPr>
          <p:cNvPr id="20" name="TextBox 19"/>
          <p:cNvSpPr txBox="1"/>
          <p:nvPr/>
        </p:nvSpPr>
        <p:spPr>
          <a:xfrm>
            <a:off x="749809" y="4727448"/>
            <a:ext cx="3082442" cy="685800"/>
          </a:xfrm>
          <a:prstGeom prst="rect">
            <a:avLst/>
          </a:prstGeom>
          <a:noFill/>
        </p:spPr>
        <p:txBody>
          <a:bodyPr wrap="square" lIns="0" rIns="0" tIns="0" bIns="0" anchor="t">
            <a:spAutoFit/>
          </a:bodyPr>
          <a:lstStyle/>
          <a:p>
            <a:pPr algn="ctr">
              <a:lnSpc>
                <a:spcPct val="110000"/>
              </a:lnSpc>
            </a:pPr>
            <a:r>
              <a:rPr sz="1050" b="0" i="0">
                <a:solidFill>
                  <a:srgbClr val="5B6472"/>
                </a:solidFill>
                <a:latin typeface="Arial"/>
                <a:cs typeface="Arial"/>
              </a:rPr>
              <a:t>طبقة تشغيلية وطنية تعمل تحت حكومتي، متاحة لأي بلدية فلسطينية تريد الانضمام.</a:t>
            </a:r>
          </a:p>
        </p:txBody>
      </p:sp>
      <p:sp>
        <p:nvSpPr>
          <p:cNvPr id="21" name="TextBox 20"/>
          <p:cNvSpPr txBox="1"/>
          <p:nvPr/>
        </p:nvSpPr>
        <p:spPr>
          <a:xfrm>
            <a:off x="11368735" y="6400800"/>
            <a:ext cx="457200" cy="274320"/>
          </a:xfrm>
          <a:prstGeom prst="rect">
            <a:avLst/>
          </a:prstGeom>
          <a:noFill/>
        </p:spPr>
        <p:txBody>
          <a:bodyPr wrap="square" lIns="0" rIns="0" tIns="0" bIns="0" anchor="t">
            <a:spAutoFit/>
          </a:bodyPr>
          <a:lstStyle/>
          <a:p>
            <a:pPr algn="l"/>
            <a:r>
              <a:rPr sz="900" b="0" i="0">
                <a:solidFill>
                  <a:srgbClr val="8A93A3"/>
                </a:solidFill>
                <a:latin typeface="Arial"/>
                <a:cs typeface="Arial"/>
              </a:rPr>
              <a:t>09</a:t>
            </a:r>
          </a:p>
        </p:txBody>
      </p:sp>
      <p:sp>
        <p:nvSpPr>
          <p:cNvPr id="22" name="TextBox 21"/>
          <p:cNvSpPr txBox="1"/>
          <p:nvPr/>
        </p:nvSpPr>
        <p:spPr>
          <a:xfrm>
            <a:off x="548640" y="6400800"/>
            <a:ext cx="2743200" cy="274320"/>
          </a:xfrm>
          <a:prstGeom prst="rect">
            <a:avLst/>
          </a:prstGeom>
          <a:noFill/>
        </p:spPr>
        <p:txBody>
          <a:bodyPr wrap="square" lIns="0" rIns="0" tIns="0" bIns="0" anchor="t">
            <a:spAutoFit/>
          </a:bodyPr>
          <a:lstStyle/>
          <a:p>
            <a:pPr algn="r"/>
            <a:r>
              <a:rPr sz="900" b="0" i="0">
                <a:solidFill>
                  <a:srgbClr val="8A93A3"/>
                </a:solidFill>
                <a:latin typeface="Arial"/>
                <a:cs typeface="Arial"/>
              </a:rPr>
              <a:t>طرف الخيط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2340"/>
        </a:solidFill>
        <a:effectLst/>
      </p:bgPr>
    </p:bg>
    <p:spTree>
      <p:nvGrpSpPr>
        <p:cNvPr id="1" name=""/>
        <p:cNvGrpSpPr/>
        <p:nvPr/>
      </p:nvGrpSpPr>
      <p:grpSpPr/>
      <p:cxnSp>
        <p:nvCxnSpPr>
          <p:cNvPr id="2" name="Connector 1"/>
          <p:cNvCxnSpPr/>
          <p:nvPr/>
        </p:nvCxnSpPr>
        <p:spPr>
          <a:xfrm flipV="1">
            <a:off x="8595360" y="1005840"/>
            <a:ext cx="2743200" cy="41148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914400" y="5532120"/>
            <a:ext cx="2560320" cy="365760"/>
          </a:xfrm>
          <a:prstGeom prst="line">
            <a:avLst/>
          </a:prstGeom>
          <a:ln w="25400">
            <a:solidFill>
              <a:srgbClr val="1B3A63"/>
            </a:solidFill>
            <a:prstDash val="dash"/>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148840"/>
            <a:ext cx="12191695" cy="685800"/>
          </a:xfrm>
          <a:prstGeom prst="rect">
            <a:avLst/>
          </a:prstGeom>
          <a:noFill/>
        </p:spPr>
        <p:txBody>
          <a:bodyPr wrap="square" lIns="0" rIns="0" tIns="0" bIns="0" anchor="t">
            <a:spAutoFit/>
          </a:bodyPr>
          <a:lstStyle/>
          <a:p>
            <a:pPr algn="ctr"/>
            <a:r>
              <a:rPr sz="3200" b="1" i="0">
                <a:solidFill>
                  <a:srgbClr val="FFFFFF"/>
                </a:solidFill>
                <a:latin typeface="Arial"/>
                <a:cs typeface="Arial"/>
              </a:rPr>
              <a:t>كل معاملة لها خيط…</a:t>
            </a:r>
          </a:p>
        </p:txBody>
      </p:sp>
      <p:sp>
        <p:nvSpPr>
          <p:cNvPr id="5" name="TextBox 4"/>
          <p:cNvSpPr txBox="1"/>
          <p:nvPr/>
        </p:nvSpPr>
        <p:spPr>
          <a:xfrm>
            <a:off x="0" y="2788920"/>
            <a:ext cx="12191695" cy="685800"/>
          </a:xfrm>
          <a:prstGeom prst="rect">
            <a:avLst/>
          </a:prstGeom>
          <a:noFill/>
        </p:spPr>
        <p:txBody>
          <a:bodyPr wrap="square" lIns="0" rIns="0" tIns="0" bIns="0" anchor="t">
            <a:spAutoFit/>
          </a:bodyPr>
          <a:lstStyle/>
          <a:p>
            <a:pPr algn="ctr"/>
            <a:r>
              <a:rPr sz="3200" b="1" i="0">
                <a:solidFill>
                  <a:srgbClr val="E7C476"/>
                </a:solidFill>
                <a:latin typeface="Arial"/>
                <a:cs typeface="Arial"/>
              </a:rPr>
              <a:t>نحن نمسك طرفه</a:t>
            </a:r>
          </a:p>
        </p:txBody>
      </p:sp>
      <p:cxnSp>
        <p:nvCxnSpPr>
          <p:cNvPr id="6" name="Connector 5"/>
          <p:cNvCxnSpPr/>
          <p:nvPr/>
        </p:nvCxnSpPr>
        <p:spPr>
          <a:xfrm>
            <a:off x="4816144" y="3547872"/>
            <a:ext cx="2560320" cy="0"/>
          </a:xfrm>
          <a:prstGeom prst="line">
            <a:avLst/>
          </a:prstGeom>
          <a:ln w="19050">
            <a:solidFill>
              <a:srgbClr val="C79A3F"/>
            </a:solidFill>
            <a:prstDash val="dash"/>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0" y="3931920"/>
            <a:ext cx="12191695" cy="365760"/>
          </a:xfrm>
          <a:prstGeom prst="rect">
            <a:avLst/>
          </a:prstGeom>
          <a:noFill/>
        </p:spPr>
        <p:txBody>
          <a:bodyPr wrap="square" lIns="0" rIns="0" tIns="0" bIns="0" anchor="t">
            <a:spAutoFit/>
          </a:bodyPr>
          <a:lstStyle/>
          <a:p>
            <a:pPr algn="ctr"/>
            <a:r>
              <a:rPr sz="1400" b="0" i="0">
                <a:solidFill>
                  <a:srgbClr val="AEB9CC"/>
                </a:solidFill>
                <a:latin typeface="Arial"/>
                <a:cs typeface="Arial"/>
              </a:rPr>
              <a:t>طرف الخيط — منصة تشغيلية موحّدة للخدمات البلدية</a:t>
            </a:r>
          </a:p>
        </p:txBody>
      </p:sp>
      <p:sp>
        <p:nvSpPr>
          <p:cNvPr id="8" name="TextBox 7"/>
          <p:cNvSpPr txBox="1"/>
          <p:nvPr/>
        </p:nvSpPr>
        <p:spPr>
          <a:xfrm>
            <a:off x="0" y="4709160"/>
            <a:ext cx="12191695" cy="365760"/>
          </a:xfrm>
          <a:prstGeom prst="rect">
            <a:avLst/>
          </a:prstGeom>
          <a:noFill/>
        </p:spPr>
        <p:txBody>
          <a:bodyPr wrap="square" lIns="0" rIns="0" tIns="0" bIns="0" anchor="t">
            <a:spAutoFit/>
          </a:bodyPr>
          <a:lstStyle/>
          <a:p>
            <a:pPr algn="ctr"/>
            <a:r>
              <a:rPr sz="1300" b="0" i="1">
                <a:solidFill>
                  <a:srgbClr val="C79A3F"/>
                </a:solidFill>
                <a:latin typeface="Arial"/>
                <a:cs typeface="Arial"/>
              </a:rPr>
              <a:t>جاهزون نطبّقها في بلدية حقيقية — طرف الخيط بانتظار طرفه التاني.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