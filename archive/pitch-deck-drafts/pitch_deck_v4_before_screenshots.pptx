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11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DCA8B-D41A-4A78-8E2C-50C9BCC231E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461A0-59EE-4164-B11B-50CE80E6D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0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pic>
        <p:nvPicPr>
          <p:cNvPr id="3" name="Image 1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pic>
        <p:nvPicPr>
          <p:cNvPr id="4" name="Image 2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85800"/>
            <a:ext cx="4480560" cy="44805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669280" y="1371600"/>
            <a:ext cx="5971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66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طرف الخيط</a:t>
            </a:r>
            <a:endParaRPr lang="ar-SA" sz="6600" dirty="0"/>
          </a:p>
        </p:txBody>
      </p:sp>
      <p:sp>
        <p:nvSpPr>
          <p:cNvPr id="7" name="Text 2"/>
          <p:cNvSpPr txBox="1"/>
          <p:nvPr/>
        </p:nvSpPr>
        <p:spPr>
          <a:xfrm>
            <a:off x="5394960" y="2606040"/>
            <a:ext cx="624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2300" b="1" dirty="0" smtClean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الي بخلي كل معاملة تعرف طريقها</a:t>
            </a:r>
            <a:endParaRPr lang="ar-SA" sz="23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3291840"/>
            <a:ext cx="5330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ar-SA" altLang="en-US" sz="17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مسار إداري مبهم ومتداخل إلى إجراء موثّق، مسؤول، وقابل للمساءلة</a:t>
            </a:r>
            <a:endParaRPr lang="ar-SA" sz="1700" dirty="0"/>
          </a:p>
        </p:txBody>
      </p:sp>
      <p:sp>
        <p:nvSpPr>
          <p:cNvPr id="9" name="Shape 4"/>
          <p:cNvSpPr/>
          <p:nvPr/>
        </p:nvSpPr>
        <p:spPr>
          <a:xfrm>
            <a:off x="4690872" y="4379976"/>
            <a:ext cx="6949440" cy="1280160"/>
          </a:xfrm>
          <a:custGeom>
            <a:avLst/>
            <a:gdLst/>
            <a:ahLst/>
            <a:cxnLst/>
            <a:rect l="l" t="t" r="r" b="b"/>
            <a:pathLst>
              <a:path w="6949440" h="1280160">
                <a:moveTo>
                  <a:pt x="6949440" y="0"/>
                </a:moveTo>
                <a:cubicBezTo>
                  <a:pt x="6850380" y="175260"/>
                  <a:pt x="6576060" y="1013460"/>
                  <a:pt x="6355080" y="1051560"/>
                </a:cubicBezTo>
                <a:cubicBezTo>
                  <a:pt x="6134100" y="1089660"/>
                  <a:pt x="5646420" y="403860"/>
                  <a:pt x="5623560" y="228600"/>
                </a:cubicBezTo>
                <a:cubicBezTo>
                  <a:pt x="5600700" y="53340"/>
                  <a:pt x="6080760" y="-83820"/>
                  <a:pt x="6217920" y="0"/>
                </a:cubicBezTo>
                <a:cubicBezTo>
                  <a:pt x="6355080" y="83820"/>
                  <a:pt x="6583680" y="518160"/>
                  <a:pt x="6446520" y="731520"/>
                </a:cubicBezTo>
                <a:cubicBezTo>
                  <a:pt x="6309360" y="944880"/>
                  <a:pt x="5661660" y="1333500"/>
                  <a:pt x="5394960" y="1280160"/>
                </a:cubicBezTo>
                <a:cubicBezTo>
                  <a:pt x="5128260" y="1226820"/>
                  <a:pt x="4838700" y="601980"/>
                  <a:pt x="4846320" y="411480"/>
                </a:cubicBezTo>
                <a:cubicBezTo>
                  <a:pt x="4853940" y="220980"/>
                  <a:pt x="5387340" y="22860"/>
                  <a:pt x="5440680" y="137160"/>
                </a:cubicBezTo>
                <a:cubicBezTo>
                  <a:pt x="5494020" y="251460"/>
                  <a:pt x="5356860" y="960120"/>
                  <a:pt x="5166360" y="1097280"/>
                </a:cubicBezTo>
                <a:cubicBezTo>
                  <a:pt x="4975860" y="1234440"/>
                  <a:pt x="4610100" y="1010412"/>
                  <a:pt x="4297680" y="960120"/>
                </a:cubicBezTo>
                <a:cubicBezTo>
                  <a:pt x="3985260" y="909828"/>
                  <a:pt x="3642360" y="826008"/>
                  <a:pt x="3291840" y="795528"/>
                </a:cubicBezTo>
                <a:cubicBezTo>
                  <a:pt x="2941320" y="765048"/>
                  <a:pt x="2560320" y="780288"/>
                  <a:pt x="2194560" y="777240"/>
                </a:cubicBezTo>
                <a:cubicBezTo>
                  <a:pt x="1828800" y="774192"/>
                  <a:pt x="1463040" y="777240"/>
                  <a:pt x="1097280" y="777240"/>
                </a:cubicBezTo>
                <a:cubicBezTo>
                  <a:pt x="731520" y="777240"/>
                  <a:pt x="182880" y="777240"/>
                  <a:pt x="0" y="777240"/>
                </a:cubicBezTo>
              </a:path>
            </a:pathLst>
          </a:custGeom>
          <a:ln w="44450">
            <a:solidFill>
              <a:srgbClr val="8A183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837176" y="5020056"/>
            <a:ext cx="201168" cy="201168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 — المشكلة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المعاملة تضيع داخل المسار الإداري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463040"/>
            <a:ext cx="5696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endParaRPr lang="ar-SA" sz="1500" dirty="0"/>
          </a:p>
        </p:txBody>
      </p:sp>
      <p:sp>
        <p:nvSpPr>
          <p:cNvPr id="7" name="Shape 4"/>
          <p:cNvSpPr/>
          <p:nvPr/>
        </p:nvSpPr>
        <p:spPr>
          <a:xfrm>
            <a:off x="1691640" y="1783080"/>
            <a:ext cx="6035040" cy="3090672"/>
          </a:xfrm>
          <a:custGeom>
            <a:avLst/>
            <a:gdLst/>
            <a:ahLst/>
            <a:cxnLst/>
            <a:rect l="l" t="t" r="r" b="b"/>
            <a:pathLst>
              <a:path w="6035040" h="3090672">
                <a:moveTo>
                  <a:pt x="6035040" y="0"/>
                </a:moveTo>
                <a:cubicBezTo>
                  <a:pt x="5852160" y="91440"/>
                  <a:pt x="5280660" y="502920"/>
                  <a:pt x="4937760" y="548640"/>
                </a:cubicBezTo>
                <a:cubicBezTo>
                  <a:pt x="4594860" y="594360"/>
                  <a:pt x="4335780" y="342900"/>
                  <a:pt x="3977640" y="274320"/>
                </a:cubicBezTo>
                <a:cubicBezTo>
                  <a:pt x="3619500" y="205740"/>
                  <a:pt x="3230880" y="91440"/>
                  <a:pt x="2788920" y="137160"/>
                </a:cubicBezTo>
                <a:cubicBezTo>
                  <a:pt x="2346960" y="182880"/>
                  <a:pt x="1752600" y="449580"/>
                  <a:pt x="1325880" y="548640"/>
                </a:cubicBezTo>
                <a:cubicBezTo>
                  <a:pt x="899160" y="647700"/>
                  <a:pt x="449580" y="563880"/>
                  <a:pt x="228600" y="731520"/>
                </a:cubicBezTo>
                <a:cubicBezTo>
                  <a:pt x="7620" y="899160"/>
                  <a:pt x="-137160" y="1371600"/>
                  <a:pt x="0" y="1554480"/>
                </a:cubicBezTo>
                <a:cubicBezTo>
                  <a:pt x="137160" y="1737360"/>
                  <a:pt x="640080" y="1821180"/>
                  <a:pt x="1051560" y="1828800"/>
                </a:cubicBezTo>
                <a:cubicBezTo>
                  <a:pt x="1463040" y="1836420"/>
                  <a:pt x="2118360" y="1752600"/>
                  <a:pt x="2468880" y="1600200"/>
                </a:cubicBezTo>
                <a:cubicBezTo>
                  <a:pt x="2819400" y="1447800"/>
                  <a:pt x="2887980" y="906780"/>
                  <a:pt x="3154680" y="914400"/>
                </a:cubicBezTo>
                <a:cubicBezTo>
                  <a:pt x="3421380" y="922020"/>
                  <a:pt x="3703320" y="1508760"/>
                  <a:pt x="4069080" y="1645920"/>
                </a:cubicBezTo>
                <a:cubicBezTo>
                  <a:pt x="4434840" y="1783080"/>
                  <a:pt x="5151120" y="1653540"/>
                  <a:pt x="5349240" y="1737360"/>
                </a:cubicBezTo>
                <a:cubicBezTo>
                  <a:pt x="5547360" y="1821180"/>
                  <a:pt x="5471160" y="2087880"/>
                  <a:pt x="5257800" y="2148840"/>
                </a:cubicBezTo>
                <a:cubicBezTo>
                  <a:pt x="5044440" y="2209800"/>
                  <a:pt x="4358640" y="1996440"/>
                  <a:pt x="4069080" y="2103120"/>
                </a:cubicBezTo>
                <a:cubicBezTo>
                  <a:pt x="3779520" y="2209800"/>
                  <a:pt x="3451860" y="2697480"/>
                  <a:pt x="3520440" y="2788920"/>
                </a:cubicBezTo>
                <a:cubicBezTo>
                  <a:pt x="3589020" y="2880360"/>
                  <a:pt x="4404360" y="2735580"/>
                  <a:pt x="4480560" y="2651760"/>
                </a:cubicBezTo>
                <a:cubicBezTo>
                  <a:pt x="4556760" y="2567940"/>
                  <a:pt x="4259580" y="2331720"/>
                  <a:pt x="3977640" y="2286000"/>
                </a:cubicBezTo>
                <a:cubicBezTo>
                  <a:pt x="3695700" y="2240280"/>
                  <a:pt x="3078480" y="2278380"/>
                  <a:pt x="2788920" y="2377440"/>
                </a:cubicBezTo>
                <a:cubicBezTo>
                  <a:pt x="2499360" y="2476500"/>
                  <a:pt x="2400300" y="2761488"/>
                  <a:pt x="2240280" y="2880360"/>
                </a:cubicBezTo>
                <a:cubicBezTo>
                  <a:pt x="2080260" y="2999232"/>
                  <a:pt x="1897380" y="3055620"/>
                  <a:pt x="1828800" y="3090672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4206240"/>
            <a:ext cx="2103120" cy="914400"/>
          </a:xfrm>
          <a:custGeom>
            <a:avLst/>
            <a:gdLst/>
            <a:ahLst/>
            <a:cxnLst/>
            <a:rect l="l" t="t" r="r" b="b"/>
            <a:pathLst>
              <a:path w="2103120" h="914400">
                <a:moveTo>
                  <a:pt x="2103120" y="777240"/>
                </a:moveTo>
                <a:cubicBezTo>
                  <a:pt x="1996440" y="800100"/>
                  <a:pt x="1645920" y="960120"/>
                  <a:pt x="1463040" y="914400"/>
                </a:cubicBezTo>
                <a:cubicBezTo>
                  <a:pt x="1280160" y="868680"/>
                  <a:pt x="1173480" y="655320"/>
                  <a:pt x="1005840" y="502920"/>
                </a:cubicBezTo>
                <a:cubicBezTo>
                  <a:pt x="838200" y="350520"/>
                  <a:pt x="624840" y="60960"/>
                  <a:pt x="457200" y="0"/>
                </a:cubicBezTo>
                <a:cubicBezTo>
                  <a:pt x="289560" y="-60960"/>
                  <a:pt x="76200" y="114300"/>
                  <a:pt x="0" y="137160"/>
                </a:cubicBezTo>
              </a:path>
            </a:pathLst>
          </a:custGeom>
          <a:ln w="38100">
            <a:solidFill>
              <a:srgbClr val="8A1832"/>
            </a:solidFill>
            <a:prstDash val="sysDash"/>
          </a:ln>
        </p:spPr>
      </p:sp>
      <p:sp>
        <p:nvSpPr>
          <p:cNvPr id="9" name="Shape 6"/>
          <p:cNvSpPr/>
          <p:nvPr/>
        </p:nvSpPr>
        <p:spPr>
          <a:xfrm>
            <a:off x="2990088" y="4700016"/>
            <a:ext cx="420624" cy="420624"/>
          </a:xfrm>
          <a:prstGeom prst="ellipse">
            <a:avLst/>
          </a:prstGeom>
          <a:solidFill>
            <a:srgbClr val="B54242"/>
          </a:solidFill>
          <a:ln w="25400">
            <a:solidFill>
              <a:srgbClr val="FFFDF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48006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600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توقف دون سبب</a:t>
            </a:r>
            <a:endParaRPr lang="ar-SA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92024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23560" y="2807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400" dirty="0"/>
          </a:p>
        </p:txBody>
      </p:sp>
      <p:sp>
        <p:nvSpPr>
          <p:cNvPr id="15" name="Shape 10"/>
          <p:cNvSpPr/>
          <p:nvPr/>
        </p:nvSpPr>
        <p:spPr>
          <a:xfrm>
            <a:off x="2606040" y="192024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2148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11680" y="2807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400" dirty="0"/>
          </a:p>
        </p:txBody>
      </p:sp>
      <p:sp>
        <p:nvSpPr>
          <p:cNvPr id="18" name="Shape 12"/>
          <p:cNvSpPr/>
          <p:nvPr/>
        </p:nvSpPr>
        <p:spPr>
          <a:xfrm>
            <a:off x="4800600" y="416052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3891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206240" y="5047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400" dirty="0"/>
          </a:p>
        </p:txBody>
      </p:sp>
      <p:sp>
        <p:nvSpPr>
          <p:cNvPr id="21" name="Shape 14"/>
          <p:cNvSpPr/>
          <p:nvPr/>
        </p:nvSpPr>
        <p:spPr>
          <a:xfrm>
            <a:off x="1371600" y="429768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452628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77240" y="5184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1400" dirty="0"/>
          </a:p>
        </p:txBody>
      </p:sp>
      <p:sp>
        <p:nvSpPr>
          <p:cNvPr id="24" name="Shape 16"/>
          <p:cNvSpPr/>
          <p:nvPr/>
        </p:nvSpPr>
        <p:spPr>
          <a:xfrm>
            <a:off x="11091672" y="2148840"/>
            <a:ext cx="548640" cy="548640"/>
          </a:xfrm>
          <a:prstGeom prst="ellipse">
            <a:avLst/>
          </a:prstGeom>
          <a:solidFill>
            <a:srgbClr val="8A1832">
              <a:alpha val="12000"/>
            </a:srgbClr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8832" y="228600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77240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تداخل المسؤوليات</a:t>
            </a:r>
            <a:endParaRPr lang="ar-SA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7772400" y="25328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يتضح من يملك المعاملة ومتى يسلّمها.</a:t>
            </a:r>
            <a:endParaRPr lang="ar-SA" sz="1300" dirty="0"/>
          </a:p>
        </p:txBody>
      </p:sp>
      <p:sp>
        <p:nvSpPr>
          <p:cNvPr id="28" name="Shape 19"/>
          <p:cNvSpPr/>
          <p:nvPr/>
        </p:nvSpPr>
        <p:spPr>
          <a:xfrm>
            <a:off x="7772400" y="3172968"/>
            <a:ext cx="3867912" cy="0"/>
          </a:xfrm>
          <a:prstGeom prst="line">
            <a:avLst/>
          </a:prstGeom>
          <a:noFill/>
          <a:ln w="12700">
            <a:solidFill>
              <a:srgbClr val="E4D9CA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11091672" y="3337560"/>
            <a:ext cx="548640" cy="548640"/>
          </a:xfrm>
          <a:prstGeom prst="ellipse">
            <a:avLst/>
          </a:prstGeom>
          <a:solidFill>
            <a:srgbClr val="8A1832">
              <a:alpha val="12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8832" y="347472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772400" y="33192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مسار موحّد</a:t>
            </a:r>
            <a:endParaRPr lang="ar-SA" sz="1700" dirty="0"/>
          </a:p>
        </p:txBody>
      </p:sp>
      <p:sp>
        <p:nvSpPr>
          <p:cNvPr id="32" name="Text 22"/>
          <p:cNvSpPr txBox="1"/>
          <p:nvPr/>
        </p:nvSpPr>
        <p:spPr>
          <a:xfrm>
            <a:off x="7772400" y="3721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الخطوات يعتمد على اجتهاد كل موظف.</a:t>
            </a:r>
            <a:endParaRPr lang="ar-SA" sz="1300" dirty="0"/>
          </a:p>
        </p:txBody>
      </p:sp>
      <p:sp>
        <p:nvSpPr>
          <p:cNvPr id="33" name="Shape 23"/>
          <p:cNvSpPr/>
          <p:nvPr/>
        </p:nvSpPr>
        <p:spPr>
          <a:xfrm>
            <a:off x="7772400" y="4361688"/>
            <a:ext cx="3867912" cy="0"/>
          </a:xfrm>
          <a:prstGeom prst="line">
            <a:avLst/>
          </a:prstGeom>
          <a:noFill/>
          <a:ln w="12700">
            <a:solidFill>
              <a:srgbClr val="E4D9CA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11091672" y="4526280"/>
            <a:ext cx="548640" cy="548640"/>
          </a:xfrm>
          <a:prstGeom prst="ellipse">
            <a:avLst/>
          </a:prstGeom>
          <a:solidFill>
            <a:srgbClr val="8A1832">
              <a:alpha val="12000"/>
            </a:srgbClr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8832" y="466344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772400" y="4507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سجل التأخير والمساءلة</a:t>
            </a:r>
            <a:endParaRPr lang="ar-SA" sz="1700" dirty="0"/>
          </a:p>
        </p:txBody>
      </p:sp>
      <p:sp>
        <p:nvSpPr>
          <p:cNvPr id="37" name="Text 26"/>
          <p:cNvSpPr txBox="1"/>
          <p:nvPr/>
        </p:nvSpPr>
        <p:spPr>
          <a:xfrm>
            <a:off x="7772400" y="4910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التأخير يحدث دون سبب موثّق أو أثر.</a:t>
            </a:r>
            <a:endParaRPr lang="ar-SA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 — إعادة تعريف المشكلة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ضياع المواطن نتيجة لضياع المسار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6459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الظاهر</a:t>
            </a:r>
            <a:endParaRPr lang="ar-SA" sz="1300" dirty="0"/>
          </a:p>
        </p:txBody>
      </p:sp>
      <p:sp>
        <p:nvSpPr>
          <p:cNvPr id="7" name="Shape 4"/>
          <p:cNvSpPr/>
          <p:nvPr/>
        </p:nvSpPr>
        <p:spPr>
          <a:xfrm>
            <a:off x="6720840" y="1965960"/>
            <a:ext cx="4919472" cy="7315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2185416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965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«أين وصلت معاملتي؟»</a:t>
            </a:r>
            <a:endParaRPr lang="ar-SA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يراه المواطن</a:t>
            </a:r>
            <a:endParaRPr lang="ar-SA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971800"/>
            <a:ext cx="11384280" cy="228600"/>
          </a:xfrm>
          <a:custGeom>
            <a:avLst/>
            <a:gdLst/>
            <a:ahLst/>
            <a:cxnLst/>
            <a:rect l="l" t="t" r="r" b="b"/>
            <a:pathLst>
              <a:path w="11384280" h="228600">
                <a:moveTo>
                  <a:pt x="11384280" y="137160"/>
                </a:moveTo>
                <a:cubicBezTo>
                  <a:pt x="11018520" y="114300"/>
                  <a:pt x="9936480" y="-15240"/>
                  <a:pt x="9189720" y="0"/>
                </a:cubicBezTo>
                <a:cubicBezTo>
                  <a:pt x="8442960" y="15240"/>
                  <a:pt x="7665720" y="220980"/>
                  <a:pt x="6903720" y="228600"/>
                </a:cubicBezTo>
                <a:cubicBezTo>
                  <a:pt x="6141720" y="236220"/>
                  <a:pt x="5379720" y="45720"/>
                  <a:pt x="4617720" y="45720"/>
                </a:cubicBezTo>
                <a:cubicBezTo>
                  <a:pt x="3855720" y="45720"/>
                  <a:pt x="3101340" y="220980"/>
                  <a:pt x="2331720" y="228600"/>
                </a:cubicBezTo>
                <a:cubicBezTo>
                  <a:pt x="1562100" y="236220"/>
                  <a:pt x="388620" y="114300"/>
                  <a:pt x="0" y="91440"/>
                </a:cubicBezTo>
              </a:path>
            </a:pathLst>
          </a:custGeom>
          <a:ln w="31750">
            <a:solidFill>
              <a:srgbClr val="CBB9A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يحدث داخل البلدية</a:t>
            </a:r>
            <a:endParaRPr lang="ar-SA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11091672" cy="1920240"/>
          </a:xfrm>
          <a:prstGeom prst="roundRect">
            <a:avLst>
              <a:gd name="adj" fmla="val 8571"/>
            </a:avLst>
          </a:prstGeom>
          <a:solidFill>
            <a:srgbClr val="56132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2918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الأساسي</a:t>
            </a:r>
            <a:endParaRPr lang="ar-SA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4251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3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«كيف تتحرك المعاملة داخل البلدية؟»</a:t>
            </a:r>
            <a:endParaRPr lang="ar-SA" sz="3300" dirty="0"/>
          </a:p>
        </p:txBody>
      </p:sp>
      <p:sp>
        <p:nvSpPr>
          <p:cNvPr id="16" name="Shape 12"/>
          <p:cNvSpPr/>
          <p:nvPr/>
        </p:nvSpPr>
        <p:spPr>
          <a:xfrm>
            <a:off x="868680" y="4754880"/>
            <a:ext cx="2103120" cy="18288"/>
          </a:xfrm>
          <a:custGeom>
            <a:avLst/>
            <a:gdLst/>
            <a:ahLst/>
            <a:cxnLst/>
            <a:rect l="l" t="t" r="r" b="b"/>
            <a:pathLst>
              <a:path w="2103120" h="18288">
                <a:moveTo>
                  <a:pt x="2103120" y="0"/>
                </a:moveTo>
                <a:cubicBezTo>
                  <a:pt x="1752600" y="0"/>
                  <a:pt x="350520" y="0"/>
                  <a:pt x="0" y="0"/>
                </a:cubicBezTo>
              </a:path>
            </a:pathLst>
          </a:custGeom>
          <a:ln w="38100">
            <a:solidFill>
              <a:srgbClr val="CBB9A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0" y="461772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CBB9A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011680" y="461772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CBB9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63040" y="461772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CBB9A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4617720"/>
            <a:ext cx="274320" cy="274320"/>
          </a:xfrm>
          <a:prstGeom prst="ellipse">
            <a:avLst/>
          </a:prstGeom>
          <a:solidFill>
            <a:srgbClr val="59613A"/>
          </a:solidFill>
          <a:ln w="19050">
            <a:solidFill>
              <a:srgbClr val="CBB9A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3696" y="590702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72000" y="5870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9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المواطن دليل على أن النظام الداخلي يعمل</a:t>
            </a:r>
            <a:endParaRPr lang="ar-SA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 — الحل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موحّد لكل معاملة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788920"/>
            <a:ext cx="11750040" cy="502920"/>
          </a:xfrm>
          <a:custGeom>
            <a:avLst/>
            <a:gdLst/>
            <a:ahLst/>
            <a:cxnLst/>
            <a:rect l="l" t="t" r="r" b="b"/>
            <a:pathLst>
              <a:path w="11750040" h="502920">
                <a:moveTo>
                  <a:pt x="11750040" y="0"/>
                </a:moveTo>
                <a:cubicBezTo>
                  <a:pt x="11681460" y="68580"/>
                  <a:pt x="11475720" y="396240"/>
                  <a:pt x="11338560" y="411480"/>
                </a:cubicBezTo>
                <a:cubicBezTo>
                  <a:pt x="11201400" y="426720"/>
                  <a:pt x="11049000" y="83820"/>
                  <a:pt x="10927080" y="91440"/>
                </a:cubicBezTo>
                <a:cubicBezTo>
                  <a:pt x="10805160" y="99060"/>
                  <a:pt x="10751820" y="388620"/>
                  <a:pt x="10607040" y="457200"/>
                </a:cubicBezTo>
                <a:cubicBezTo>
                  <a:pt x="10462260" y="525780"/>
                  <a:pt x="10683240" y="495300"/>
                  <a:pt x="10058400" y="502920"/>
                </a:cubicBezTo>
                <a:cubicBezTo>
                  <a:pt x="9433560" y="510540"/>
                  <a:pt x="8001000" y="502920"/>
                  <a:pt x="6858000" y="502920"/>
                </a:cubicBezTo>
                <a:cubicBezTo>
                  <a:pt x="5715000" y="502920"/>
                  <a:pt x="4343400" y="502920"/>
                  <a:pt x="3200400" y="502920"/>
                </a:cubicBezTo>
                <a:cubicBezTo>
                  <a:pt x="2057400" y="502920"/>
                  <a:pt x="533400" y="502920"/>
                  <a:pt x="0" y="502920"/>
                </a:cubicBezTo>
              </a:path>
            </a:pathLst>
          </a:custGeom>
          <a:ln w="44450">
            <a:solidFill>
              <a:srgbClr val="8A18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</a:t>
            </a:r>
            <a:endParaRPr lang="ar-SA" sz="2200" dirty="0"/>
          </a:p>
        </p:txBody>
      </p:sp>
      <p:sp>
        <p:nvSpPr>
          <p:cNvPr id="8" name="Shape 5"/>
          <p:cNvSpPr/>
          <p:nvPr/>
        </p:nvSpPr>
        <p:spPr>
          <a:xfrm>
            <a:off x="918972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30906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8504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الخطوات مسبقًا</a:t>
            </a:r>
            <a:endParaRPr lang="ar-SA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54964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نوع معاملة مسار معتمد بخطوات محددة.</a:t>
            </a:r>
            <a:endParaRPr lang="ar-SA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</a:t>
            </a:r>
            <a:endParaRPr lang="ar-SA" sz="2200" dirty="0"/>
          </a:p>
        </p:txBody>
      </p:sp>
      <p:sp>
        <p:nvSpPr>
          <p:cNvPr id="13" name="Shape 9"/>
          <p:cNvSpPr/>
          <p:nvPr/>
        </p:nvSpPr>
        <p:spPr>
          <a:xfrm>
            <a:off x="662940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09067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2472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المسؤول</a:t>
            </a:r>
            <a:endParaRPr lang="ar-SA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98932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مرتبطة بدائرة وموظف محدد.</a:t>
            </a:r>
            <a:endParaRPr lang="ar-SA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ar-SA" sz="2200" dirty="0"/>
          </a:p>
        </p:txBody>
      </p:sp>
      <p:sp>
        <p:nvSpPr>
          <p:cNvPr id="18" name="Shape 13"/>
          <p:cNvSpPr/>
          <p:nvPr/>
        </p:nvSpPr>
        <p:spPr>
          <a:xfrm>
            <a:off x="406908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309067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26440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التوقف</a:t>
            </a:r>
            <a:endParaRPr lang="ar-SA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342900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 ووقته يُسجّلان إلزاميًا.</a:t>
            </a:r>
            <a:endParaRPr lang="ar-SA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</a:t>
            </a:r>
            <a:endParaRPr lang="ar-SA" sz="2200" dirty="0"/>
          </a:p>
        </p:txBody>
      </p:sp>
      <p:sp>
        <p:nvSpPr>
          <p:cNvPr id="23" name="Shape 17"/>
          <p:cNvSpPr/>
          <p:nvPr/>
        </p:nvSpPr>
        <p:spPr>
          <a:xfrm>
            <a:off x="150876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4792" y="3090672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تصعيد تلقائي</a:t>
            </a:r>
            <a:endParaRPr lang="ar-SA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86868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التأخير يصل إلى المدير دون انتظار شكوى.</a:t>
            </a:r>
            <a:endParaRPr lang="ar-SA" sz="1300" dirty="0"/>
          </a:p>
        </p:txBody>
      </p:sp>
      <p:sp>
        <p:nvSpPr>
          <p:cNvPr id="27" name="Shape 20"/>
          <p:cNvSpPr/>
          <p:nvPr/>
        </p:nvSpPr>
        <p:spPr>
          <a:xfrm>
            <a:off x="3566160" y="5532120"/>
            <a:ext cx="5056632" cy="566928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566160" y="5532120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الخيط هو المسار الإجرائي نفسه</a:t>
            </a:r>
            <a:endParaRPr lang="ar-S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 — رحلة المعاملة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رخصة بناء داخل البلدية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230868" y="2057400"/>
            <a:ext cx="1650492" cy="18288"/>
          </a:xfrm>
          <a:custGeom>
            <a:avLst/>
            <a:gdLst/>
            <a:ahLst/>
            <a:cxnLst/>
            <a:rect l="l" t="t" r="r" b="b"/>
            <a:pathLst>
              <a:path w="1650492" h="18288">
                <a:moveTo>
                  <a:pt x="1650492" y="0"/>
                </a:moveTo>
                <a:cubicBezTo>
                  <a:pt x="1375410" y="0"/>
                  <a:pt x="275082" y="0"/>
                  <a:pt x="0" y="0"/>
                </a:cubicBezTo>
              </a:path>
            </a:pathLst>
          </a:custGeom>
          <a:ln w="44450">
            <a:solidFill>
              <a:srgbClr val="5961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01484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5961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72100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5961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42716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C96E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13332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CBB9A5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02920" y="2057400"/>
            <a:ext cx="1010412" cy="18288"/>
          </a:xfrm>
          <a:custGeom>
            <a:avLst/>
            <a:gdLst/>
            <a:ahLst/>
            <a:cxnLst/>
            <a:rect l="l" t="t" r="r" b="b"/>
            <a:pathLst>
              <a:path w="1010412" h="18288">
                <a:moveTo>
                  <a:pt x="1010412" y="0"/>
                </a:moveTo>
                <a:cubicBezTo>
                  <a:pt x="842010" y="0"/>
                  <a:pt x="168402" y="0"/>
                  <a:pt x="0" y="0"/>
                </a:cubicBezTo>
              </a:path>
            </a:pathLst>
          </a:custGeom>
          <a:ln w="44450">
            <a:solidFill>
              <a:srgbClr val="CBB9A5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10332720" y="361188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المسؤول</a:t>
            </a:r>
            <a:endParaRPr lang="ar-SA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404164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الاستلام</a:t>
            </a:r>
            <a:endParaRPr lang="ar-SA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447141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التسليم</a:t>
            </a:r>
            <a:endParaRPr lang="ar-SA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49011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</a:t>
            </a:r>
            <a:endParaRPr lang="ar-SA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53309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</a:t>
            </a:r>
            <a:endParaRPr lang="ar-SA" sz="1150" dirty="0"/>
          </a:p>
        </p:txBody>
      </p:sp>
      <p:sp>
        <p:nvSpPr>
          <p:cNvPr id="17" name="Shape 14"/>
          <p:cNvSpPr/>
          <p:nvPr/>
        </p:nvSpPr>
        <p:spPr>
          <a:xfrm>
            <a:off x="8947404" y="1773936"/>
            <a:ext cx="566928" cy="566928"/>
          </a:xfrm>
          <a:prstGeom prst="ellipse">
            <a:avLst/>
          </a:prstGeom>
          <a:solidFill>
            <a:srgbClr val="59613A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4740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16468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الطلب</a:t>
            </a:r>
            <a:endParaRPr lang="ar-SA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16468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250" dirty="0"/>
          </a:p>
        </p:txBody>
      </p:sp>
      <p:sp>
        <p:nvSpPr>
          <p:cNvPr id="21" name="Shape 18"/>
          <p:cNvSpPr/>
          <p:nvPr/>
        </p:nvSpPr>
        <p:spPr>
          <a:xfrm>
            <a:off x="8343900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07908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موظفة الاستقبال</a:t>
            </a:r>
            <a:endParaRPr lang="ar-SA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407908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407908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09:40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773668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9613A">
              <a:alpha val="16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773668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407908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28" name="Shape 25"/>
          <p:cNvSpPr/>
          <p:nvPr/>
        </p:nvSpPr>
        <p:spPr>
          <a:xfrm>
            <a:off x="7018020" y="1773936"/>
            <a:ext cx="566928" cy="566928"/>
          </a:xfrm>
          <a:prstGeom prst="ellipse">
            <a:avLst/>
          </a:prstGeom>
          <a:solidFill>
            <a:srgbClr val="59613A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018020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87084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 الفنية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87084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250" dirty="0"/>
          </a:p>
        </p:txBody>
      </p:sp>
      <p:sp>
        <p:nvSpPr>
          <p:cNvPr id="32" name="Shape 29"/>
          <p:cNvSpPr/>
          <p:nvPr/>
        </p:nvSpPr>
        <p:spPr>
          <a:xfrm>
            <a:off x="6414516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78524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المهندس المراجع</a:t>
            </a:r>
            <a:endParaRPr lang="ar-SA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6478524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09:40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478524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12:15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844284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9613A">
              <a:alpha val="1600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44284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478524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39" name="Shape 36"/>
          <p:cNvSpPr/>
          <p:nvPr/>
        </p:nvSpPr>
        <p:spPr>
          <a:xfrm>
            <a:off x="5088636" y="1773936"/>
            <a:ext cx="566928" cy="566928"/>
          </a:xfrm>
          <a:prstGeom prst="ellipse">
            <a:avLst/>
          </a:prstGeom>
          <a:solidFill>
            <a:srgbClr val="C96E3B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88636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45770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الرسوم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45770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250" dirty="0"/>
          </a:p>
        </p:txBody>
      </p:sp>
      <p:sp>
        <p:nvSpPr>
          <p:cNvPr id="43" name="Shape 40"/>
          <p:cNvSpPr/>
          <p:nvPr/>
        </p:nvSpPr>
        <p:spPr>
          <a:xfrm>
            <a:off x="4485132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9050">
            <a:solidFill>
              <a:srgbClr val="C96E3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4914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مدقق الرسوم</a:t>
            </a:r>
            <a:endParaRPr lang="ar-SA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549140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12:20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4549140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47" name="Shape 44"/>
          <p:cNvSpPr/>
          <p:nvPr/>
        </p:nvSpPr>
        <p:spPr>
          <a:xfrm>
            <a:off x="4914900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96E3B">
              <a:alpha val="16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914900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متأخرة</a:t>
            </a:r>
            <a:endParaRPr lang="ar-SA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4549140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إيصال الرسوم</a:t>
            </a:r>
            <a:endParaRPr lang="ar-SA" sz="1050" dirty="0"/>
          </a:p>
        </p:txBody>
      </p:sp>
      <p:sp>
        <p:nvSpPr>
          <p:cNvPr id="50" name="Shape 47"/>
          <p:cNvSpPr/>
          <p:nvPr/>
        </p:nvSpPr>
        <p:spPr>
          <a:xfrm>
            <a:off x="3159252" y="1773936"/>
            <a:ext cx="566928" cy="566928"/>
          </a:xfrm>
          <a:prstGeom prst="ellipse">
            <a:avLst/>
          </a:prstGeom>
          <a:solidFill>
            <a:srgbClr val="CBB9A5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159252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2528316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النهائي</a:t>
            </a:r>
            <a:endParaRPr lang="ar-SA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2528316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1250" dirty="0"/>
          </a:p>
        </p:txBody>
      </p:sp>
      <p:sp>
        <p:nvSpPr>
          <p:cNvPr id="54" name="Shape 51"/>
          <p:cNvSpPr/>
          <p:nvPr/>
        </p:nvSpPr>
        <p:spPr>
          <a:xfrm>
            <a:off x="2555748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619756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البلدية</a:t>
            </a:r>
            <a:endParaRPr lang="ar-SA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2619756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2619756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58" name="Shape 55"/>
          <p:cNvSpPr/>
          <p:nvPr/>
        </p:nvSpPr>
        <p:spPr>
          <a:xfrm>
            <a:off x="2985516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B6259">
              <a:alpha val="16000"/>
            </a:srgbClr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2985516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بالانتظار</a:t>
            </a:r>
            <a:endParaRPr lang="ar-SA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2619756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61" name="Shape 58"/>
          <p:cNvSpPr/>
          <p:nvPr/>
        </p:nvSpPr>
        <p:spPr>
          <a:xfrm>
            <a:off x="1229868" y="1773936"/>
            <a:ext cx="566928" cy="566928"/>
          </a:xfrm>
          <a:prstGeom prst="ellipse">
            <a:avLst/>
          </a:prstGeom>
          <a:solidFill>
            <a:srgbClr val="CBB9A5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229868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598932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</a:t>
            </a:r>
            <a:endParaRPr lang="ar-SA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598932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</a:t>
            </a:r>
            <a:endParaRPr lang="ar-SA" sz="1250" dirty="0"/>
          </a:p>
        </p:txBody>
      </p:sp>
      <p:sp>
        <p:nvSpPr>
          <p:cNvPr id="65" name="Shape 62"/>
          <p:cNvSpPr/>
          <p:nvPr/>
        </p:nvSpPr>
        <p:spPr>
          <a:xfrm>
            <a:off x="626364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90372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</a:t>
            </a:r>
            <a:endParaRPr lang="ar-SA" sz="1150" dirty="0"/>
          </a:p>
        </p:txBody>
      </p:sp>
      <p:sp>
        <p:nvSpPr>
          <p:cNvPr id="67" name="Text 64"/>
          <p:cNvSpPr txBox="1"/>
          <p:nvPr/>
        </p:nvSpPr>
        <p:spPr>
          <a:xfrm>
            <a:off x="690372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690372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69" name="Shape 66"/>
          <p:cNvSpPr/>
          <p:nvPr/>
        </p:nvSpPr>
        <p:spPr>
          <a:xfrm>
            <a:off x="1056132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B6259">
              <a:alpha val="16000"/>
            </a:srgbClr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1056132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بالانتظار</a:t>
            </a:r>
            <a:endParaRPr lang="ar-SA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690372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72" name="Shape 69"/>
          <p:cNvSpPr/>
          <p:nvPr/>
        </p:nvSpPr>
        <p:spPr>
          <a:xfrm>
            <a:off x="11494008" y="6053328"/>
            <a:ext cx="146304" cy="14630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0757916" y="59893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1100" dirty="0"/>
          </a:p>
        </p:txBody>
      </p:sp>
      <p:sp>
        <p:nvSpPr>
          <p:cNvPr id="74" name="Shape 71"/>
          <p:cNvSpPr/>
          <p:nvPr/>
        </p:nvSpPr>
        <p:spPr>
          <a:xfrm>
            <a:off x="10328148" y="6053328"/>
            <a:ext cx="146304" cy="146304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9514332" y="598932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متأخرة</a:t>
            </a:r>
            <a:endParaRPr lang="ar-SA" sz="1100" dirty="0"/>
          </a:p>
        </p:txBody>
      </p:sp>
      <p:sp>
        <p:nvSpPr>
          <p:cNvPr id="76" name="Shape 73"/>
          <p:cNvSpPr/>
          <p:nvPr/>
        </p:nvSpPr>
        <p:spPr>
          <a:xfrm>
            <a:off x="9084564" y="6053328"/>
            <a:ext cx="146304" cy="146304"/>
          </a:xfrm>
          <a:prstGeom prst="ellipse">
            <a:avLst/>
          </a:prstGeom>
          <a:solidFill>
            <a:srgbClr val="B54242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7415784" y="598932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متوقفة أو متجاوزة</a:t>
            </a:r>
            <a:endParaRPr lang="ar-SA" sz="1100" dirty="0"/>
          </a:p>
        </p:txBody>
      </p:sp>
      <p:sp>
        <p:nvSpPr>
          <p:cNvPr id="78" name="Shape 75"/>
          <p:cNvSpPr/>
          <p:nvPr/>
        </p:nvSpPr>
        <p:spPr>
          <a:xfrm>
            <a:off x="6986016" y="6053328"/>
            <a:ext cx="146304" cy="14630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5939028" y="598932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بالانتظار</a:t>
            </a:r>
            <a:endParaRPr lang="ar-SA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182880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الأسماء والأوقات توضيحية</a:t>
            </a:r>
            <a:endParaRPr lang="ar-SA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٠٥ — الرحلة المتزامنة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واحدة، رؤية متزامنة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6264" y="1581912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69680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جهة المواطن</a:t>
            </a:r>
            <a:endParaRPr lang="ar-SA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1581912"/>
            <a:ext cx="256032" cy="256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1572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جهة الموظف والبلدية</a:t>
            </a:r>
            <a:endParaRPr lang="ar-SA" sz="1500" dirty="0"/>
          </a:p>
        </p:txBody>
      </p:sp>
      <p:sp>
        <p:nvSpPr>
          <p:cNvPr id="10" name="Shape 5"/>
          <p:cNvSpPr/>
          <p:nvPr/>
        </p:nvSpPr>
        <p:spPr>
          <a:xfrm>
            <a:off x="8915400" y="1965960"/>
            <a:ext cx="2724912" cy="3703320"/>
          </a:xfrm>
          <a:prstGeom prst="roundRect">
            <a:avLst>
              <a:gd name="adj" fmla="val 10067"/>
            </a:avLst>
          </a:prstGeom>
          <a:solidFill>
            <a:srgbClr val="FFFDF8"/>
          </a:solidFill>
          <a:ln w="28575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9098280" y="20848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معاملاتي · رخصة بناء</a:t>
            </a:r>
            <a:endParaRPr lang="ar-SA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DF8"/>
          </a:solidFill>
          <a:ln w="19050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66928" y="1984248"/>
            <a:ext cx="3483864" cy="310896"/>
          </a:xfrm>
          <a:prstGeom prst="rect">
            <a:avLst/>
          </a:prstGeom>
          <a:solidFill>
            <a:srgbClr val="F1E8DA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208483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5" name="Shape 10"/>
          <p:cNvSpPr/>
          <p:nvPr/>
        </p:nvSpPr>
        <p:spPr>
          <a:xfrm>
            <a:off x="896112" y="208483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6" name="Shape 11"/>
          <p:cNvSpPr/>
          <p:nvPr/>
        </p:nvSpPr>
        <p:spPr>
          <a:xfrm>
            <a:off x="1060704" y="208483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828800" y="1984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البلدية</a:t>
            </a:r>
            <a:endParaRPr lang="ar-SA" sz="1100" dirty="0"/>
          </a:p>
        </p:txBody>
      </p:sp>
      <p:sp>
        <p:nvSpPr>
          <p:cNvPr id="18" name="Shape 13"/>
          <p:cNvSpPr/>
          <p:nvPr/>
        </p:nvSpPr>
        <p:spPr>
          <a:xfrm>
            <a:off x="3931920" y="2715768"/>
            <a:ext cx="5120640" cy="146304"/>
          </a:xfrm>
          <a:custGeom>
            <a:avLst/>
            <a:gdLst/>
            <a:ahLst/>
            <a:cxnLst/>
            <a:rect l="l" t="t" r="r" b="b"/>
            <a:pathLst>
              <a:path w="5120640" h="146304">
                <a:moveTo>
                  <a:pt x="5120640" y="73152"/>
                </a:moveTo>
                <a:cubicBezTo>
                  <a:pt x="4892040" y="60960"/>
                  <a:pt x="4198620" y="0"/>
                  <a:pt x="3749040" y="0"/>
                </a:cubicBezTo>
                <a:cubicBezTo>
                  <a:pt x="3299460" y="0"/>
                  <a:pt x="2865120" y="48768"/>
                  <a:pt x="2423160" y="73152"/>
                </a:cubicBezTo>
                <a:cubicBezTo>
                  <a:pt x="1981200" y="97536"/>
                  <a:pt x="1501140" y="146304"/>
                  <a:pt x="1097280" y="146304"/>
                </a:cubicBezTo>
                <a:cubicBezTo>
                  <a:pt x="693420" y="146304"/>
                  <a:pt x="182880" y="85344"/>
                  <a:pt x="0" y="73152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44768" y="2578608"/>
            <a:ext cx="420624" cy="42062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144768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2240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المواطن يقدّم الطلب</a:t>
            </a:r>
            <a:endParaRPr lang="ar-SA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434340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فورًا لدى الموظف المسؤول</a:t>
            </a:r>
            <a:endParaRPr lang="ar-SA" sz="1200" dirty="0"/>
          </a:p>
        </p:txBody>
      </p:sp>
      <p:sp>
        <p:nvSpPr>
          <p:cNvPr id="23" name="Shape 18"/>
          <p:cNvSpPr/>
          <p:nvPr/>
        </p:nvSpPr>
        <p:spPr>
          <a:xfrm>
            <a:off x="9070848" y="2423160"/>
            <a:ext cx="2414016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A183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247120" y="2596896"/>
            <a:ext cx="128016" cy="128016"/>
          </a:xfrm>
          <a:prstGeom prst="ellipse">
            <a:avLst/>
          </a:prstGeom>
          <a:solidFill>
            <a:srgbClr val="8A183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162288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استلام طلبك</a:t>
            </a:r>
            <a:endParaRPr lang="ar-SA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9162288" y="280720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لدى: خدمات الجمهور</a:t>
            </a:r>
            <a:endParaRPr lang="ar-SA" sz="1050" dirty="0"/>
          </a:p>
        </p:txBody>
      </p:sp>
      <p:sp>
        <p:nvSpPr>
          <p:cNvPr id="27" name="Shape 22"/>
          <p:cNvSpPr/>
          <p:nvPr/>
        </p:nvSpPr>
        <p:spPr>
          <a:xfrm>
            <a:off x="704088" y="2423160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183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75888" y="2596896"/>
            <a:ext cx="128016" cy="128016"/>
          </a:xfrm>
          <a:prstGeom prst="ellipse">
            <a:avLst/>
          </a:prstGeom>
          <a:solidFill>
            <a:srgbClr val="8A183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22960" y="25146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جديد في قائمتك</a:t>
            </a:r>
            <a:endParaRPr lang="ar-SA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22960" y="28072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· خدمات الجمهور</a:t>
            </a:r>
            <a:endParaRPr lang="ar-SA" sz="1050" dirty="0"/>
          </a:p>
        </p:txBody>
      </p:sp>
      <p:sp>
        <p:nvSpPr>
          <p:cNvPr id="31" name="Shape 26"/>
          <p:cNvSpPr/>
          <p:nvPr/>
        </p:nvSpPr>
        <p:spPr>
          <a:xfrm>
            <a:off x="3931920" y="3904488"/>
            <a:ext cx="5120640" cy="146304"/>
          </a:xfrm>
          <a:custGeom>
            <a:avLst/>
            <a:gdLst/>
            <a:ahLst/>
            <a:cxnLst/>
            <a:rect l="l" t="t" r="r" b="b"/>
            <a:pathLst>
              <a:path w="5120640" h="146304">
                <a:moveTo>
                  <a:pt x="5120640" y="73152"/>
                </a:moveTo>
                <a:cubicBezTo>
                  <a:pt x="4892040" y="60960"/>
                  <a:pt x="4198620" y="0"/>
                  <a:pt x="3749040" y="0"/>
                </a:cubicBezTo>
                <a:cubicBezTo>
                  <a:pt x="3299460" y="0"/>
                  <a:pt x="2865120" y="48768"/>
                  <a:pt x="2423160" y="73152"/>
                </a:cubicBezTo>
                <a:cubicBezTo>
                  <a:pt x="1981200" y="97536"/>
                  <a:pt x="1501140" y="146304"/>
                  <a:pt x="1097280" y="146304"/>
                </a:cubicBezTo>
                <a:cubicBezTo>
                  <a:pt x="693420" y="146304"/>
                  <a:pt x="182880" y="85344"/>
                  <a:pt x="0" y="73152"/>
                </a:cubicBezTo>
              </a:path>
            </a:pathLst>
          </a:custGeom>
          <a:ln w="38100">
            <a:solidFill>
              <a:srgbClr val="C96E3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144768" y="3767328"/>
            <a:ext cx="420624" cy="420624"/>
          </a:xfrm>
          <a:prstGeom prst="ellipse">
            <a:avLst/>
          </a:prstGeom>
          <a:solidFill>
            <a:srgbClr val="C96E3B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144768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434340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يسجّل وثيقة ناقصة</a:t>
            </a:r>
            <a:endParaRPr lang="ar-SA" sz="1450" dirty="0"/>
          </a:p>
        </p:txBody>
      </p:sp>
      <p:sp>
        <p:nvSpPr>
          <p:cNvPr id="35" name="Text 30"/>
          <p:cNvSpPr txBox="1"/>
          <p:nvPr/>
        </p:nvSpPr>
        <p:spPr>
          <a:xfrm>
            <a:off x="4343400" y="4233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السبب للمواطن</a:t>
            </a:r>
            <a:endParaRPr lang="ar-SA" sz="1200" dirty="0"/>
          </a:p>
        </p:txBody>
      </p:sp>
      <p:sp>
        <p:nvSpPr>
          <p:cNvPr id="36" name="Shape 31"/>
          <p:cNvSpPr/>
          <p:nvPr/>
        </p:nvSpPr>
        <p:spPr>
          <a:xfrm>
            <a:off x="9070848" y="3611880"/>
            <a:ext cx="2414016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96E3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247120" y="3785616"/>
            <a:ext cx="128016" cy="128016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9162288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وثيقة</a:t>
            </a:r>
            <a:endParaRPr lang="ar-SA" sz="1250" dirty="0"/>
          </a:p>
        </p:txBody>
      </p:sp>
      <p:sp>
        <p:nvSpPr>
          <p:cNvPr id="39" name="Text 34"/>
          <p:cNvSpPr txBox="1"/>
          <p:nvPr/>
        </p:nvSpPr>
        <p:spPr>
          <a:xfrm>
            <a:off x="9162288" y="39959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السبب: مخطط الموقع غير مرفق</a:t>
            </a:r>
            <a:endParaRPr lang="ar-SA" sz="1050" dirty="0"/>
          </a:p>
        </p:txBody>
      </p:sp>
      <p:sp>
        <p:nvSpPr>
          <p:cNvPr id="40" name="Shape 35"/>
          <p:cNvSpPr/>
          <p:nvPr/>
        </p:nvSpPr>
        <p:spPr>
          <a:xfrm>
            <a:off x="704088" y="3611880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6E3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675888" y="3785616"/>
            <a:ext cx="128016" cy="128016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22960" y="370332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نقص: مخطط الموقع</a:t>
            </a:r>
            <a:endParaRPr lang="ar-SA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822960" y="399592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 · السبب إلزامي</a:t>
            </a:r>
            <a:endParaRPr lang="ar-SA" sz="1050" dirty="0"/>
          </a:p>
        </p:txBody>
      </p:sp>
      <p:sp>
        <p:nvSpPr>
          <p:cNvPr id="44" name="Shape 39"/>
          <p:cNvSpPr/>
          <p:nvPr/>
        </p:nvSpPr>
        <p:spPr>
          <a:xfrm>
            <a:off x="3931920" y="5093208"/>
            <a:ext cx="5120640" cy="146304"/>
          </a:xfrm>
          <a:custGeom>
            <a:avLst/>
            <a:gdLst/>
            <a:ahLst/>
            <a:cxnLst/>
            <a:rect l="l" t="t" r="r" b="b"/>
            <a:pathLst>
              <a:path w="5120640" h="146304">
                <a:moveTo>
                  <a:pt x="5120640" y="73152"/>
                </a:moveTo>
                <a:cubicBezTo>
                  <a:pt x="4892040" y="60960"/>
                  <a:pt x="4198620" y="0"/>
                  <a:pt x="3749040" y="0"/>
                </a:cubicBezTo>
                <a:cubicBezTo>
                  <a:pt x="3299460" y="0"/>
                  <a:pt x="2865120" y="48768"/>
                  <a:pt x="2423160" y="73152"/>
                </a:cubicBezTo>
                <a:cubicBezTo>
                  <a:pt x="1981200" y="97536"/>
                  <a:pt x="1501140" y="146304"/>
                  <a:pt x="1097280" y="146304"/>
                </a:cubicBezTo>
                <a:cubicBezTo>
                  <a:pt x="693420" y="146304"/>
                  <a:pt x="182880" y="85344"/>
                  <a:pt x="0" y="73152"/>
                </a:cubicBezTo>
              </a:path>
            </a:pathLst>
          </a:custGeom>
          <a:ln w="38100">
            <a:solidFill>
              <a:srgbClr val="B5424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144768" y="4956048"/>
            <a:ext cx="420624" cy="420624"/>
          </a:xfrm>
          <a:prstGeom prst="ellipse">
            <a:avLst/>
          </a:prstGeom>
          <a:solidFill>
            <a:srgbClr val="B5424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144768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4343400" y="4617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المعاملة تتجاوز المدة</a:t>
            </a:r>
            <a:endParaRPr lang="ar-SA" sz="1450" dirty="0"/>
          </a:p>
        </p:txBody>
      </p:sp>
      <p:sp>
        <p:nvSpPr>
          <p:cNvPr id="48" name="Text 43"/>
          <p:cNvSpPr txBox="1"/>
          <p:nvPr/>
        </p:nvSpPr>
        <p:spPr>
          <a:xfrm>
            <a:off x="4343400" y="5422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تلقائي للمدير وتتغير الحالة عند المواطن</a:t>
            </a:r>
            <a:endParaRPr lang="ar-SA" sz="1200" dirty="0"/>
          </a:p>
        </p:txBody>
      </p:sp>
      <p:sp>
        <p:nvSpPr>
          <p:cNvPr id="49" name="Shape 44"/>
          <p:cNvSpPr/>
          <p:nvPr/>
        </p:nvSpPr>
        <p:spPr>
          <a:xfrm>
            <a:off x="9070848" y="4800600"/>
            <a:ext cx="2414016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B54242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1247120" y="4974336"/>
            <a:ext cx="128016" cy="128016"/>
          </a:xfrm>
          <a:prstGeom prst="ellipse">
            <a:avLst/>
          </a:prstGeom>
          <a:solidFill>
            <a:srgbClr val="B54242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9162288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تصعيد معاملتك</a:t>
            </a:r>
            <a:endParaRPr lang="ar-SA" sz="1250" dirty="0"/>
          </a:p>
        </p:txBody>
      </p:sp>
      <p:sp>
        <p:nvSpPr>
          <p:cNvPr id="52" name="Text 47"/>
          <p:cNvSpPr txBox="1"/>
          <p:nvPr/>
        </p:nvSpPr>
        <p:spPr>
          <a:xfrm>
            <a:off x="9162288" y="518464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الحالة: قيد متابعة الإدارة</a:t>
            </a:r>
            <a:endParaRPr lang="ar-SA" sz="1050" dirty="0"/>
          </a:p>
        </p:txBody>
      </p:sp>
      <p:sp>
        <p:nvSpPr>
          <p:cNvPr id="53" name="Shape 48"/>
          <p:cNvSpPr/>
          <p:nvPr/>
        </p:nvSpPr>
        <p:spPr>
          <a:xfrm>
            <a:off x="704088" y="4800600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54242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675888" y="4974336"/>
            <a:ext cx="128016" cy="128016"/>
          </a:xfrm>
          <a:prstGeom prst="ellipse">
            <a:avLst/>
          </a:prstGeom>
          <a:solidFill>
            <a:srgbClr val="B54242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822960" y="48920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للمدير: تجاوز المدة</a:t>
            </a:r>
            <a:endParaRPr lang="ar-SA" sz="1250" dirty="0"/>
          </a:p>
        </p:txBody>
      </p:sp>
      <p:sp>
        <p:nvSpPr>
          <p:cNvPr id="56" name="Text 51"/>
          <p:cNvSpPr txBox="1"/>
          <p:nvPr/>
        </p:nvSpPr>
        <p:spPr>
          <a:xfrm>
            <a:off x="822960" y="518464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تصعيد تلقائي · الهندسة</a:t>
            </a:r>
            <a:endParaRPr lang="ar-SA" sz="1050" dirty="0"/>
          </a:p>
        </p:txBody>
      </p:sp>
      <p:sp>
        <p:nvSpPr>
          <p:cNvPr id="57" name="Text 52"/>
          <p:cNvSpPr txBox="1"/>
          <p:nvPr/>
        </p:nvSpPr>
        <p:spPr>
          <a:xfrm>
            <a:off x="2286000" y="589788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الحدث، نفس الوقت، ونفس السجل</a:t>
            </a:r>
            <a:endParaRPr lang="ar-S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٠٦ — واجهة الموظف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يحرّك المعاملة ويوثّق كل خطوة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7269480" cy="411480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9050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618488"/>
            <a:ext cx="7232904" cy="310896"/>
          </a:xfrm>
          <a:prstGeom prst="rect">
            <a:avLst/>
          </a:prstGeom>
          <a:solidFill>
            <a:srgbClr val="F1E8DA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9" name="Shape 6"/>
          <p:cNvSpPr/>
          <p:nvPr/>
        </p:nvSpPr>
        <p:spPr>
          <a:xfrm>
            <a:off x="896112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1929384"/>
            <a:ext cx="987552" cy="3767328"/>
          </a:xfrm>
          <a:prstGeom prst="rect">
            <a:avLst/>
          </a:prstGeom>
          <a:solidFill>
            <a:srgbClr val="5613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30568" y="20574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طرف الخيط</a:t>
            </a:r>
            <a:endParaRPr lang="ar-SA" sz="950" dirty="0"/>
          </a:p>
        </p:txBody>
      </p:sp>
      <p:sp>
        <p:nvSpPr>
          <p:cNvPr id="13" name="Shape 10"/>
          <p:cNvSpPr/>
          <p:nvPr/>
        </p:nvSpPr>
        <p:spPr>
          <a:xfrm>
            <a:off x="6949440" y="2478024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8A183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2560320"/>
            <a:ext cx="237744" cy="23774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3063240"/>
            <a:ext cx="237744" cy="237744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4" y="3566160"/>
            <a:ext cx="237744" cy="23774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4069080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11480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المعاملات الموكلة إليّ</a:t>
            </a:r>
            <a:endParaRPr lang="ar-SA" sz="1400" dirty="0"/>
          </a:p>
        </p:txBody>
      </p:sp>
      <p:sp>
        <p:nvSpPr>
          <p:cNvPr id="19" name="Shape 12"/>
          <p:cNvSpPr/>
          <p:nvPr/>
        </p:nvSpPr>
        <p:spPr>
          <a:xfrm>
            <a:off x="4114800" y="2450592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A1832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248656" y="24505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#2034</a:t>
            </a:r>
            <a:endParaRPr lang="ar-SA" sz="950" dirty="0"/>
          </a:p>
        </p:txBody>
      </p:sp>
      <p:sp>
        <p:nvSpPr>
          <p:cNvPr id="21" name="Shape 14"/>
          <p:cNvSpPr/>
          <p:nvPr/>
        </p:nvSpPr>
        <p:spPr>
          <a:xfrm>
            <a:off x="4169664" y="251460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8A1832">
              <a:alpha val="16000"/>
            </a:srgbClr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4169664" y="2514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المراجعة</a:t>
            </a:r>
            <a:endParaRPr lang="ar-SA" sz="950" dirty="0"/>
          </a:p>
        </p:txBody>
      </p:sp>
      <p:sp>
        <p:nvSpPr>
          <p:cNvPr id="23" name="Shape 16"/>
          <p:cNvSpPr/>
          <p:nvPr/>
        </p:nvSpPr>
        <p:spPr>
          <a:xfrm>
            <a:off x="4114800" y="2926080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248656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تنظيمي #1889</a:t>
            </a:r>
            <a:endParaRPr lang="ar-SA" sz="950" dirty="0"/>
          </a:p>
        </p:txBody>
      </p:sp>
      <p:sp>
        <p:nvSpPr>
          <p:cNvPr id="25" name="Shape 18"/>
          <p:cNvSpPr/>
          <p:nvPr/>
        </p:nvSpPr>
        <p:spPr>
          <a:xfrm>
            <a:off x="4169664" y="2990088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C96E3B">
              <a:alpha val="16000"/>
            </a:srgbClr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4169664" y="29900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مستند</a:t>
            </a:r>
            <a:endParaRPr lang="ar-SA" sz="950" dirty="0"/>
          </a:p>
        </p:txBody>
      </p:sp>
      <p:sp>
        <p:nvSpPr>
          <p:cNvPr id="27" name="Shape 20"/>
          <p:cNvSpPr/>
          <p:nvPr/>
        </p:nvSpPr>
        <p:spPr>
          <a:xfrm>
            <a:off x="4114800" y="3401568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248656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إشغال #1772</a:t>
            </a:r>
            <a:endParaRPr lang="ar-SA" sz="950" dirty="0"/>
          </a:p>
        </p:txBody>
      </p:sp>
      <p:sp>
        <p:nvSpPr>
          <p:cNvPr id="29" name="Shape 22"/>
          <p:cNvSpPr/>
          <p:nvPr/>
        </p:nvSpPr>
        <p:spPr>
          <a:xfrm>
            <a:off x="4169664" y="3465576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59613A">
              <a:alpha val="16000"/>
            </a:srgbClr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169664" y="346557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للتسليم</a:t>
            </a:r>
            <a:endParaRPr lang="ar-SA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41148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الإجراءات</a:t>
            </a:r>
            <a:endParaRPr lang="ar-SA" sz="1300" dirty="0"/>
          </a:p>
        </p:txBody>
      </p:sp>
      <p:sp>
        <p:nvSpPr>
          <p:cNvPr id="32" name="Shape 25"/>
          <p:cNvSpPr/>
          <p:nvPr/>
        </p:nvSpPr>
        <p:spPr>
          <a:xfrm>
            <a:off x="6556248" y="4389120"/>
            <a:ext cx="18288" cy="914400"/>
          </a:xfrm>
          <a:custGeom>
            <a:avLst/>
            <a:gdLst/>
            <a:ahLst/>
            <a:cxnLst/>
            <a:rect l="l" t="t" r="r" b="b"/>
            <a:pathLst>
              <a:path w="18288" h="914400">
                <a:moveTo>
                  <a:pt x="0" y="0"/>
                </a:moveTo>
                <a:cubicBezTo>
                  <a:pt x="0" y="152400"/>
                  <a:pt x="0" y="762000"/>
                  <a:pt x="0" y="914400"/>
                </a:cubicBezTo>
              </a:path>
            </a:pathLst>
          </a:custGeom>
          <a:ln w="19050">
            <a:solidFill>
              <a:srgbClr val="CBB9A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92240" y="4389120"/>
            <a:ext cx="128016" cy="128016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66344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استلام من خدمات الجمهور</a:t>
            </a:r>
            <a:endParaRPr lang="ar-SA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4114800" y="4315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492240" y="4791456"/>
            <a:ext cx="128016" cy="128016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4663440" y="4718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مستند: مخطط الموقع</a:t>
            </a:r>
            <a:endParaRPr lang="ar-SA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4114800" y="47183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492240" y="5193792"/>
            <a:ext cx="128016" cy="128016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4663440" y="5120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 بالسبب</a:t>
            </a:r>
            <a:endParaRPr lang="ar-SA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4114800" y="5120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10:31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31520" y="205740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6868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#2034</a:t>
            </a:r>
            <a:endParaRPr lang="ar-SA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868680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9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 المطلوب</a:t>
            </a:r>
            <a:endParaRPr lang="ar-SA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8686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المخطط الهندسي</a:t>
            </a:r>
            <a:endParaRPr lang="ar-SA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868680" y="3090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9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الاستلام</a:t>
            </a:r>
            <a:endParaRPr lang="ar-SA" sz="950" dirty="0"/>
          </a:p>
        </p:txBody>
      </p:sp>
      <p:sp>
        <p:nvSpPr>
          <p:cNvPr id="47" name="Text 40"/>
          <p:cNvSpPr txBox="1"/>
          <p:nvPr/>
        </p:nvSpPr>
        <p:spPr>
          <a:xfrm>
            <a:off x="23774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2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868680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 (إلزامي)</a:t>
            </a:r>
            <a:endParaRPr lang="ar-SA" sz="950" dirty="0"/>
          </a:p>
        </p:txBody>
      </p:sp>
      <p:sp>
        <p:nvSpPr>
          <p:cNvPr id="49" name="Shape 42"/>
          <p:cNvSpPr/>
          <p:nvPr/>
        </p:nvSpPr>
        <p:spPr>
          <a:xfrm>
            <a:off x="868680" y="3867912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B54242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1234440" y="3867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ناقصة: مخطط الموقع</a:t>
            </a:r>
            <a:endParaRPr lang="ar-SA" sz="105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" y="3950208"/>
            <a:ext cx="164592" cy="164592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868680" y="434340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59613A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256" y="437083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141732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 بالتحديث</a:t>
            </a:r>
            <a:endParaRPr lang="ar-SA" sz="1100" dirty="0"/>
          </a:p>
        </p:txBody>
      </p:sp>
      <p:sp>
        <p:nvSpPr>
          <p:cNvPr id="55" name="Shape 47"/>
          <p:cNvSpPr/>
          <p:nvPr/>
        </p:nvSpPr>
        <p:spPr>
          <a:xfrm>
            <a:off x="868680" y="4846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8A1832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868680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إلى الدائرة التالية ←</a:t>
            </a:r>
            <a:endParaRPr lang="ar-SA" sz="1200" dirty="0"/>
          </a:p>
        </p:txBody>
      </p:sp>
      <p:sp>
        <p:nvSpPr>
          <p:cNvPr id="57" name="Shape 49"/>
          <p:cNvSpPr/>
          <p:nvPr/>
        </p:nvSpPr>
        <p:spPr>
          <a:xfrm>
            <a:off x="4178808" y="2066544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417880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050" dirty="0"/>
          </a:p>
        </p:txBody>
      </p:sp>
      <p:sp>
        <p:nvSpPr>
          <p:cNvPr id="59" name="Shape 51"/>
          <p:cNvSpPr/>
          <p:nvPr/>
        </p:nvSpPr>
        <p:spPr>
          <a:xfrm>
            <a:off x="3593592" y="269748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3593592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050" dirty="0"/>
          </a:p>
        </p:txBody>
      </p:sp>
      <p:sp>
        <p:nvSpPr>
          <p:cNvPr id="61" name="Shape 53"/>
          <p:cNvSpPr/>
          <p:nvPr/>
        </p:nvSpPr>
        <p:spPr>
          <a:xfrm>
            <a:off x="3593592" y="3264408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3593592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050" dirty="0"/>
          </a:p>
        </p:txBody>
      </p:sp>
      <p:sp>
        <p:nvSpPr>
          <p:cNvPr id="63" name="Shape 55"/>
          <p:cNvSpPr/>
          <p:nvPr/>
        </p:nvSpPr>
        <p:spPr>
          <a:xfrm>
            <a:off x="3593592" y="493776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3593592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050" dirty="0"/>
          </a:p>
        </p:txBody>
      </p:sp>
      <p:sp>
        <p:nvSpPr>
          <p:cNvPr id="65" name="Shape 57"/>
          <p:cNvSpPr/>
          <p:nvPr/>
        </p:nvSpPr>
        <p:spPr>
          <a:xfrm>
            <a:off x="3593592" y="3895344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3593592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1050" dirty="0"/>
          </a:p>
        </p:txBody>
      </p:sp>
      <p:sp>
        <p:nvSpPr>
          <p:cNvPr id="67" name="Shape 59"/>
          <p:cNvSpPr/>
          <p:nvPr/>
        </p:nvSpPr>
        <p:spPr>
          <a:xfrm>
            <a:off x="4178808" y="397764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4178808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ar-SA" sz="1050" dirty="0"/>
          </a:p>
        </p:txBody>
      </p:sp>
      <p:sp>
        <p:nvSpPr>
          <p:cNvPr id="69" name="Shape 61"/>
          <p:cNvSpPr/>
          <p:nvPr/>
        </p:nvSpPr>
        <p:spPr>
          <a:xfrm>
            <a:off x="3593592" y="4325112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3593592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ar-SA" sz="1050" dirty="0"/>
          </a:p>
        </p:txBody>
      </p:sp>
      <p:sp>
        <p:nvSpPr>
          <p:cNvPr id="71" name="Shape 63"/>
          <p:cNvSpPr/>
          <p:nvPr/>
        </p:nvSpPr>
        <p:spPr>
          <a:xfrm>
            <a:off x="11475720" y="1783080"/>
            <a:ext cx="18288" cy="3337560"/>
          </a:xfrm>
          <a:custGeom>
            <a:avLst/>
            <a:gdLst/>
            <a:ahLst/>
            <a:cxnLst/>
            <a:rect l="l" t="t" r="r" b="b"/>
            <a:pathLst>
              <a:path w="18288" h="3337560">
                <a:moveTo>
                  <a:pt x="0" y="0"/>
                </a:moveTo>
                <a:cubicBezTo>
                  <a:pt x="0" y="556260"/>
                  <a:pt x="0" y="2781300"/>
                  <a:pt x="0" y="3337560"/>
                </a:cubicBezTo>
              </a:path>
            </a:pathLst>
          </a:custGeom>
          <a:ln w="25400">
            <a:solidFill>
              <a:srgbClr val="CBB9A5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1311128" y="1618488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11311128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200" dirty="0"/>
          </a:p>
        </p:txBody>
      </p:sp>
      <p:sp>
        <p:nvSpPr>
          <p:cNvPr id="74" name="Text 66"/>
          <p:cNvSpPr txBox="1"/>
          <p:nvPr/>
        </p:nvSpPr>
        <p:spPr>
          <a:xfrm>
            <a:off x="818388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المعاملات الموكلة</a:t>
            </a:r>
            <a:endParaRPr lang="ar-SA" sz="1550" dirty="0"/>
          </a:p>
        </p:txBody>
      </p:sp>
      <p:sp>
        <p:nvSpPr>
          <p:cNvPr id="75" name="Shape 67"/>
          <p:cNvSpPr/>
          <p:nvPr/>
        </p:nvSpPr>
        <p:spPr>
          <a:xfrm>
            <a:off x="11311128" y="2176272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1131112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200" dirty="0"/>
          </a:p>
        </p:txBody>
      </p:sp>
      <p:sp>
        <p:nvSpPr>
          <p:cNvPr id="77" name="Text 69"/>
          <p:cNvSpPr txBox="1"/>
          <p:nvPr/>
        </p:nvSpPr>
        <p:spPr>
          <a:xfrm>
            <a:off x="8183880" y="2157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 المطلوب</a:t>
            </a:r>
            <a:endParaRPr lang="ar-SA" sz="1550" dirty="0"/>
          </a:p>
        </p:txBody>
      </p:sp>
      <p:sp>
        <p:nvSpPr>
          <p:cNvPr id="78" name="Shape 70"/>
          <p:cNvSpPr/>
          <p:nvPr/>
        </p:nvSpPr>
        <p:spPr>
          <a:xfrm>
            <a:off x="11311128" y="2734056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11311128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200" dirty="0"/>
          </a:p>
        </p:txBody>
      </p:sp>
      <p:sp>
        <p:nvSpPr>
          <p:cNvPr id="80" name="Text 72"/>
          <p:cNvSpPr txBox="1"/>
          <p:nvPr/>
        </p:nvSpPr>
        <p:spPr>
          <a:xfrm>
            <a:off x="8183880" y="2715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الاستلام</a:t>
            </a:r>
            <a:endParaRPr lang="ar-SA" sz="1550" dirty="0"/>
          </a:p>
        </p:txBody>
      </p:sp>
      <p:sp>
        <p:nvSpPr>
          <p:cNvPr id="81" name="Shape 73"/>
          <p:cNvSpPr/>
          <p:nvPr/>
        </p:nvSpPr>
        <p:spPr>
          <a:xfrm>
            <a:off x="11311128" y="3291840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1131112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200" dirty="0"/>
          </a:p>
        </p:txBody>
      </p:sp>
      <p:sp>
        <p:nvSpPr>
          <p:cNvPr id="83" name="Text 75"/>
          <p:cNvSpPr txBox="1"/>
          <p:nvPr/>
        </p:nvSpPr>
        <p:spPr>
          <a:xfrm>
            <a:off x="8183880" y="3273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 إلى الدائرة التالية</a:t>
            </a:r>
            <a:endParaRPr lang="ar-SA" sz="1550" dirty="0"/>
          </a:p>
        </p:txBody>
      </p:sp>
      <p:sp>
        <p:nvSpPr>
          <p:cNvPr id="84" name="Shape 76"/>
          <p:cNvSpPr/>
          <p:nvPr/>
        </p:nvSpPr>
        <p:spPr>
          <a:xfrm>
            <a:off x="11311128" y="3849624"/>
            <a:ext cx="329184" cy="329184"/>
          </a:xfrm>
          <a:prstGeom prst="ellipse">
            <a:avLst/>
          </a:prstGeom>
          <a:solidFill>
            <a:srgbClr val="B5424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11311128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1200" dirty="0"/>
          </a:p>
        </p:txBody>
      </p:sp>
      <p:sp>
        <p:nvSpPr>
          <p:cNvPr id="86" name="Text 78"/>
          <p:cNvSpPr txBox="1"/>
          <p:nvPr/>
        </p:nvSpPr>
        <p:spPr>
          <a:xfrm>
            <a:off x="8183880" y="38313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 الإلزامي</a:t>
            </a:r>
            <a:endParaRPr lang="ar-SA" sz="1550" dirty="0"/>
          </a:p>
        </p:txBody>
      </p:sp>
      <p:sp>
        <p:nvSpPr>
          <p:cNvPr id="87" name="Shape 79"/>
          <p:cNvSpPr/>
          <p:nvPr/>
        </p:nvSpPr>
        <p:spPr>
          <a:xfrm>
            <a:off x="11311128" y="4407408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88" name="Text 80"/>
          <p:cNvSpPr txBox="1"/>
          <p:nvPr/>
        </p:nvSpPr>
        <p:spPr>
          <a:xfrm>
            <a:off x="11311128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ar-SA" sz="1200" dirty="0"/>
          </a:p>
        </p:txBody>
      </p:sp>
      <p:sp>
        <p:nvSpPr>
          <p:cNvPr id="89" name="Text 81"/>
          <p:cNvSpPr txBox="1"/>
          <p:nvPr/>
        </p:nvSpPr>
        <p:spPr>
          <a:xfrm>
            <a:off x="818388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الإجراءات</a:t>
            </a:r>
            <a:endParaRPr lang="ar-SA" sz="1550" dirty="0"/>
          </a:p>
        </p:txBody>
      </p:sp>
      <p:sp>
        <p:nvSpPr>
          <p:cNvPr id="90" name="Shape 82"/>
          <p:cNvSpPr/>
          <p:nvPr/>
        </p:nvSpPr>
        <p:spPr>
          <a:xfrm>
            <a:off x="11311128" y="4965192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11311128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ar-SA" sz="1200" dirty="0"/>
          </a:p>
        </p:txBody>
      </p:sp>
      <p:sp>
        <p:nvSpPr>
          <p:cNvPr id="92" name="Text 84"/>
          <p:cNvSpPr txBox="1"/>
          <p:nvPr/>
        </p:nvSpPr>
        <p:spPr>
          <a:xfrm>
            <a:off x="8183880" y="4946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</a:t>
            </a:r>
            <a:endParaRPr lang="ar-SA" sz="1550" dirty="0"/>
          </a:p>
        </p:txBody>
      </p:sp>
      <p:sp>
        <p:nvSpPr>
          <p:cNvPr id="93" name="Text 85"/>
          <p:cNvSpPr txBox="1"/>
          <p:nvPr/>
        </p:nvSpPr>
        <p:spPr>
          <a:xfrm>
            <a:off x="1828800" y="589788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يقلل الاجتهاد الشخصي ويحافظ على دور الموظف</a:t>
            </a:r>
            <a:endParaRPr lang="ar-S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٠٧ — واجهة المدير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 يرى الاختناق قبل وصول الشكوى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949440" cy="4160520"/>
          </a:xfrm>
          <a:prstGeom prst="roundRect">
            <a:avLst>
              <a:gd name="adj" fmla="val 2198"/>
            </a:avLst>
          </a:prstGeom>
          <a:solidFill>
            <a:srgbClr val="FFFDF8"/>
          </a:solidFill>
          <a:ln w="19050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618488"/>
            <a:ext cx="6912864" cy="310896"/>
          </a:xfrm>
          <a:prstGeom prst="rect">
            <a:avLst/>
          </a:prstGeom>
          <a:solidFill>
            <a:srgbClr val="F1E8DA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9" name="Shape 6"/>
          <p:cNvSpPr/>
          <p:nvPr/>
        </p:nvSpPr>
        <p:spPr>
          <a:xfrm>
            <a:off x="896112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0" y="1618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المدير</a:t>
            </a:r>
            <a:endParaRPr lang="ar-SA" sz="1100" dirty="0"/>
          </a:p>
        </p:txBody>
      </p:sp>
      <p:sp>
        <p:nvSpPr>
          <p:cNvPr id="12" name="Shape 9"/>
          <p:cNvSpPr/>
          <p:nvPr/>
        </p:nvSpPr>
        <p:spPr>
          <a:xfrm>
            <a:off x="516636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30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المعاملات النشطة</a:t>
            </a:r>
            <a:endParaRPr lang="ar-SA" sz="1200" dirty="0"/>
          </a:p>
        </p:txBody>
      </p:sp>
      <p:sp>
        <p:nvSpPr>
          <p:cNvPr id="15" name="Shape 12"/>
          <p:cNvSpPr/>
          <p:nvPr/>
        </p:nvSpPr>
        <p:spPr>
          <a:xfrm>
            <a:off x="297180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300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المتأخرة</a:t>
            </a:r>
            <a:endParaRPr lang="ar-SA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424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300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تدخلًا</a:t>
            </a:r>
            <a:endParaRPr lang="ar-SA" sz="1200" dirty="0"/>
          </a:p>
        </p:txBody>
      </p:sp>
      <p:sp>
        <p:nvSpPr>
          <p:cNvPr id="21" name="Shape 18"/>
          <p:cNvSpPr/>
          <p:nvPr/>
        </p:nvSpPr>
        <p:spPr>
          <a:xfrm>
            <a:off x="777240" y="3291840"/>
            <a:ext cx="6492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0" y="3401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يحدث التأخير؟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150" dirty="0"/>
          </a:p>
        </p:txBody>
      </p:sp>
      <p:sp>
        <p:nvSpPr>
          <p:cNvPr id="24" name="Shape 21"/>
          <p:cNvSpPr/>
          <p:nvPr/>
        </p:nvSpPr>
        <p:spPr>
          <a:xfrm>
            <a:off x="1874520" y="3886200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B5424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8521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150" dirty="0"/>
          </a:p>
        </p:txBody>
      </p:sp>
      <p:sp>
        <p:nvSpPr>
          <p:cNvPr id="26" name="Shape 23"/>
          <p:cNvSpPr/>
          <p:nvPr/>
        </p:nvSpPr>
        <p:spPr>
          <a:xfrm>
            <a:off x="3063240" y="4297680"/>
            <a:ext cx="2651760" cy="182880"/>
          </a:xfrm>
          <a:prstGeom prst="roundRect">
            <a:avLst>
              <a:gd name="adj" fmla="val 50000"/>
            </a:avLst>
          </a:prstGeom>
          <a:solidFill>
            <a:srgbClr val="C96E3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8521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150" dirty="0"/>
          </a:p>
        </p:txBody>
      </p:sp>
      <p:sp>
        <p:nvSpPr>
          <p:cNvPr id="28" name="Shape 25"/>
          <p:cNvSpPr/>
          <p:nvPr/>
        </p:nvSpPr>
        <p:spPr>
          <a:xfrm>
            <a:off x="4251960" y="4709160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CBB9A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85216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</a:t>
            </a:r>
            <a:endParaRPr lang="ar-SA" sz="1150" dirty="0"/>
          </a:p>
        </p:txBody>
      </p:sp>
      <p:sp>
        <p:nvSpPr>
          <p:cNvPr id="30" name="Shape 27"/>
          <p:cNvSpPr/>
          <p:nvPr/>
        </p:nvSpPr>
        <p:spPr>
          <a:xfrm>
            <a:off x="4892040" y="5120640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CBB9A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6868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9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توضيحية</a:t>
            </a:r>
            <a:endParaRPr lang="ar-SA" sz="900" dirty="0"/>
          </a:p>
        </p:txBody>
      </p:sp>
      <p:sp>
        <p:nvSpPr>
          <p:cNvPr id="32" name="Shape 29"/>
          <p:cNvSpPr/>
          <p:nvPr/>
        </p:nvSpPr>
        <p:spPr>
          <a:xfrm>
            <a:off x="7269480" y="3840480"/>
            <a:ext cx="612648" cy="137160"/>
          </a:xfrm>
          <a:custGeom>
            <a:avLst/>
            <a:gdLst/>
            <a:ahLst/>
            <a:cxnLst/>
            <a:rect l="l" t="t" r="r" b="b"/>
            <a:pathLst>
              <a:path w="612648" h="137160">
                <a:moveTo>
                  <a:pt x="0" y="137160"/>
                </a:moveTo>
                <a:cubicBezTo>
                  <a:pt x="53340" y="114300"/>
                  <a:pt x="217932" y="0"/>
                  <a:pt x="320040" y="0"/>
                </a:cubicBezTo>
                <a:cubicBezTo>
                  <a:pt x="422148" y="0"/>
                  <a:pt x="563880" y="114300"/>
                  <a:pt x="612648" y="137160"/>
                </a:cubicBezTo>
              </a:path>
            </a:pathLst>
          </a:custGeom>
          <a:ln w="38100">
            <a:solidFill>
              <a:srgbClr val="B5424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63840" y="1600200"/>
            <a:ext cx="3776472" cy="4160520"/>
          </a:xfrm>
          <a:prstGeom prst="roundRect">
            <a:avLst>
              <a:gd name="adj" fmla="val 3874"/>
            </a:avLst>
          </a:prstGeom>
          <a:solidFill>
            <a:srgbClr val="561322"/>
          </a:solidFill>
          <a:ln w="31750">
            <a:solidFill>
              <a:srgbClr val="B5424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628632" y="1828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B54242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1920240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692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تلقائي</a:t>
            </a:r>
            <a:endParaRPr lang="ar-SA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8092440" y="23774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#2034 تجاوزت المدة المحددة</a:t>
            </a:r>
            <a:endParaRPr lang="ar-SA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9966960" y="3200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الدائرة</a:t>
            </a:r>
            <a:endParaRPr lang="ar-SA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80924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300" dirty="0"/>
          </a:p>
        </p:txBody>
      </p:sp>
      <p:sp>
        <p:nvSpPr>
          <p:cNvPr id="40" name="Shape 36"/>
          <p:cNvSpPr/>
          <p:nvPr/>
        </p:nvSpPr>
        <p:spPr>
          <a:xfrm>
            <a:off x="8092440" y="3621024"/>
            <a:ext cx="3319272" cy="0"/>
          </a:xfrm>
          <a:prstGeom prst="line">
            <a:avLst/>
          </a:prstGeom>
          <a:noFill/>
          <a:ln w="9525">
            <a:solidFill>
              <a:srgbClr val="8A1832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966960" y="367588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المسؤول</a:t>
            </a:r>
            <a:endParaRPr lang="ar-SA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809244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المهندس المراجع</a:t>
            </a:r>
            <a:endParaRPr lang="ar-SA" sz="1300" dirty="0"/>
          </a:p>
        </p:txBody>
      </p:sp>
      <p:sp>
        <p:nvSpPr>
          <p:cNvPr id="43" name="Shape 39"/>
          <p:cNvSpPr/>
          <p:nvPr/>
        </p:nvSpPr>
        <p:spPr>
          <a:xfrm>
            <a:off x="8092440" y="4096512"/>
            <a:ext cx="3319272" cy="0"/>
          </a:xfrm>
          <a:prstGeom prst="line">
            <a:avLst/>
          </a:prstGeom>
          <a:noFill/>
          <a:ln w="9525">
            <a:solidFill>
              <a:srgbClr val="8A1832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966960" y="41513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مدة التأخير</a:t>
            </a:r>
            <a:endParaRPr lang="ar-SA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8092440" y="4151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أيام بعد المهلة</a:t>
            </a:r>
            <a:endParaRPr lang="ar-SA" sz="1300" dirty="0"/>
          </a:p>
        </p:txBody>
      </p:sp>
      <p:sp>
        <p:nvSpPr>
          <p:cNvPr id="46" name="Shape 42"/>
          <p:cNvSpPr/>
          <p:nvPr/>
        </p:nvSpPr>
        <p:spPr>
          <a:xfrm>
            <a:off x="8092440" y="4572000"/>
            <a:ext cx="3319272" cy="0"/>
          </a:xfrm>
          <a:prstGeom prst="line">
            <a:avLst/>
          </a:prstGeom>
          <a:noFill/>
          <a:ln w="9525">
            <a:solidFill>
              <a:srgbClr val="8A1832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966960" y="462686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</a:t>
            </a:r>
            <a:endParaRPr lang="ar-SA" sz="1150" dirty="0"/>
          </a:p>
        </p:txBody>
      </p:sp>
      <p:sp>
        <p:nvSpPr>
          <p:cNvPr id="48" name="Text 44"/>
          <p:cNvSpPr txBox="1"/>
          <p:nvPr/>
        </p:nvSpPr>
        <p:spPr>
          <a:xfrm>
            <a:off x="809244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مخطط الموقع</a:t>
            </a:r>
            <a:endParaRPr lang="ar-SA" sz="1300" dirty="0"/>
          </a:p>
        </p:txBody>
      </p:sp>
      <p:sp>
        <p:nvSpPr>
          <p:cNvPr id="49" name="Shape 45"/>
          <p:cNvSpPr/>
          <p:nvPr/>
        </p:nvSpPr>
        <p:spPr>
          <a:xfrm>
            <a:off x="8092440" y="5166360"/>
            <a:ext cx="3319272" cy="411480"/>
          </a:xfrm>
          <a:prstGeom prst="roundRect">
            <a:avLst>
              <a:gd name="adj" fmla="val 17778"/>
            </a:avLst>
          </a:prstGeom>
          <a:solidFill>
            <a:srgbClr val="FFFDF8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8092440" y="51663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التدخل أو إعادة الإسناد</a:t>
            </a:r>
            <a:endParaRPr lang="ar-SA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1828800" y="594360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 التنبيه دون انتظار شكوى المواطن</a:t>
            </a:r>
            <a:endParaRPr lang="ar-SA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٠٨ — القيمة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النظام لكل طرف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92440" y="155448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55448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92440" y="379476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79476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63233" y="2514600"/>
            <a:ext cx="1429207" cy="731063"/>
          </a:xfrm>
          <a:custGeom>
            <a:avLst/>
            <a:gdLst/>
            <a:ahLst/>
            <a:cxnLst/>
            <a:rect l="l" t="t" r="r" b="b"/>
            <a:pathLst>
              <a:path w="1429207" h="731063">
                <a:moveTo>
                  <a:pt x="0" y="731063"/>
                </a:moveTo>
                <a:cubicBezTo>
                  <a:pt x="119101" y="631713"/>
                  <a:pt x="476402" y="256809"/>
                  <a:pt x="714604" y="134965"/>
                </a:cubicBezTo>
                <a:cubicBezTo>
                  <a:pt x="952805" y="13122"/>
                  <a:pt x="1310107" y="22494"/>
                  <a:pt x="1429207" y="0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1000" y="242316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2514600"/>
            <a:ext cx="1432865" cy="731063"/>
          </a:xfrm>
          <a:custGeom>
            <a:avLst/>
            <a:gdLst/>
            <a:ahLst/>
            <a:cxnLst/>
            <a:rect l="l" t="t" r="r" b="b"/>
            <a:pathLst>
              <a:path w="1432865" h="731063">
                <a:moveTo>
                  <a:pt x="1432865" y="731063"/>
                </a:moveTo>
                <a:cubicBezTo>
                  <a:pt x="1313459" y="631713"/>
                  <a:pt x="955243" y="256809"/>
                  <a:pt x="716432" y="134965"/>
                </a:cubicBezTo>
                <a:cubicBezTo>
                  <a:pt x="477622" y="13122"/>
                  <a:pt x="119405" y="22494"/>
                  <a:pt x="0" y="0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05072" y="242316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63233" y="4029761"/>
            <a:ext cx="1429207" cy="725119"/>
          </a:xfrm>
          <a:custGeom>
            <a:avLst/>
            <a:gdLst/>
            <a:ahLst/>
            <a:cxnLst/>
            <a:rect l="l" t="t" r="r" b="b"/>
            <a:pathLst>
              <a:path w="1429207" h="725119">
                <a:moveTo>
                  <a:pt x="0" y="0"/>
                </a:moveTo>
                <a:cubicBezTo>
                  <a:pt x="119101" y="98542"/>
                  <a:pt x="476402" y="470398"/>
                  <a:pt x="714604" y="591251"/>
                </a:cubicBezTo>
                <a:cubicBezTo>
                  <a:pt x="952805" y="712104"/>
                  <a:pt x="1310107" y="702808"/>
                  <a:pt x="1429207" y="725119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01000" y="466344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96512" y="4029761"/>
            <a:ext cx="1432865" cy="725119"/>
          </a:xfrm>
          <a:custGeom>
            <a:avLst/>
            <a:gdLst/>
            <a:ahLst/>
            <a:cxnLst/>
            <a:rect l="l" t="t" r="r" b="b"/>
            <a:pathLst>
              <a:path w="1432865" h="725119">
                <a:moveTo>
                  <a:pt x="1432865" y="0"/>
                </a:moveTo>
                <a:cubicBezTo>
                  <a:pt x="1313459" y="98542"/>
                  <a:pt x="955243" y="470398"/>
                  <a:pt x="716432" y="591251"/>
                </a:cubicBezTo>
                <a:cubicBezTo>
                  <a:pt x="477622" y="712104"/>
                  <a:pt x="119405" y="702808"/>
                  <a:pt x="0" y="725119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5072" y="466344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36185" y="2679192"/>
            <a:ext cx="1920240" cy="1920240"/>
          </a:xfrm>
          <a:prstGeom prst="ellipse">
            <a:avLst/>
          </a:prstGeom>
          <a:ln w="19050">
            <a:solidFill>
              <a:srgbClr val="CBB9A5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5410505" y="2953512"/>
            <a:ext cx="1371600" cy="13716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10505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واحد</a:t>
            </a:r>
            <a:endParaRPr lang="ar-SA" sz="1700" dirty="0"/>
          </a:p>
        </p:txBody>
      </p:sp>
      <p:sp>
        <p:nvSpPr>
          <p:cNvPr id="21" name="Shape 18"/>
          <p:cNvSpPr/>
          <p:nvPr/>
        </p:nvSpPr>
        <p:spPr>
          <a:xfrm>
            <a:off x="10899648" y="1737360"/>
            <a:ext cx="530352" cy="530352"/>
          </a:xfrm>
          <a:prstGeom prst="ellipse">
            <a:avLst/>
          </a:prstGeom>
          <a:solidFill>
            <a:srgbClr val="8A183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4" y="1865376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321040" y="17373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البلدية</a:t>
            </a:r>
            <a:endParaRPr lang="ar-SA" sz="2100" dirty="0"/>
          </a:p>
        </p:txBody>
      </p:sp>
      <p:sp>
        <p:nvSpPr>
          <p:cNvPr id="24" name="Shape 20"/>
          <p:cNvSpPr/>
          <p:nvPr/>
        </p:nvSpPr>
        <p:spPr>
          <a:xfrm>
            <a:off x="11119104" y="255117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321040" y="245059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إجراءات موحدة</a:t>
            </a:r>
            <a:endParaRPr lang="ar-SA" sz="1450" dirty="0"/>
          </a:p>
        </p:txBody>
      </p:sp>
      <p:sp>
        <p:nvSpPr>
          <p:cNvPr id="26" name="Shape 22"/>
          <p:cNvSpPr/>
          <p:nvPr/>
        </p:nvSpPr>
        <p:spPr>
          <a:xfrm>
            <a:off x="11119104" y="288950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321040" y="27889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الأداء</a:t>
            </a:r>
            <a:endParaRPr lang="ar-SA" sz="1450" dirty="0"/>
          </a:p>
        </p:txBody>
      </p:sp>
      <p:sp>
        <p:nvSpPr>
          <p:cNvPr id="28" name="Shape 24"/>
          <p:cNvSpPr/>
          <p:nvPr/>
        </p:nvSpPr>
        <p:spPr>
          <a:xfrm>
            <a:off x="11119104" y="322783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321040" y="312724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نقاط الاختناق</a:t>
            </a:r>
            <a:endParaRPr lang="ar-SA" sz="1450" dirty="0"/>
          </a:p>
        </p:txBody>
      </p:sp>
      <p:sp>
        <p:nvSpPr>
          <p:cNvPr id="30" name="Shape 26"/>
          <p:cNvSpPr/>
          <p:nvPr/>
        </p:nvSpPr>
        <p:spPr>
          <a:xfrm>
            <a:off x="3355848" y="1737360"/>
            <a:ext cx="530352" cy="530352"/>
          </a:xfrm>
          <a:prstGeom prst="ellipse">
            <a:avLst/>
          </a:prstGeom>
          <a:solidFill>
            <a:srgbClr val="8A1832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1865376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77240" y="17373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</a:t>
            </a:r>
            <a:endParaRPr lang="ar-SA" sz="2100" dirty="0"/>
          </a:p>
        </p:txBody>
      </p:sp>
      <p:sp>
        <p:nvSpPr>
          <p:cNvPr id="33" name="Shape 28"/>
          <p:cNvSpPr/>
          <p:nvPr/>
        </p:nvSpPr>
        <p:spPr>
          <a:xfrm>
            <a:off x="3575304" y="255117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77240" y="245059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واضحة</a:t>
            </a:r>
            <a:endParaRPr lang="ar-SA" sz="1450" dirty="0"/>
          </a:p>
        </p:txBody>
      </p:sp>
      <p:sp>
        <p:nvSpPr>
          <p:cNvPr id="35" name="Shape 30"/>
          <p:cNvSpPr/>
          <p:nvPr/>
        </p:nvSpPr>
        <p:spPr>
          <a:xfrm>
            <a:off x="3575304" y="288950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77240" y="27889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موثّق</a:t>
            </a:r>
            <a:endParaRPr lang="ar-SA" sz="1450" dirty="0"/>
          </a:p>
        </p:txBody>
      </p:sp>
      <p:sp>
        <p:nvSpPr>
          <p:cNvPr id="37" name="Shape 32"/>
          <p:cNvSpPr/>
          <p:nvPr/>
        </p:nvSpPr>
        <p:spPr>
          <a:xfrm>
            <a:off x="3575304" y="322783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77240" y="312724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تضارب المسؤوليات</a:t>
            </a:r>
            <a:endParaRPr lang="ar-SA" sz="1450" dirty="0"/>
          </a:p>
        </p:txBody>
      </p:sp>
      <p:sp>
        <p:nvSpPr>
          <p:cNvPr id="39" name="Shape 34"/>
          <p:cNvSpPr/>
          <p:nvPr/>
        </p:nvSpPr>
        <p:spPr>
          <a:xfrm>
            <a:off x="10899648" y="3977640"/>
            <a:ext cx="530352" cy="530352"/>
          </a:xfrm>
          <a:prstGeom prst="ellipse">
            <a:avLst/>
          </a:prstGeom>
          <a:solidFill>
            <a:srgbClr val="8A1832"/>
          </a:solidFill>
          <a:ln/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4" y="4105656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8321040" y="3977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2100" dirty="0"/>
          </a:p>
        </p:txBody>
      </p:sp>
      <p:sp>
        <p:nvSpPr>
          <p:cNvPr id="42" name="Shape 36"/>
          <p:cNvSpPr/>
          <p:nvPr/>
        </p:nvSpPr>
        <p:spPr>
          <a:xfrm>
            <a:off x="11119104" y="479145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321040" y="469087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مبكرة</a:t>
            </a:r>
            <a:endParaRPr lang="ar-SA" sz="1450" dirty="0"/>
          </a:p>
        </p:txBody>
      </p:sp>
      <p:sp>
        <p:nvSpPr>
          <p:cNvPr id="44" name="Shape 38"/>
          <p:cNvSpPr/>
          <p:nvPr/>
        </p:nvSpPr>
        <p:spPr>
          <a:xfrm>
            <a:off x="11119104" y="512978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321040" y="502920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تشغيلية</a:t>
            </a:r>
            <a:endParaRPr lang="ar-SA" sz="1450" dirty="0"/>
          </a:p>
        </p:txBody>
      </p:sp>
      <p:sp>
        <p:nvSpPr>
          <p:cNvPr id="46" name="Shape 40"/>
          <p:cNvSpPr/>
          <p:nvPr/>
        </p:nvSpPr>
        <p:spPr>
          <a:xfrm>
            <a:off x="11119104" y="546811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8321040" y="536752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مبنية على سجل</a:t>
            </a:r>
            <a:endParaRPr lang="ar-SA" sz="1450" dirty="0"/>
          </a:p>
        </p:txBody>
      </p:sp>
      <p:sp>
        <p:nvSpPr>
          <p:cNvPr id="48" name="Shape 42"/>
          <p:cNvSpPr/>
          <p:nvPr/>
        </p:nvSpPr>
        <p:spPr>
          <a:xfrm>
            <a:off x="3355848" y="3977640"/>
            <a:ext cx="530352" cy="530352"/>
          </a:xfrm>
          <a:prstGeom prst="ellipse">
            <a:avLst/>
          </a:prstGeom>
          <a:solidFill>
            <a:srgbClr val="59613A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4105656"/>
            <a:ext cx="274320" cy="27432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777240" y="3977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المواطن</a:t>
            </a:r>
            <a:endParaRPr lang="ar-SA" sz="2100" dirty="0"/>
          </a:p>
        </p:txBody>
      </p:sp>
      <p:sp>
        <p:nvSpPr>
          <p:cNvPr id="51" name="Shape 44"/>
          <p:cNvSpPr/>
          <p:nvPr/>
        </p:nvSpPr>
        <p:spPr>
          <a:xfrm>
            <a:off x="3575304" y="479145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777240" y="469087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واضح للتأخير</a:t>
            </a:r>
            <a:endParaRPr lang="ar-SA" sz="1450" dirty="0"/>
          </a:p>
        </p:txBody>
      </p:sp>
      <p:sp>
        <p:nvSpPr>
          <p:cNvPr id="53" name="Shape 46"/>
          <p:cNvSpPr/>
          <p:nvPr/>
        </p:nvSpPr>
        <p:spPr>
          <a:xfrm>
            <a:off x="3575304" y="512978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777240" y="502920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مفهومة</a:t>
            </a:r>
            <a:endParaRPr lang="ar-SA" sz="1450" dirty="0"/>
          </a:p>
        </p:txBody>
      </p:sp>
      <p:sp>
        <p:nvSpPr>
          <p:cNvPr id="55" name="Shape 48"/>
          <p:cNvSpPr/>
          <p:nvPr/>
        </p:nvSpPr>
        <p:spPr>
          <a:xfrm>
            <a:off x="3575304" y="546811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777240" y="536752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توقع زمني أفضل</a:t>
            </a:r>
            <a:endParaRPr lang="ar-SA" sz="1450" dirty="0"/>
          </a:p>
        </p:txBody>
      </p:sp>
      <p:sp>
        <p:nvSpPr>
          <p:cNvPr id="57" name="Text 50"/>
          <p:cNvSpPr txBox="1"/>
          <p:nvPr/>
        </p:nvSpPr>
        <p:spPr>
          <a:xfrm>
            <a:off x="2286000" y="5897880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الشفافية نتيجة لمسار داخلي منضبط</a:t>
            </a:r>
            <a:endParaRPr lang="ar-SA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pic>
        <p:nvPicPr>
          <p:cNvPr id="3" name="Image 1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pic>
        <p:nvPicPr>
          <p:cNvPr id="4" name="Image 2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48640"/>
            <a:ext cx="3291840" cy="32918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023360" y="822960"/>
            <a:ext cx="7616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3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عرف كل موظف طرف الخيط،</a:t>
            </a:r>
            <a:endParaRPr lang="ar-SA" sz="3400" dirty="0"/>
          </a:p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3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فلن تضيع المعاملة بين الدوائر</a:t>
            </a:r>
            <a:endParaRPr lang="ar-SA" sz="3400" dirty="0"/>
          </a:p>
        </p:txBody>
      </p:sp>
      <p:sp>
        <p:nvSpPr>
          <p:cNvPr id="6" name="Text 1"/>
          <p:cNvSpPr txBox="1"/>
          <p:nvPr/>
        </p:nvSpPr>
        <p:spPr>
          <a:xfrm>
            <a:off x="4023360" y="288036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200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واحد يربط الإجراء بالمسؤول والوقت والأثر</a:t>
            </a:r>
            <a:endParaRPr lang="ar-SA" sz="2000" dirty="0"/>
          </a:p>
        </p:txBody>
      </p:sp>
      <p:sp>
        <p:nvSpPr>
          <p:cNvPr id="7" name="Shape 2"/>
          <p:cNvSpPr/>
          <p:nvPr/>
        </p:nvSpPr>
        <p:spPr>
          <a:xfrm>
            <a:off x="1188720" y="4526280"/>
            <a:ext cx="11018520" cy="18288"/>
          </a:xfrm>
          <a:custGeom>
            <a:avLst/>
            <a:gdLst/>
            <a:ahLst/>
            <a:cxnLst/>
            <a:rect l="l" t="t" r="r" b="b"/>
            <a:pathLst>
              <a:path w="11018520" h="18288">
                <a:moveTo>
                  <a:pt x="11018520" y="0"/>
                </a:moveTo>
                <a:cubicBezTo>
                  <a:pt x="9182100" y="0"/>
                  <a:pt x="1836420" y="0"/>
                  <a:pt x="0" y="0"/>
                </a:cubicBezTo>
              </a:path>
            </a:pathLst>
          </a:custGeom>
          <a:ln w="50800">
            <a:solidFill>
              <a:srgbClr val="8A1832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23544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250" dirty="0"/>
          </a:p>
        </p:txBody>
      </p:sp>
      <p:sp>
        <p:nvSpPr>
          <p:cNvPr id="10" name="Shape 5"/>
          <p:cNvSpPr/>
          <p:nvPr/>
        </p:nvSpPr>
        <p:spPr>
          <a:xfrm>
            <a:off x="779068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04088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250" dirty="0"/>
          </a:p>
        </p:txBody>
      </p:sp>
      <p:sp>
        <p:nvSpPr>
          <p:cNvPr id="12" name="Shape 7"/>
          <p:cNvSpPr/>
          <p:nvPr/>
        </p:nvSpPr>
        <p:spPr>
          <a:xfrm>
            <a:off x="559612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84632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250" dirty="0"/>
          </a:p>
        </p:txBody>
      </p:sp>
      <p:sp>
        <p:nvSpPr>
          <p:cNvPr id="14" name="Shape 9"/>
          <p:cNvSpPr/>
          <p:nvPr/>
        </p:nvSpPr>
        <p:spPr>
          <a:xfrm>
            <a:off x="340156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651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1250" dirty="0"/>
          </a:p>
        </p:txBody>
      </p:sp>
      <p:sp>
        <p:nvSpPr>
          <p:cNvPr id="16" name="Shape 11"/>
          <p:cNvSpPr/>
          <p:nvPr/>
        </p:nvSpPr>
        <p:spPr>
          <a:xfrm>
            <a:off x="731520" y="4160520"/>
            <a:ext cx="731520" cy="731520"/>
          </a:xfrm>
          <a:prstGeom prst="ellipse">
            <a:avLst/>
          </a:prstGeom>
          <a:solidFill>
            <a:srgbClr val="59613A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3342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2880" y="4965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إنجاز</a:t>
            </a:r>
            <a:endParaRPr lang="ar-SA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2286000" y="5532120"/>
            <a:ext cx="7616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8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إجراءات أوضح، خدمة أفضل</a:t>
            </a:r>
            <a:endParaRPr lang="ar-SA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649</Words>
  <Application>Microsoft Office PowerPoint</Application>
  <PresentationFormat>Custom</PresentationFormat>
  <Paragraphs>242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طرف الخيط</dc:title>
  <dc:subject>PptxGenJS Presentation</dc:subject>
  <dc:creator>Tarf Al-Khayt</dc:creator>
  <cp:lastModifiedBy>Razan Shalabi</cp:lastModifiedBy>
  <cp:revision>4</cp:revision>
  <dcterms:created xsi:type="dcterms:W3CDTF">2026-09-21T14:33:10Z</dcterms:created>
  <dcterms:modified xsi:type="dcterms:W3CDTF">2026-09-21T21:28:22Z</dcterms:modified>
</cp:coreProperties>
</file>