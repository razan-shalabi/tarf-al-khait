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6" r:id="rId5"/>
    <p:sldId id="264" r:id="rId6"/>
    <p:sldId id="262" r:id="rId7"/>
    <p:sldId id="261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7863840" y="685800"/>
            <a:ext cx="2926080" cy="502920"/>
          </a:xfrm>
          <a:prstGeom prst="line">
            <a:avLst/>
          </a:prstGeom>
          <a:ln w="25400">
            <a:solidFill>
              <a:srgbClr val="1B3A6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097280" y="5349240"/>
            <a:ext cx="2560320" cy="457200"/>
          </a:xfrm>
          <a:prstGeom prst="line">
            <a:avLst/>
          </a:prstGeom>
          <a:ln w="25400">
            <a:solidFill>
              <a:srgbClr val="1B3A6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3696004" y="2692908"/>
            <a:ext cx="137160" cy="137160"/>
          </a:xfrm>
          <a:prstGeom prst="ellipse">
            <a:avLst/>
          </a:prstGeom>
          <a:solidFill>
            <a:srgbClr val="C79A3F"/>
          </a:solidFill>
          <a:ln w="15875">
            <a:solidFill>
              <a:srgbClr val="9C77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Arial"/>
                <a:cs typeface="Arial"/>
              </a:rPr>
              <a:t>طرف الخيط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41824" y="3456432"/>
            <a:ext cx="3108960" cy="0"/>
          </a:xfrm>
          <a:prstGeom prst="line">
            <a:avLst/>
          </a:prstGeom>
          <a:ln w="19050">
            <a:solidFill>
              <a:srgbClr val="C79A3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3611880"/>
            <a:ext cx="12191695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i="1">
                <a:solidFill>
                  <a:srgbClr val="E7C476"/>
                </a:solidFill>
                <a:latin typeface="Arial"/>
                <a:cs typeface="Arial"/>
              </a:rPr>
              <a:t>كل معاملة لها خيط… نحن نمسك طرفه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>
                <a:solidFill>
                  <a:srgbClr val="AEB9CC"/>
                </a:solidFill>
                <a:latin typeface="Arial"/>
                <a:cs typeface="Arial"/>
              </a:rPr>
              <a:t>منصة تشغيلية موحّدة لخدمات البلديات الفلسطينية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9C7726"/>
                </a:solidFill>
                <a:latin typeface="Arial"/>
                <a:cs typeface="Arial"/>
              </a:rPr>
              <a:t>المشكلة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392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000" b="1" i="0">
                <a:solidFill>
                  <a:srgbClr val="0E2340"/>
                </a:solidFill>
                <a:latin typeface="Arial"/>
                <a:cs typeface="Arial"/>
              </a:rPr>
              <a:t>معاملة بلا طرف خيط واحد يمسك بها من أولها لآخرها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291029" y="2679192"/>
            <a:ext cx="7609637" cy="0"/>
          </a:xfrm>
          <a:prstGeom prst="line">
            <a:avLst/>
          </a:prstGeom>
          <a:ln w="22225">
            <a:solidFill>
              <a:srgbClr val="C79A3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158277" y="2697480"/>
            <a:ext cx="3484778" cy="21488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726930" y="2523744"/>
            <a:ext cx="347472" cy="347472"/>
          </a:xfrm>
          <a:prstGeom prst="ellipse">
            <a:avLst/>
          </a:prstGeom>
          <a:solidFill>
            <a:srgbClr val="0E2340"/>
          </a:solidFill>
          <a:ln w="15875">
            <a:solidFill>
              <a:srgbClr val="0E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6877" y="3081528"/>
            <a:ext cx="302757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 err="1">
                <a:solidFill>
                  <a:srgbClr val="0E2340"/>
                </a:solidFill>
                <a:latin typeface="Arial"/>
                <a:cs typeface="Arial"/>
              </a:rPr>
              <a:t>المواطن</a:t>
            </a:r>
            <a:endParaRPr sz="2000" b="1" i="0" dirty="0">
              <a:solidFill>
                <a:srgbClr val="0E2340"/>
              </a:solidFill>
              <a:latin typeface="Arial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6877" y="3566160"/>
            <a:ext cx="302757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 dirty="0" err="1">
                <a:solidFill>
                  <a:srgbClr val="5B6472"/>
                </a:solidFill>
                <a:latin typeface="Arial"/>
                <a:cs typeface="Arial"/>
              </a:rPr>
              <a:t>يضيع</a:t>
            </a:r>
            <a:r>
              <a:rPr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5B6472"/>
                </a:solidFill>
                <a:latin typeface="Arial"/>
                <a:cs typeface="Arial"/>
              </a:rPr>
              <a:t>دون</a:t>
            </a:r>
            <a:r>
              <a:rPr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5B6472"/>
                </a:solidFill>
                <a:latin typeface="Arial"/>
                <a:cs typeface="Arial"/>
              </a:rPr>
              <a:t>معرفة</a:t>
            </a:r>
            <a:r>
              <a:rPr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5B6472"/>
                </a:solidFill>
                <a:latin typeface="Arial"/>
                <a:cs typeface="Arial"/>
              </a:rPr>
              <a:t>أين</a:t>
            </a:r>
            <a:r>
              <a:rPr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5B6472"/>
                </a:solidFill>
                <a:latin typeface="Arial"/>
                <a:cs typeface="Arial"/>
              </a:rPr>
              <a:t>معاملته</a:t>
            </a:r>
            <a:r>
              <a:rPr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5B6472"/>
                </a:solidFill>
                <a:latin typeface="Arial"/>
                <a:cs typeface="Arial"/>
              </a:rPr>
              <a:t>أو</a:t>
            </a:r>
            <a:r>
              <a:rPr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5B6472"/>
                </a:solidFill>
                <a:latin typeface="Arial"/>
                <a:cs typeface="Arial"/>
              </a:rPr>
              <a:t>من</a:t>
            </a:r>
            <a:r>
              <a:rPr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5B6472"/>
                </a:solidFill>
                <a:latin typeface="Arial"/>
                <a:cs typeface="Arial"/>
              </a:rPr>
              <a:t>المسؤول</a:t>
            </a:r>
            <a:r>
              <a:rPr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b="0" i="0" dirty="0" err="1">
                <a:solidFill>
                  <a:srgbClr val="5B6472"/>
                </a:solidFill>
                <a:latin typeface="Arial"/>
                <a:cs typeface="Arial"/>
              </a:rPr>
              <a:t>عنها</a:t>
            </a:r>
            <a:endParaRPr b="0" i="0" dirty="0">
              <a:solidFill>
                <a:srgbClr val="5B6472"/>
              </a:solidFill>
              <a:latin typeface="Arial"/>
              <a:cs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53459" y="2697480"/>
            <a:ext cx="3484778" cy="21488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922112" y="2523744"/>
            <a:ext cx="347472" cy="347472"/>
          </a:xfrm>
          <a:prstGeom prst="ellipse">
            <a:avLst/>
          </a:prstGeom>
          <a:solidFill>
            <a:srgbClr val="0E2340"/>
          </a:solidFill>
          <a:ln w="15875">
            <a:solidFill>
              <a:srgbClr val="0E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9" y="3081528"/>
            <a:ext cx="302757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 err="1">
                <a:solidFill>
                  <a:srgbClr val="0E2340"/>
                </a:solidFill>
                <a:latin typeface="Arial"/>
                <a:cs typeface="Arial"/>
              </a:rPr>
              <a:t>الموظف</a:t>
            </a:r>
            <a:endParaRPr sz="2000" b="1" i="0" dirty="0">
              <a:solidFill>
                <a:srgbClr val="0E2340"/>
              </a:solidFill>
              <a:latin typeface="Arial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2059" y="3566160"/>
            <a:ext cx="302757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dirty="0" err="1">
                <a:solidFill>
                  <a:srgbClr val="5B6472"/>
                </a:solidFill>
                <a:latin typeface="Arial"/>
                <a:cs typeface="Arial"/>
              </a:rPr>
              <a:t>ينسّق</a:t>
            </a:r>
            <a:r>
              <a:rPr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dirty="0" err="1">
                <a:solidFill>
                  <a:srgbClr val="5B6472"/>
                </a:solidFill>
                <a:latin typeface="Arial"/>
                <a:cs typeface="Arial"/>
              </a:rPr>
              <a:t>يدوياً</a:t>
            </a:r>
            <a:r>
              <a:rPr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dirty="0" err="1">
                <a:solidFill>
                  <a:srgbClr val="5B6472"/>
                </a:solidFill>
                <a:latin typeface="Arial"/>
                <a:cs typeface="Arial"/>
              </a:rPr>
              <a:t>ومتكرراً</a:t>
            </a:r>
            <a:r>
              <a:rPr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dirty="0" err="1">
                <a:solidFill>
                  <a:srgbClr val="5B6472"/>
                </a:solidFill>
                <a:latin typeface="Arial"/>
                <a:cs typeface="Arial"/>
              </a:rPr>
              <a:t>بين</a:t>
            </a:r>
            <a:r>
              <a:rPr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dirty="0" err="1">
                <a:solidFill>
                  <a:srgbClr val="5B6472"/>
                </a:solidFill>
                <a:latin typeface="Arial"/>
                <a:cs typeface="Arial"/>
              </a:rPr>
              <a:t>الأقسام</a:t>
            </a:r>
            <a:r>
              <a:rPr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dirty="0" err="1">
                <a:solidFill>
                  <a:srgbClr val="5B6472"/>
                </a:solidFill>
                <a:latin typeface="Arial"/>
                <a:cs typeface="Arial"/>
              </a:rPr>
              <a:t>لإنجاز</a:t>
            </a:r>
            <a:r>
              <a:rPr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dirty="0" err="1">
                <a:solidFill>
                  <a:srgbClr val="5B6472"/>
                </a:solidFill>
                <a:latin typeface="Arial"/>
                <a:cs typeface="Arial"/>
              </a:rPr>
              <a:t>خطوة</a:t>
            </a:r>
            <a:r>
              <a:rPr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dirty="0" err="1">
                <a:solidFill>
                  <a:srgbClr val="5B6472"/>
                </a:solidFill>
                <a:latin typeface="Arial"/>
                <a:cs typeface="Arial"/>
              </a:rPr>
              <a:t>واحدة</a:t>
            </a:r>
            <a:endParaRPr dirty="0">
              <a:solidFill>
                <a:srgbClr val="5B6472"/>
              </a:solidFill>
              <a:latin typeface="Arial"/>
              <a:cs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1" y="2697480"/>
            <a:ext cx="3484778" cy="21488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117294" y="2523744"/>
            <a:ext cx="347472" cy="347472"/>
          </a:xfrm>
          <a:prstGeom prst="ellipse">
            <a:avLst/>
          </a:prstGeom>
          <a:solidFill>
            <a:srgbClr val="0E2340"/>
          </a:solidFill>
          <a:ln w="15875">
            <a:solidFill>
              <a:srgbClr val="0E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  <a:cs typeface="Arial"/>
              </a:rPr>
              <a:t>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1" y="3081528"/>
            <a:ext cx="3027578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 err="1">
                <a:solidFill>
                  <a:srgbClr val="0E2340"/>
                </a:solidFill>
                <a:latin typeface="Arial"/>
                <a:cs typeface="Arial"/>
              </a:rPr>
              <a:t>المدير</a:t>
            </a:r>
            <a:endParaRPr sz="2000" b="1" i="0" dirty="0">
              <a:solidFill>
                <a:srgbClr val="0E2340"/>
              </a:solidFill>
              <a:latin typeface="Arial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1" y="3566160"/>
            <a:ext cx="3027578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i="0">
                <a:solidFill>
                  <a:srgbClr val="5B6472"/>
                </a:solidFill>
                <a:latin typeface="Arial"/>
                <a:cs typeface="Arial"/>
              </a:rPr>
              <a:t>يفتقر لأي رؤية حقيقية لمكامن التعطل الفعلية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93A3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Arial"/>
                <a:cs typeface="Arial"/>
              </a:rPr>
              <a:t>طرف الخيط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9C7726"/>
                </a:solidFill>
                <a:latin typeface="Arial"/>
                <a:cs typeface="Arial"/>
              </a:rPr>
              <a:t>الحل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392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000" b="1" i="0">
                <a:solidFill>
                  <a:srgbClr val="0E2340"/>
                </a:solidFill>
                <a:latin typeface="Arial"/>
                <a:cs typeface="Arial"/>
              </a:rPr>
              <a:t>طرف الخيط: أربعة أطراف يمسكها المواطن والموظف والمدير في أي لحظة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832571" y="2103120"/>
            <a:ext cx="8526553" cy="0"/>
          </a:xfrm>
          <a:prstGeom prst="line">
            <a:avLst/>
          </a:prstGeom>
          <a:ln w="22225">
            <a:solidFill>
              <a:srgbClr val="C79A3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10139667" y="1883664"/>
            <a:ext cx="438912" cy="438912"/>
          </a:xfrm>
          <a:prstGeom prst="ellipse">
            <a:avLst/>
          </a:prstGeom>
          <a:solidFill>
            <a:srgbClr val="0E2340"/>
          </a:solidFill>
          <a:ln w="15875">
            <a:solidFill>
              <a:srgbClr val="C79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75192" y="2423160"/>
            <a:ext cx="2567863" cy="32461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39784" y="2651760"/>
            <a:ext cx="223867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 err="1">
                <a:solidFill>
                  <a:srgbClr val="0E2340"/>
                </a:solidFill>
                <a:latin typeface="Arial"/>
                <a:cs typeface="Arial"/>
              </a:rPr>
              <a:t>مين</a:t>
            </a:r>
            <a:r>
              <a:rPr sz="2000" b="1" i="0" dirty="0">
                <a:solidFill>
                  <a:srgbClr val="0E2340"/>
                </a:solidFill>
                <a:latin typeface="Arial"/>
                <a:cs typeface="Arial"/>
              </a:rPr>
              <a:t> </a:t>
            </a:r>
            <a:r>
              <a:rPr sz="2000" b="1" i="0" dirty="0" err="1">
                <a:solidFill>
                  <a:srgbClr val="0E2340"/>
                </a:solidFill>
                <a:latin typeface="Arial"/>
                <a:cs typeface="Arial"/>
              </a:rPr>
              <a:t>مسؤول</a:t>
            </a:r>
            <a:endParaRPr sz="2000" b="1" i="0" dirty="0">
              <a:solidFill>
                <a:srgbClr val="0E2340"/>
              </a:solidFill>
              <a:latin typeface="Arial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258072" y="3154680"/>
            <a:ext cx="2202103" cy="7109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مالك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واحد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يتابع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المعاملة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من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أولها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لآخرها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،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بغض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النظر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عن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عدد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الأقسام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التي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تمر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بها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9" name="Oval 8"/>
          <p:cNvSpPr/>
          <p:nvPr/>
        </p:nvSpPr>
        <p:spPr>
          <a:xfrm>
            <a:off x="7297484" y="1883664"/>
            <a:ext cx="438912" cy="438912"/>
          </a:xfrm>
          <a:prstGeom prst="ellipse">
            <a:avLst/>
          </a:prstGeom>
          <a:solidFill>
            <a:srgbClr val="0E2340"/>
          </a:solidFill>
          <a:ln w="15875">
            <a:solidFill>
              <a:srgbClr val="C79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9" y="2423160"/>
            <a:ext cx="2567863" cy="32461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97601" y="2651760"/>
            <a:ext cx="223867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E2340"/>
                </a:solidFill>
                <a:latin typeface="Arial"/>
                <a:cs typeface="Arial"/>
              </a:rPr>
              <a:t>وين واصلة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5889" y="3154680"/>
            <a:ext cx="2202103" cy="7109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5B6472"/>
                </a:solidFill>
                <a:latin typeface="Arial"/>
                <a:cs typeface="Arial"/>
              </a:rPr>
              <a:t>محرك مسارات قابل للتهيئة، مع جواز رقمي واحد يوثّق رحلة كل معاملة كاملة.</a:t>
            </a:r>
          </a:p>
        </p:txBody>
      </p:sp>
      <p:sp>
        <p:nvSpPr>
          <p:cNvPr id="13" name="Oval 12"/>
          <p:cNvSpPr/>
          <p:nvPr/>
        </p:nvSpPr>
        <p:spPr>
          <a:xfrm>
            <a:off x="4455301" y="1883664"/>
            <a:ext cx="438912" cy="438912"/>
          </a:xfrm>
          <a:prstGeom prst="ellipse">
            <a:avLst/>
          </a:prstGeom>
          <a:solidFill>
            <a:srgbClr val="0E2340"/>
          </a:solidFill>
          <a:ln w="15875">
            <a:solidFill>
              <a:srgbClr val="C79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0826" y="2423160"/>
            <a:ext cx="2567863" cy="32461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55418" y="2651760"/>
            <a:ext cx="223867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 err="1">
                <a:solidFill>
                  <a:srgbClr val="0E2340"/>
                </a:solidFill>
                <a:latin typeface="Arial"/>
                <a:cs typeface="Arial"/>
              </a:rPr>
              <a:t>ليش</a:t>
            </a:r>
            <a:r>
              <a:rPr sz="2000" b="1" i="0" dirty="0">
                <a:solidFill>
                  <a:srgbClr val="0E2340"/>
                </a:solidFill>
                <a:latin typeface="Arial"/>
                <a:cs typeface="Arial"/>
              </a:rPr>
              <a:t> </a:t>
            </a:r>
            <a:r>
              <a:rPr sz="2000" b="1" i="0" dirty="0" err="1">
                <a:solidFill>
                  <a:srgbClr val="0E2340"/>
                </a:solidFill>
                <a:latin typeface="Arial"/>
                <a:cs typeface="Arial"/>
              </a:rPr>
              <a:t>توقفت</a:t>
            </a:r>
            <a:endParaRPr sz="2000" b="1" i="0" dirty="0">
              <a:solidFill>
                <a:srgbClr val="0E2340"/>
              </a:solidFill>
              <a:latin typeface="Arial"/>
              <a:cs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73706" y="3154680"/>
            <a:ext cx="2202103" cy="4555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ساعة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خدمة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تتوقف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لا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تعدّ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بعمى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—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تُظهر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السبب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الحقيقي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وراء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أي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تأخير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17" name="Oval 16"/>
          <p:cNvSpPr/>
          <p:nvPr/>
        </p:nvSpPr>
        <p:spPr>
          <a:xfrm>
            <a:off x="1613118" y="1883664"/>
            <a:ext cx="438912" cy="438912"/>
          </a:xfrm>
          <a:prstGeom prst="ellipse">
            <a:avLst/>
          </a:prstGeom>
          <a:solidFill>
            <a:srgbClr val="0E2340"/>
          </a:solidFill>
          <a:ln w="15875">
            <a:solidFill>
              <a:srgbClr val="C79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  <a:cs typeface="Arial"/>
              </a:rPr>
              <a:t>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3" y="2423160"/>
            <a:ext cx="2567863" cy="32461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5" y="2651760"/>
            <a:ext cx="223867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 err="1">
                <a:solidFill>
                  <a:srgbClr val="0E2340"/>
                </a:solidFill>
                <a:latin typeface="Arial"/>
                <a:cs typeface="Arial"/>
              </a:rPr>
              <a:t>مين</a:t>
            </a:r>
            <a:r>
              <a:rPr sz="2000" b="1" i="0" dirty="0">
                <a:solidFill>
                  <a:srgbClr val="0E2340"/>
                </a:solidFill>
                <a:latin typeface="Arial"/>
                <a:cs typeface="Arial"/>
              </a:rPr>
              <a:t> </a:t>
            </a:r>
            <a:r>
              <a:rPr sz="2000" b="1" i="0" dirty="0" err="1">
                <a:solidFill>
                  <a:srgbClr val="0E2340"/>
                </a:solidFill>
                <a:latin typeface="Arial"/>
                <a:cs typeface="Arial"/>
              </a:rPr>
              <a:t>يتدخل</a:t>
            </a:r>
            <a:endParaRPr sz="2000" b="1" i="0" dirty="0">
              <a:solidFill>
                <a:srgbClr val="0E2340"/>
              </a:solidFill>
              <a:latin typeface="Arial"/>
              <a:cs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3" y="3154680"/>
            <a:ext cx="2202103" cy="692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تصعيد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تلقائي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قبل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تجاوز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المدة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،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ومسار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طوارئ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منفصل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تماماً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عن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الطابور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 </a:t>
            </a:r>
            <a:r>
              <a:rPr sz="1400" b="0" i="0" dirty="0" err="1">
                <a:solidFill>
                  <a:srgbClr val="5B6472"/>
                </a:solidFill>
                <a:latin typeface="Arial"/>
                <a:cs typeface="Arial"/>
              </a:rPr>
              <a:t>العادي</a:t>
            </a:r>
            <a:r>
              <a:rPr sz="1400" b="0" i="0" dirty="0">
                <a:solidFill>
                  <a:srgbClr val="5B6472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93A3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Arial"/>
                <a:cs typeface="Arial"/>
              </a:rPr>
              <a:t>طرف الخيط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9C7726"/>
                </a:solidFill>
                <a:latin typeface="Arial"/>
                <a:cs typeface="Arial"/>
              </a:rPr>
              <a:t>فرصة السوق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392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000" b="1" i="0">
                <a:solidFill>
                  <a:srgbClr val="0E2340"/>
                </a:solidFill>
                <a:latin typeface="Arial"/>
                <a:cs typeface="Arial"/>
              </a:rPr>
              <a:t>٤٤٥ هيئة محلية، وحل واحد يخدمها كلها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8728" y="1736640"/>
            <a:ext cx="5364327" cy="3337560"/>
          </a:xfrm>
          <a:prstGeom prst="roundRect">
            <a:avLst>
              <a:gd name="adj" fmla="val 8000"/>
            </a:avLst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78728" y="1691640"/>
            <a:ext cx="5364327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53048" y="1947672"/>
            <a:ext cx="48156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9C7726"/>
                </a:solidFill>
                <a:latin typeface="Arial"/>
                <a:cs typeface="Arial"/>
              </a:rPr>
              <a:t>بلديات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048" y="2258568"/>
            <a:ext cx="4815687" cy="24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 i="0" dirty="0">
                <a:solidFill>
                  <a:srgbClr val="0E2340"/>
                </a:solidFill>
                <a:latin typeface="Arial"/>
                <a:cs typeface="Arial"/>
              </a:rPr>
              <a:t>١٦١ </a:t>
            </a:r>
            <a:r>
              <a:rPr sz="1600" b="1" i="0" dirty="0" err="1">
                <a:solidFill>
                  <a:srgbClr val="0E2340"/>
                </a:solidFill>
                <a:latin typeface="Arial"/>
                <a:cs typeface="Arial"/>
              </a:rPr>
              <a:t>بلدية</a:t>
            </a:r>
            <a:r>
              <a:rPr sz="1600" b="1" i="0" dirty="0">
                <a:solidFill>
                  <a:srgbClr val="0E2340"/>
                </a:solidFill>
                <a:latin typeface="Arial"/>
                <a:cs typeface="Arial"/>
              </a:rPr>
              <a:t> — </a:t>
            </a:r>
            <a:r>
              <a:rPr sz="1600" b="1" i="0" dirty="0" err="1">
                <a:solidFill>
                  <a:srgbClr val="0E2340"/>
                </a:solidFill>
                <a:latin typeface="Arial"/>
                <a:cs typeface="Arial"/>
              </a:rPr>
              <a:t>السوق</a:t>
            </a:r>
            <a:r>
              <a:rPr sz="1600" b="1" i="0" dirty="0">
                <a:solidFill>
                  <a:srgbClr val="0E2340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0E2340"/>
                </a:solidFill>
                <a:latin typeface="Arial"/>
                <a:cs typeface="Arial"/>
              </a:rPr>
              <a:t>المباشر</a:t>
            </a:r>
            <a:r>
              <a:rPr sz="1600" b="1" i="0" dirty="0">
                <a:solidFill>
                  <a:srgbClr val="0E2340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0E2340"/>
                </a:solidFill>
                <a:latin typeface="Arial"/>
                <a:cs typeface="Arial"/>
              </a:rPr>
              <a:t>لنموذج</a:t>
            </a:r>
            <a:r>
              <a:rPr sz="1600" b="1" i="0" dirty="0">
                <a:solidFill>
                  <a:srgbClr val="0E2340"/>
                </a:solidFill>
                <a:latin typeface="Arial"/>
                <a:cs typeface="Arial"/>
              </a:rPr>
              <a:t> </a:t>
            </a:r>
            <a:r>
              <a:rPr sz="1600" b="1" i="0" dirty="0" smtClean="0">
                <a:solidFill>
                  <a:srgbClr val="0E2340"/>
                </a:solidFill>
                <a:latin typeface="Arial"/>
                <a:cs typeface="Arial"/>
              </a:rPr>
              <a:t>B2G</a:t>
            </a:r>
            <a:endParaRPr sz="1600" b="1" i="0" dirty="0">
              <a:solidFill>
                <a:srgbClr val="0E2340"/>
              </a:solidFill>
              <a:latin typeface="Arial"/>
              <a:cs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53048" y="3063240"/>
            <a:ext cx="4815687" cy="5663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الجهة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صاحبة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قرار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التعاقد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والميزانية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،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وأكثرها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تعقيداً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بعدد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الدوائر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والمعاملات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—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الشريحة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المستهدفة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أولاً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باشتراك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سنوي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B2G.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8" y="4572000"/>
            <a:ext cx="48156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1">
                <a:solidFill>
                  <a:srgbClr val="8A93A3"/>
                </a:solidFill>
                <a:latin typeface="Arial"/>
                <a:cs typeface="Arial"/>
              </a:rPr>
              <a:t>المصدر: وزارة الحكم المحلي الفلسطينية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8640" y="1736640"/>
            <a:ext cx="5364327" cy="3337560"/>
          </a:xfrm>
          <a:prstGeom prst="roundRect">
            <a:avLst>
              <a:gd name="adj" fmla="val 8000"/>
            </a:avLst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5364327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1947672"/>
            <a:ext cx="48156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9C7726"/>
                </a:solidFill>
                <a:latin typeface="Arial"/>
                <a:cs typeface="Arial"/>
              </a:rPr>
              <a:t>مجالس محلية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58568"/>
            <a:ext cx="4815687" cy="24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 i="0" dirty="0">
                <a:solidFill>
                  <a:srgbClr val="0E2340"/>
                </a:solidFill>
                <a:latin typeface="Arial"/>
                <a:cs typeface="Arial"/>
              </a:rPr>
              <a:t>٢٨٤ </a:t>
            </a:r>
            <a:r>
              <a:rPr sz="1600" b="1" i="0" dirty="0" err="1">
                <a:solidFill>
                  <a:srgbClr val="0E2340"/>
                </a:solidFill>
                <a:latin typeface="Arial"/>
                <a:cs typeface="Arial"/>
              </a:rPr>
              <a:t>مجلس</a:t>
            </a:r>
            <a:r>
              <a:rPr sz="1600" b="1" i="0" dirty="0">
                <a:solidFill>
                  <a:srgbClr val="0E2340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0E2340"/>
                </a:solidFill>
                <a:latin typeface="Arial"/>
                <a:cs typeface="Arial"/>
              </a:rPr>
              <a:t>محلي</a:t>
            </a:r>
            <a:r>
              <a:rPr sz="1600" b="1" i="0" dirty="0">
                <a:solidFill>
                  <a:srgbClr val="0E2340"/>
                </a:solidFill>
                <a:latin typeface="Arial"/>
                <a:cs typeface="Arial"/>
              </a:rPr>
              <a:t> — </a:t>
            </a:r>
            <a:r>
              <a:rPr sz="1600" b="1" i="0" dirty="0" err="1">
                <a:solidFill>
                  <a:srgbClr val="0E2340"/>
                </a:solidFill>
                <a:latin typeface="Arial"/>
                <a:cs typeface="Arial"/>
              </a:rPr>
              <a:t>مسار</a:t>
            </a:r>
            <a:r>
              <a:rPr sz="1600" b="1" i="0" dirty="0">
                <a:solidFill>
                  <a:srgbClr val="0E2340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0E2340"/>
                </a:solidFill>
                <a:latin typeface="Arial"/>
                <a:cs typeface="Arial"/>
              </a:rPr>
              <a:t>التوسّع</a:t>
            </a:r>
            <a:r>
              <a:rPr sz="1600" b="1" i="0" dirty="0">
                <a:solidFill>
                  <a:srgbClr val="0E2340"/>
                </a:solidFill>
                <a:latin typeface="Arial"/>
                <a:cs typeface="Arial"/>
              </a:rPr>
              <a:t> </a:t>
            </a:r>
            <a:r>
              <a:rPr sz="1600" b="1" i="0" dirty="0" err="1">
                <a:solidFill>
                  <a:srgbClr val="0E2340"/>
                </a:solidFill>
                <a:latin typeface="Arial"/>
                <a:cs typeface="Arial"/>
              </a:rPr>
              <a:t>الطبيعي</a:t>
            </a:r>
            <a:endParaRPr sz="1600" b="1" i="0" dirty="0">
              <a:solidFill>
                <a:srgbClr val="0E2340"/>
              </a:solidFill>
              <a:latin typeface="Arial"/>
              <a:cs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4815687" cy="542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نفس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منطق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التتبع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والتصعيد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ينطبق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عليها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بمعاملات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أبسط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—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بوابة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نمو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طبيعية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بعد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إثبات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النموذج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على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مستوى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 </a:t>
            </a:r>
            <a:r>
              <a:rPr sz="1600" b="0" i="0" dirty="0" err="1">
                <a:solidFill>
                  <a:srgbClr val="1D2433"/>
                </a:solidFill>
                <a:latin typeface="Arial"/>
                <a:cs typeface="Arial"/>
              </a:rPr>
              <a:t>البلديات</a:t>
            </a:r>
            <a:r>
              <a:rPr sz="1600" b="0" i="0" dirty="0">
                <a:solidFill>
                  <a:srgbClr val="1D2433"/>
                </a:solidFill>
                <a:latin typeface="Arial"/>
                <a:cs typeface="Arial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4815687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0" i="1">
                <a:solidFill>
                  <a:srgbClr val="8A93A3"/>
                </a:solidFill>
                <a:latin typeface="Arial"/>
                <a:cs typeface="Arial"/>
              </a:rPr>
              <a:t>المصدر: وزارة الحكم المحلي الفلسطينية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57800"/>
            <a:ext cx="11094415" cy="548640"/>
          </a:xfrm>
          <a:prstGeom prst="roundRect">
            <a:avLst>
              <a:gd name="adj" fmla="val 15000"/>
            </a:avLst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1054577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50" b="1" i="0">
                <a:solidFill>
                  <a:srgbClr val="E7C476"/>
                </a:solidFill>
                <a:latin typeface="Arial"/>
                <a:cs typeface="Arial"/>
              </a:rPr>
              <a:t>٤٤٥ هيئة محلية تدير معاملاتها اليوم بأنظمة قائمة كنظام الغسان وحكومتي — طرف الخيط يُبنى فوقها لا بدلاً عنها، فالتبني بلا هجرة بيانات ولا كلفة استبدال.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93A3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Arial"/>
                <a:cs typeface="Arial"/>
              </a:rPr>
              <a:t>طرف الخيط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9C7726"/>
                </a:solidFill>
                <a:latin typeface="Arial"/>
                <a:cs typeface="Arial"/>
              </a:rPr>
              <a:t>نموذج العمل وخارطة الطريق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392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000" b="1" i="0">
                <a:solidFill>
                  <a:srgbClr val="0E2340"/>
                </a:solidFill>
                <a:latin typeface="Arial"/>
                <a:cs typeface="Arial"/>
              </a:rPr>
              <a:t>استدامة مالية واضحة، وتوسّع تدريجي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94415" cy="1234440"/>
          </a:xfrm>
          <a:prstGeom prst="roundRect">
            <a:avLst>
              <a:gd name="adj" fmla="val 7000"/>
            </a:avLst>
          </a:prstGeom>
          <a:solidFill>
            <a:srgbClr val="0E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96935" y="1874519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E7C476"/>
                </a:solidFill>
                <a:latin typeface="Arial"/>
                <a:cs typeface="Arial"/>
              </a:rPr>
              <a:t>نموذج العمل: B2G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12848"/>
            <a:ext cx="1045433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D7DEEA"/>
                </a:solidFill>
                <a:latin typeface="Arial"/>
                <a:cs typeface="Arial"/>
              </a:rPr>
              <a:t>اشتراك سنوي للبلدية يُحتسب حسب عدد الخدمات المفعّلة، بالإضافة إلى رسوم تفعيل أولى لمرة واحدة عند الانضمام. المنصة تُبنى فوق الأنظمة القائمة — بلا تكلفة استبدال، وبلا تعطيل لأي خدمة تعمل حالياً.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>
                <a:solidFill>
                  <a:srgbClr val="0E2340"/>
                </a:solidFill>
                <a:latin typeface="Arial"/>
                <a:cs typeface="Arial"/>
              </a:rPr>
              <a:t>خارطة الطريق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91029" y="3886200"/>
            <a:ext cx="7609637" cy="0"/>
          </a:xfrm>
          <a:prstGeom prst="line">
            <a:avLst/>
          </a:prstGeom>
          <a:ln w="22225">
            <a:solidFill>
              <a:srgbClr val="C79A3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699498" y="3685032"/>
            <a:ext cx="402336" cy="402336"/>
          </a:xfrm>
          <a:prstGeom prst="ellipse">
            <a:avLst/>
          </a:prstGeom>
          <a:solidFill>
            <a:srgbClr val="C79A3F"/>
          </a:solidFill>
          <a:ln w="15875">
            <a:solidFill>
              <a:srgbClr val="C79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 i="0">
                <a:solidFill>
                  <a:srgbClr val="0E2340"/>
                </a:solidFill>
                <a:latin typeface="Arial"/>
                <a:cs typeface="Arial"/>
              </a:rPr>
              <a:t>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8277" y="4142232"/>
            <a:ext cx="3484778" cy="16916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41157" y="4343400"/>
            <a:ext cx="311901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0E2340"/>
                </a:solidFill>
                <a:latin typeface="Arial"/>
                <a:cs typeface="Arial"/>
              </a:rPr>
              <a:t>الآن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9445" y="4727448"/>
            <a:ext cx="308244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Arial"/>
                <a:cs typeface="Arial"/>
              </a:rPr>
              <a:t>نموذج أولي متكامل — ثلاث واجهات فعلية (مواطن، موظف، بلدية) وخمس خدمات مُهيّأة، بمنطق تتبع وتصعيد حقيقي.</a:t>
            </a:r>
          </a:p>
        </p:txBody>
      </p:sp>
      <p:sp>
        <p:nvSpPr>
          <p:cNvPr id="13" name="Oval 12"/>
          <p:cNvSpPr/>
          <p:nvPr/>
        </p:nvSpPr>
        <p:spPr>
          <a:xfrm>
            <a:off x="5894680" y="36850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9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 i="0">
                <a:solidFill>
                  <a:srgbClr val="9C7726"/>
                </a:solidFill>
                <a:latin typeface="Arial"/>
                <a:cs typeface="Arial"/>
              </a:rPr>
              <a:t>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3459" y="4142232"/>
            <a:ext cx="3484778" cy="16916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6339" y="4343400"/>
            <a:ext cx="311901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0E2340"/>
                </a:solidFill>
                <a:latin typeface="Arial"/>
                <a:cs typeface="Arial"/>
              </a:rPr>
              <a:t>المرحلة القادمة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4627" y="4727448"/>
            <a:ext cx="308244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Arial"/>
                <a:cs typeface="Arial"/>
              </a:rPr>
              <a:t>شراكة تجريبية مع بلدية واحدة على خدمة حقيقية واحدة، لقياس الأثر قبل التوسّع.</a:t>
            </a:r>
          </a:p>
        </p:txBody>
      </p:sp>
      <p:sp>
        <p:nvSpPr>
          <p:cNvPr id="17" name="Oval 16"/>
          <p:cNvSpPr/>
          <p:nvPr/>
        </p:nvSpPr>
        <p:spPr>
          <a:xfrm>
            <a:off x="2089862" y="3685032"/>
            <a:ext cx="402336" cy="40233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9A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 i="0">
                <a:solidFill>
                  <a:srgbClr val="9C7726"/>
                </a:solidFill>
                <a:latin typeface="Arial"/>
                <a:cs typeface="Arial"/>
              </a:rPr>
              <a:t>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1" y="4142232"/>
            <a:ext cx="3484778" cy="169164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1" y="4343400"/>
            <a:ext cx="311901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0E2340"/>
                </a:solidFill>
                <a:latin typeface="Arial"/>
                <a:cs typeface="Arial"/>
              </a:rPr>
              <a:t>الرؤية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9" y="4727448"/>
            <a:ext cx="308244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0" i="0">
                <a:solidFill>
                  <a:srgbClr val="5B6472"/>
                </a:solidFill>
                <a:latin typeface="Arial"/>
                <a:cs typeface="Arial"/>
              </a:rPr>
              <a:t>طبقة تشغيلية وطنية تعمل تحت حكومتي، متاحة لأي بلدية فلسطينية تريد الانضمام.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93A3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Arial"/>
                <a:cs typeface="Arial"/>
              </a:rPr>
              <a:t>طرف الخيط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9C7726"/>
                </a:solidFill>
                <a:latin typeface="Arial"/>
                <a:cs typeface="Arial"/>
              </a:rPr>
              <a:t>أين نتميّز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392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000" b="1" i="0">
                <a:solidFill>
                  <a:srgbClr val="0E2340"/>
                </a:solidFill>
                <a:latin typeface="Arial"/>
                <a:cs typeface="Arial"/>
              </a:rPr>
              <a:t>لا أحد يبني طبقة المسؤولية الداخلية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927252"/>
              </p:ext>
            </p:extLst>
          </p:nvPr>
        </p:nvGraphicFramePr>
        <p:xfrm>
          <a:off x="2553946" y="1828800"/>
          <a:ext cx="7083801" cy="399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4867"/>
                <a:gridCol w="2279467"/>
                <a:gridCol w="2279467"/>
              </a:tblGrid>
              <a:tr h="708068">
                <a:tc>
                  <a:txBody>
                    <a:bodyPr/>
                    <a:lstStyle/>
                    <a:p>
                      <a:pPr algn="ctr"/>
                      <a:r>
                        <a:rPr sz="1450" b="1" i="0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الخدمات</a:t>
                      </a:r>
                      <a:r>
                        <a:rPr sz="145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b="1" i="0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البلدية</a:t>
                      </a:r>
                      <a:r>
                        <a:rPr sz="145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b="1" i="0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الحالية</a:t>
                      </a:r>
                      <a:endParaRPr sz="1450" b="1" i="0" dirty="0">
                        <a:solidFill>
                          <a:srgbClr val="FFFFFF"/>
                        </a:solidFill>
                        <a:latin typeface="Arial"/>
                        <a:cs typeface="Arial"/>
                      </a:endParaRPr>
                    </a:p>
                  </a:txBody>
                  <a:tcPr marL="109728" marR="109728" marT="36576" marB="36576" anchor="ctr"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طرف</a:t>
                      </a:r>
                      <a:r>
                        <a:rPr sz="145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50" b="1" i="0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الخيط</a:t>
                      </a:r>
                      <a:endParaRPr sz="1450" b="1" i="0" dirty="0">
                        <a:solidFill>
                          <a:srgbClr val="FFFFFF"/>
                        </a:solidFill>
                        <a:latin typeface="Arial"/>
                        <a:cs typeface="Arial"/>
                      </a:endParaRPr>
                    </a:p>
                  </a:txBody>
                  <a:tcPr marL="109728" marR="109728" marT="36576" marB="36576" anchor="ctr">
                    <a:solidFill>
                      <a:srgbClr val="0E23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 i="0" dirty="0" err="1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المعيار</a:t>
                      </a:r>
                      <a:endParaRPr sz="1450" b="1" i="0" dirty="0">
                        <a:solidFill>
                          <a:srgbClr val="FFFFFF"/>
                        </a:solidFill>
                        <a:latin typeface="Arial"/>
                        <a:cs typeface="Arial"/>
                      </a:endParaRPr>
                    </a:p>
                  </a:txBody>
                  <a:tcPr marL="109728" marR="109728" marT="36576" marB="36576" anchor="ctr">
                    <a:solidFill>
                      <a:srgbClr val="0E2340"/>
                    </a:solidFill>
                  </a:tcPr>
                </a:tc>
              </a:tr>
              <a:tr h="547572"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1E7B4D"/>
                          </a:solidFill>
                          <a:latin typeface="Arial"/>
                          <a:cs typeface="Arial"/>
                        </a:rPr>
                        <a:t>✓</a:t>
                      </a:r>
                    </a:p>
                  </a:txBody>
                  <a:tcPr marL="109728" marR="109728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dirty="0">
                          <a:solidFill>
                            <a:srgbClr val="9C7726"/>
                          </a:solidFill>
                          <a:latin typeface="Arial"/>
                          <a:cs typeface="Arial"/>
                        </a:rPr>
                        <a:t>✓</a:t>
                      </a:r>
                    </a:p>
                  </a:txBody>
                  <a:tcPr marL="109728" marR="109728" marT="36576" marB="36576" anchor="ctr"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كتالوج</a:t>
                      </a:r>
                      <a:r>
                        <a:rPr sz="1350" b="0" i="0" dirty="0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خدمات</a:t>
                      </a:r>
                      <a:r>
                        <a:rPr sz="1350" b="0" i="0" dirty="0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إلكتروني</a:t>
                      </a:r>
                      <a:endParaRPr sz="1350" b="0" i="0" dirty="0">
                        <a:solidFill>
                          <a:srgbClr val="1D2433"/>
                        </a:solidFill>
                        <a:latin typeface="Arial"/>
                        <a:cs typeface="Arial"/>
                      </a:endParaRPr>
                    </a:p>
                  </a:txBody>
                  <a:tcPr marL="109728" marR="109728" marT="36576" marB="36576" anchor="ctr">
                    <a:solidFill>
                      <a:srgbClr val="FBF6EA"/>
                    </a:solidFill>
                  </a:tcPr>
                </a:tc>
              </a:tr>
              <a:tr h="547572">
                <a:tc>
                  <a:txBody>
                    <a:bodyPr/>
                    <a:lstStyle/>
                    <a:p>
                      <a:pPr algn="ctr"/>
                      <a:r>
                        <a:rPr sz="1350" b="0" i="0" dirty="0">
                          <a:solidFill>
                            <a:srgbClr val="B3261E"/>
                          </a:solidFill>
                          <a:latin typeface="Arial"/>
                          <a:cs typeface="Arial"/>
                        </a:rPr>
                        <a:t>✗ 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dirty="0">
                          <a:solidFill>
                            <a:srgbClr val="9C7726"/>
                          </a:solidFill>
                          <a:latin typeface="Arial"/>
                          <a:cs typeface="Arial"/>
                        </a:rPr>
                        <a:t>✓</a:t>
                      </a:r>
                    </a:p>
                  </a:txBody>
                  <a:tcPr marL="109728" marR="109728" marT="36576" marB="36576" anchor="ctr"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تتبع</a:t>
                      </a:r>
                      <a:r>
                        <a:rPr sz="1350" b="0" i="0" dirty="0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حي</a:t>
                      </a:r>
                      <a:r>
                        <a:rPr sz="1350" b="0" i="0" dirty="0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لحالة</a:t>
                      </a:r>
                      <a:r>
                        <a:rPr sz="1350" b="0" i="0" dirty="0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الطلب</a:t>
                      </a:r>
                      <a:endParaRPr sz="1350" b="0" i="0" dirty="0">
                        <a:solidFill>
                          <a:srgbClr val="1D2433"/>
                        </a:solidFill>
                        <a:latin typeface="Arial"/>
                        <a:cs typeface="Arial"/>
                      </a:endParaRPr>
                    </a:p>
                  </a:txBody>
                  <a:tcPr marL="109728" marR="109728" marT="36576" marB="36576" anchor="ctr">
                    <a:solidFill>
                      <a:srgbClr val="FBF6EA"/>
                    </a:solidFill>
                  </a:tcPr>
                </a:tc>
              </a:tr>
              <a:tr h="547572"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B3261E"/>
                          </a:solidFill>
                          <a:latin typeface="Arial"/>
                          <a:cs typeface="Arial"/>
                        </a:rPr>
                        <a:t>✗</a:t>
                      </a:r>
                    </a:p>
                  </a:txBody>
                  <a:tcPr marL="109728" marR="109728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dirty="0">
                          <a:solidFill>
                            <a:srgbClr val="9C7726"/>
                          </a:solidFill>
                          <a:latin typeface="Arial"/>
                          <a:cs typeface="Arial"/>
                        </a:rPr>
                        <a:t>✓</a:t>
                      </a:r>
                    </a:p>
                  </a:txBody>
                  <a:tcPr marL="109728" marR="109728" marT="36576" marB="36576" anchor="ctr"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مالك</a:t>
                      </a:r>
                      <a:r>
                        <a:rPr sz="1350" b="0" i="0" dirty="0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واضح</a:t>
                      </a:r>
                      <a:r>
                        <a:rPr sz="1350" b="0" i="0" dirty="0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للمعاملة</a:t>
                      </a:r>
                      <a:endParaRPr sz="1350" b="0" i="0" dirty="0">
                        <a:solidFill>
                          <a:srgbClr val="1D2433"/>
                        </a:solidFill>
                        <a:latin typeface="Arial"/>
                        <a:cs typeface="Arial"/>
                      </a:endParaRPr>
                    </a:p>
                  </a:txBody>
                  <a:tcPr marL="109728" marR="109728" marT="36576" marB="36576" anchor="ctr">
                    <a:solidFill>
                      <a:srgbClr val="FBF6EA"/>
                    </a:solidFill>
                  </a:tcPr>
                </a:tc>
              </a:tr>
              <a:tr h="547572"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B3261E"/>
                          </a:solidFill>
                          <a:latin typeface="Arial"/>
                          <a:cs typeface="Arial"/>
                        </a:rPr>
                        <a:t>✗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dirty="0">
                          <a:solidFill>
                            <a:srgbClr val="9C7726"/>
                          </a:solidFill>
                          <a:latin typeface="Arial"/>
                          <a:cs typeface="Arial"/>
                        </a:rPr>
                        <a:t>✓</a:t>
                      </a:r>
                    </a:p>
                  </a:txBody>
                  <a:tcPr marL="109728" marR="109728" marT="36576" marB="36576" anchor="ctr"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السبب</a:t>
                      </a:r>
                      <a:r>
                        <a:rPr sz="1350" b="0" i="0" dirty="0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الحقيقي</a:t>
                      </a:r>
                      <a:r>
                        <a:rPr sz="1350" b="0" i="0" dirty="0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للتأخير</a:t>
                      </a:r>
                      <a:endParaRPr sz="1350" b="0" i="0" dirty="0">
                        <a:solidFill>
                          <a:srgbClr val="1D2433"/>
                        </a:solidFill>
                        <a:latin typeface="Arial"/>
                        <a:cs typeface="Arial"/>
                      </a:endParaRPr>
                    </a:p>
                  </a:txBody>
                  <a:tcPr marL="109728" marR="109728" marT="36576" marB="36576" anchor="ctr">
                    <a:solidFill>
                      <a:srgbClr val="FBF6EA"/>
                    </a:solidFill>
                  </a:tcPr>
                </a:tc>
              </a:tr>
              <a:tr h="547572"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B3261E"/>
                          </a:solidFill>
                          <a:latin typeface="Arial"/>
                          <a:cs typeface="Arial"/>
                        </a:rPr>
                        <a:t>✗</a:t>
                      </a:r>
                    </a:p>
                  </a:txBody>
                  <a:tcPr marL="109728" marR="109728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dirty="0">
                          <a:solidFill>
                            <a:srgbClr val="9C7726"/>
                          </a:solidFill>
                          <a:latin typeface="Arial"/>
                          <a:cs typeface="Arial"/>
                        </a:rPr>
                        <a:t>✓</a:t>
                      </a:r>
                    </a:p>
                  </a:txBody>
                  <a:tcPr marL="109728" marR="109728" marT="36576" marB="36576" anchor="ctr"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مسار</a:t>
                      </a:r>
                      <a:r>
                        <a:rPr sz="1350" b="0" i="0" dirty="0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طوارئ</a:t>
                      </a:r>
                      <a:r>
                        <a:rPr sz="1350" b="0" i="0" dirty="0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منفصل</a:t>
                      </a:r>
                      <a:r>
                        <a:rPr sz="1350" b="0" i="0" dirty="0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تماماً</a:t>
                      </a:r>
                      <a:endParaRPr sz="1350" b="0" i="0" dirty="0">
                        <a:solidFill>
                          <a:srgbClr val="1D2433"/>
                        </a:solidFill>
                        <a:latin typeface="Arial"/>
                        <a:cs typeface="Arial"/>
                      </a:endParaRPr>
                    </a:p>
                  </a:txBody>
                  <a:tcPr marL="109728" marR="109728" marT="36576" marB="36576" anchor="ctr">
                    <a:solidFill>
                      <a:srgbClr val="FBF6EA"/>
                    </a:solidFill>
                  </a:tcPr>
                </a:tc>
              </a:tr>
              <a:tr h="547572">
                <a:tc>
                  <a:txBody>
                    <a:bodyPr/>
                    <a:lstStyle/>
                    <a:p>
                      <a:pPr algn="ctr"/>
                      <a:r>
                        <a:rPr sz="1350" b="0" i="0">
                          <a:solidFill>
                            <a:srgbClr val="B3261E"/>
                          </a:solidFill>
                          <a:latin typeface="Arial"/>
                          <a:cs typeface="Arial"/>
                        </a:rPr>
                        <a:t>✗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dirty="0">
                          <a:solidFill>
                            <a:srgbClr val="9C7726"/>
                          </a:solidFill>
                          <a:latin typeface="Arial"/>
                          <a:cs typeface="Arial"/>
                        </a:rPr>
                        <a:t>✓</a:t>
                      </a:r>
                    </a:p>
                  </a:txBody>
                  <a:tcPr marL="109728" marR="109728" marT="36576" marB="36576" anchor="ctr">
                    <a:solidFill>
                      <a:srgbClr val="FBF6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أي</a:t>
                      </a:r>
                      <a:r>
                        <a:rPr sz="1350" b="0" i="0" dirty="0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بلدية</a:t>
                      </a:r>
                      <a:r>
                        <a:rPr sz="1350" b="0" i="0" dirty="0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تضيف</a:t>
                      </a:r>
                      <a:r>
                        <a:rPr sz="1350" b="0" i="0" dirty="0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خدماتها</a:t>
                      </a:r>
                      <a:r>
                        <a:rPr sz="1350" b="0" i="0" dirty="0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350" b="0" i="0" dirty="0" err="1">
                          <a:solidFill>
                            <a:srgbClr val="1D2433"/>
                          </a:solidFill>
                          <a:latin typeface="Arial"/>
                          <a:cs typeface="Arial"/>
                        </a:rPr>
                        <a:t>بنفسها</a:t>
                      </a:r>
                      <a:endParaRPr sz="1350" b="0" i="0" dirty="0">
                        <a:solidFill>
                          <a:srgbClr val="1D2433"/>
                        </a:solidFill>
                        <a:latin typeface="Arial"/>
                        <a:cs typeface="Arial"/>
                      </a:endParaRPr>
                    </a:p>
                  </a:txBody>
                  <a:tcPr marL="109728" marR="109728" marT="36576" marB="36576" anchor="ctr">
                    <a:solidFill>
                      <a:srgbClr val="FBF6E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93A3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Arial"/>
                <a:cs typeface="Arial"/>
              </a:rPr>
              <a:t>طرف الخيط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E7C476"/>
                </a:solidFill>
                <a:latin typeface="Arial"/>
                <a:cs typeface="Arial"/>
              </a:rPr>
              <a:t>الإنجاز والأثر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392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000" b="1" i="0">
                <a:solidFill>
                  <a:srgbClr val="FFFFFF"/>
                </a:solidFill>
                <a:latin typeface="Arial"/>
                <a:cs typeface="Arial"/>
              </a:rPr>
              <a:t>مبني، لا مُتخيَّل فقط</a:t>
            </a:r>
          </a:p>
        </p:txBody>
      </p:sp>
      <p:pic>
        <p:nvPicPr>
          <p:cNvPr id="60" name="Shot Citiz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6836" y="1737360"/>
            <a:ext cx="3576218" cy="2298711"/>
          </a:xfrm>
          <a:prstGeom prst="roundRect">
            <a:avLst>
              <a:gd name="adj" fmla="val 3500"/>
            </a:avLst>
          </a:prstGeom>
          <a:ln w="12700">
            <a:solidFill>
              <a:srgbClr val="DDE1E8"/>
            </a:solidFill>
          </a:ln>
        </p:spPr>
      </p:pic>
      <p:pic>
        <p:nvPicPr>
          <p:cNvPr id="61" name="Shot Adm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738" y="1737360"/>
            <a:ext cx="3576218" cy="2298711"/>
          </a:xfrm>
          <a:prstGeom prst="roundRect">
            <a:avLst>
              <a:gd name="adj" fmla="val 3500"/>
            </a:avLst>
          </a:prstGeom>
          <a:ln w="12700">
            <a:solidFill>
              <a:srgbClr val="DDE1E8"/>
            </a:solidFill>
          </a:ln>
        </p:spPr>
      </p:pic>
      <p:pic>
        <p:nvPicPr>
          <p:cNvPr id="62" name="Shot Report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737360"/>
            <a:ext cx="3576218" cy="2298711"/>
          </a:xfrm>
          <a:prstGeom prst="roundRect">
            <a:avLst>
              <a:gd name="adj" fmla="val 3500"/>
            </a:avLst>
          </a:prstGeom>
          <a:ln w="12700">
            <a:solidFill>
              <a:srgbClr val="DDE1E8"/>
            </a:solidFill>
          </a:ln>
        </p:spPr>
      </p:pic>
      <p:sp>
        <p:nvSpPr>
          <p:cNvPr id="63" name="Caption"/>
          <p:cNvSpPr txBox="1"/>
          <p:nvPr/>
        </p:nvSpPr>
        <p:spPr>
          <a:xfrm>
            <a:off x="8066836" y="4090071"/>
            <a:ext cx="357621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  <a:cs typeface="Arial"/>
              </a:rPr>
              <a:t>واجهة المواطن — تتبّع حي للطلبات</a:t>
            </a:r>
          </a:p>
        </p:txBody>
      </p:sp>
      <p:sp>
        <p:nvSpPr>
          <p:cNvPr id="64" name="Caption"/>
          <p:cNvSpPr txBox="1"/>
          <p:nvPr/>
        </p:nvSpPr>
        <p:spPr>
          <a:xfrm>
            <a:off x="4307738" y="4090071"/>
            <a:ext cx="357621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  <a:cs typeface="Arial"/>
              </a:rPr>
              <a:t>إدارة الخدمات — اعتماد مزدوج موثّق</a:t>
            </a:r>
          </a:p>
        </p:txBody>
      </p:sp>
      <p:sp>
        <p:nvSpPr>
          <p:cNvPr id="65" name="Caption"/>
          <p:cNvSpPr txBox="1"/>
          <p:nvPr/>
        </p:nvSpPr>
        <p:spPr>
          <a:xfrm>
            <a:off x="548640" y="4090071"/>
            <a:ext cx="357621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  <a:cs typeface="Arial"/>
              </a:rPr>
              <a:t>لوحة التقارير — أداء الدوائر والخدمات</a:t>
            </a:r>
          </a:p>
        </p:txBody>
      </p:sp>
      <p:sp>
        <p:nvSpPr>
          <p:cNvPr id="66" name="Gov Line"/>
          <p:cNvSpPr txBox="1"/>
          <p:nvPr/>
        </p:nvSpPr>
        <p:spPr>
          <a:xfrm>
            <a:off x="548640" y="4500111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50" b="0" i="0">
                <a:solidFill>
                  <a:srgbClr val="AEB9CC"/>
                </a:solidFill>
                <a:latin typeface="Arial"/>
                <a:cs typeface="Arial"/>
              </a:rPr>
              <a:t>الاعتماد المزدوج (مدير البلدية + رئيس البلدية) ولوحة التقارير الإدارية — أجزاء فعلية شغّالة بالبروتوتايب، لا مجرد فكرة على الورق.</a:t>
            </a:r>
          </a:p>
        </p:txBody>
      </p:sp>
      <p:sp>
        <p:nvSpPr>
          <p:cNvPr id="67" name="Close Line"/>
          <p:cNvSpPr txBox="1"/>
          <p:nvPr/>
        </p:nvSpPr>
        <p:spPr>
          <a:xfrm>
            <a:off x="548640" y="4957311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E7C476"/>
                </a:solidFill>
                <a:latin typeface="Arial"/>
                <a:cs typeface="Arial"/>
              </a:rPr>
              <a:t>بروتوتايب تفاعلي كامل — ثلاث واجهات فعلية تعمل على نفس البيانات لحظياً، لا مجرد تصاميم ثابتة.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E7C93"/>
                </a:solidFill>
                <a:latin typeface="Arial"/>
                <a:cs typeface="Arial"/>
              </a:rPr>
              <a:t>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E7C93"/>
                </a:solidFill>
                <a:latin typeface="Arial"/>
                <a:cs typeface="Arial"/>
              </a:rPr>
              <a:t>طرف الخيط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0292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 i="0">
                <a:solidFill>
                  <a:srgbClr val="9C7726"/>
                </a:solidFill>
                <a:latin typeface="Arial"/>
                <a:cs typeface="Arial"/>
              </a:rPr>
              <a:t>مصمّم للجميع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392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3000" b="1" i="0">
                <a:solidFill>
                  <a:srgbClr val="0E2340"/>
                </a:solidFill>
                <a:latin typeface="Arial"/>
                <a:cs typeface="Arial"/>
              </a:rPr>
              <a:t>الشمولية ومسار الطوارئ ليسا إضافة، بل أساس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1588" y="1828800"/>
            <a:ext cx="5341467" cy="39319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75908" y="2057400"/>
            <a:ext cx="47928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0E2340"/>
                </a:solidFill>
                <a:latin typeface="Arial"/>
                <a:cs typeface="Arial"/>
              </a:rPr>
              <a:t>الشمولية</a:t>
            </a:r>
          </a:p>
        </p:txBody>
      </p:sp>
      <p:sp>
        <p:nvSpPr>
          <p:cNvPr id="6" name="Oval 5"/>
          <p:cNvSpPr/>
          <p:nvPr/>
        </p:nvSpPr>
        <p:spPr>
          <a:xfrm>
            <a:off x="11167567" y="2697480"/>
            <a:ext cx="201168" cy="201168"/>
          </a:xfrm>
          <a:prstGeom prst="ellipse">
            <a:avLst/>
          </a:prstGeom>
          <a:solidFill>
            <a:srgbClr val="0E2340"/>
          </a:solidFill>
          <a:ln w="15875">
            <a:solidFill>
              <a:srgbClr val="0E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75908" y="2596896"/>
            <a:ext cx="446364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>
                <a:solidFill>
                  <a:srgbClr val="0E2340"/>
                </a:solidFill>
                <a:latin typeface="Arial"/>
                <a:cs typeface="Arial"/>
              </a:rPr>
              <a:t>متابعة عن بُعد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5908" y="2889504"/>
            <a:ext cx="446364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5B6472"/>
                </a:solidFill>
                <a:latin typeface="Arial"/>
                <a:cs typeface="Arial"/>
              </a:rPr>
              <a:t>بدل الحضور الإلزامي — فيديو أو زيارة ميدانية لذوي الإعاقة وكبار السن</a:t>
            </a:r>
          </a:p>
        </p:txBody>
      </p:sp>
      <p:sp>
        <p:nvSpPr>
          <p:cNvPr id="9" name="Oval 8"/>
          <p:cNvSpPr/>
          <p:nvPr/>
        </p:nvSpPr>
        <p:spPr>
          <a:xfrm>
            <a:off x="11167567" y="3474720"/>
            <a:ext cx="201168" cy="201168"/>
          </a:xfrm>
          <a:prstGeom prst="ellipse">
            <a:avLst/>
          </a:prstGeom>
          <a:solidFill>
            <a:srgbClr val="0E2340"/>
          </a:solidFill>
          <a:ln w="15875">
            <a:solidFill>
              <a:srgbClr val="0E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75908" y="3374136"/>
            <a:ext cx="446364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>
                <a:solidFill>
                  <a:srgbClr val="0E2340"/>
                </a:solidFill>
                <a:latin typeface="Arial"/>
                <a:cs typeface="Arial"/>
              </a:rPr>
              <a:t>توافق قارئ الشاشة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5908" y="3666744"/>
            <a:ext cx="446364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5B6472"/>
                </a:solidFill>
                <a:latin typeface="Arial"/>
                <a:cs typeface="Arial"/>
              </a:rPr>
              <a:t>وتباين لوني عالٍ لضعاف البصر</a:t>
            </a:r>
          </a:p>
        </p:txBody>
      </p:sp>
      <p:sp>
        <p:nvSpPr>
          <p:cNvPr id="12" name="Oval 11"/>
          <p:cNvSpPr/>
          <p:nvPr/>
        </p:nvSpPr>
        <p:spPr>
          <a:xfrm>
            <a:off x="11167567" y="4251960"/>
            <a:ext cx="201168" cy="201168"/>
          </a:xfrm>
          <a:prstGeom prst="ellipse">
            <a:avLst/>
          </a:prstGeom>
          <a:solidFill>
            <a:srgbClr val="0E2340"/>
          </a:solidFill>
          <a:ln w="15875">
            <a:solidFill>
              <a:srgbClr val="0E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75908" y="4151376"/>
            <a:ext cx="446364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>
                <a:solidFill>
                  <a:srgbClr val="0E2340"/>
                </a:solidFill>
                <a:latin typeface="Arial"/>
                <a:cs typeface="Arial"/>
              </a:rPr>
              <a:t>وضع مبسّط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5908" y="4443984"/>
            <a:ext cx="446364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5B6472"/>
                </a:solidFill>
                <a:latin typeface="Arial"/>
                <a:cs typeface="Arial"/>
              </a:rPr>
              <a:t>خطوة واحدة بالمرة لكبار السن وذوي الإعاقة الذهنية</a:t>
            </a:r>
          </a:p>
        </p:txBody>
      </p:sp>
      <p:sp>
        <p:nvSpPr>
          <p:cNvPr id="15" name="Oval 14"/>
          <p:cNvSpPr/>
          <p:nvPr/>
        </p:nvSpPr>
        <p:spPr>
          <a:xfrm>
            <a:off x="11167567" y="5029200"/>
            <a:ext cx="201168" cy="201168"/>
          </a:xfrm>
          <a:prstGeom prst="ellipse">
            <a:avLst/>
          </a:prstGeom>
          <a:solidFill>
            <a:srgbClr val="0E2340"/>
          </a:solidFill>
          <a:ln w="15875">
            <a:solidFill>
              <a:srgbClr val="0E2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75908" y="4928616"/>
            <a:ext cx="446364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>
                <a:solidFill>
                  <a:srgbClr val="0E2340"/>
                </a:solidFill>
                <a:latin typeface="Arial"/>
                <a:cs typeface="Arial"/>
              </a:rPr>
              <a:t>قنوات بلا إنترنت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5908" y="5221224"/>
            <a:ext cx="446364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5B6472"/>
                </a:solidFill>
                <a:latin typeface="Arial"/>
                <a:cs typeface="Arial"/>
              </a:rPr>
              <a:t>رسائل SMS وأكشاك بمساعدة موظف لمن هم خارج التغطية الرقمية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1828800"/>
            <a:ext cx="5341467" cy="393192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057400"/>
            <a:ext cx="47928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1" i="0">
                <a:solidFill>
                  <a:srgbClr val="B3261E"/>
                </a:solidFill>
                <a:latin typeface="Arial"/>
                <a:cs typeface="Arial"/>
              </a:rPr>
              <a:t>مسار الطوارئ</a:t>
            </a:r>
          </a:p>
        </p:txBody>
      </p:sp>
      <p:sp>
        <p:nvSpPr>
          <p:cNvPr id="20" name="Oval 19"/>
          <p:cNvSpPr/>
          <p:nvPr/>
        </p:nvSpPr>
        <p:spPr>
          <a:xfrm>
            <a:off x="5414619" y="2697480"/>
            <a:ext cx="201168" cy="201168"/>
          </a:xfrm>
          <a:prstGeom prst="ellipse">
            <a:avLst/>
          </a:prstGeom>
          <a:solidFill>
            <a:srgbClr val="B3261E"/>
          </a:solidFill>
          <a:ln w="1587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2596896"/>
            <a:ext cx="446364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>
                <a:solidFill>
                  <a:srgbClr val="0E2340"/>
                </a:solidFill>
                <a:latin typeface="Arial"/>
                <a:cs typeface="Arial"/>
              </a:rPr>
              <a:t>استجابة بالساعات لا الأيام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889504"/>
            <a:ext cx="446364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5B6472"/>
                </a:solidFill>
                <a:latin typeface="Arial"/>
                <a:cs typeface="Arial"/>
              </a:rPr>
              <a:t>غرفة عمليات طوارئ منفصلة تماماً عن الطابور الإداري</a:t>
            </a:r>
          </a:p>
        </p:txBody>
      </p:sp>
      <p:sp>
        <p:nvSpPr>
          <p:cNvPr id="23" name="Oval 22"/>
          <p:cNvSpPr/>
          <p:nvPr/>
        </p:nvSpPr>
        <p:spPr>
          <a:xfrm>
            <a:off x="5414619" y="3474720"/>
            <a:ext cx="201168" cy="201168"/>
          </a:xfrm>
          <a:prstGeom prst="ellipse">
            <a:avLst/>
          </a:prstGeom>
          <a:solidFill>
            <a:srgbClr val="B3261E"/>
          </a:solidFill>
          <a:ln w="1587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3374136"/>
            <a:ext cx="446364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>
                <a:solidFill>
                  <a:srgbClr val="0E2340"/>
                </a:solidFill>
                <a:latin typeface="Arial"/>
                <a:cs typeface="Arial"/>
              </a:rPr>
              <a:t>دمج البلاغات المكررة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666744"/>
            <a:ext cx="446364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5B6472"/>
                </a:solidFill>
                <a:latin typeface="Arial"/>
                <a:cs typeface="Arial"/>
              </a:rPr>
              <a:t>تلقائياً حسب الموقع والتوقيت لنفس الحادثة</a:t>
            </a:r>
          </a:p>
        </p:txBody>
      </p:sp>
      <p:sp>
        <p:nvSpPr>
          <p:cNvPr id="26" name="Oval 25"/>
          <p:cNvSpPr/>
          <p:nvPr/>
        </p:nvSpPr>
        <p:spPr>
          <a:xfrm>
            <a:off x="5414619" y="4251960"/>
            <a:ext cx="201168" cy="201168"/>
          </a:xfrm>
          <a:prstGeom prst="ellipse">
            <a:avLst/>
          </a:prstGeom>
          <a:solidFill>
            <a:srgbClr val="B3261E"/>
          </a:solidFill>
          <a:ln w="1587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" y="4151376"/>
            <a:ext cx="446364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>
                <a:solidFill>
                  <a:srgbClr val="0E2340"/>
                </a:solidFill>
                <a:latin typeface="Arial"/>
                <a:cs typeface="Arial"/>
              </a:rPr>
              <a:t>إثبات تنفيذ إلزامي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443984"/>
            <a:ext cx="446364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5B6472"/>
                </a:solidFill>
                <a:latin typeface="Arial"/>
                <a:cs typeface="Arial"/>
              </a:rPr>
              <a:t>صورة + توقيت + تقرير قبل إغلاق أي بلاغ</a:t>
            </a:r>
          </a:p>
        </p:txBody>
      </p:sp>
      <p:sp>
        <p:nvSpPr>
          <p:cNvPr id="29" name="Oval 28"/>
          <p:cNvSpPr/>
          <p:nvPr/>
        </p:nvSpPr>
        <p:spPr>
          <a:xfrm>
            <a:off x="5414619" y="5029200"/>
            <a:ext cx="201168" cy="201168"/>
          </a:xfrm>
          <a:prstGeom prst="ellipse">
            <a:avLst/>
          </a:prstGeom>
          <a:solidFill>
            <a:srgbClr val="B3261E"/>
          </a:solidFill>
          <a:ln w="1587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928616"/>
            <a:ext cx="4463643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1" i="0">
                <a:solidFill>
                  <a:srgbClr val="0E2340"/>
                </a:solidFill>
                <a:latin typeface="Arial"/>
                <a:cs typeface="Arial"/>
              </a:rPr>
              <a:t>لا يمر خطر على الأرواح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221224"/>
            <a:ext cx="4463643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5B6472"/>
                </a:solidFill>
                <a:latin typeface="Arial"/>
                <a:cs typeface="Arial"/>
              </a:rPr>
              <a:t>بنفس طابور معاملة روتينية عادية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8A93A3"/>
                </a:solidFill>
                <a:latin typeface="Arial"/>
                <a:cs typeface="Arial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8A93A3"/>
                </a:solidFill>
                <a:latin typeface="Arial"/>
                <a:cs typeface="Arial"/>
              </a:rPr>
              <a:t>طرف الخيط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V="1">
            <a:off x="8595360" y="1005840"/>
            <a:ext cx="2743200" cy="411480"/>
          </a:xfrm>
          <a:prstGeom prst="line">
            <a:avLst/>
          </a:prstGeom>
          <a:ln w="25400">
            <a:solidFill>
              <a:srgbClr val="1B3A6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914400" y="5532120"/>
            <a:ext cx="2560320" cy="365760"/>
          </a:xfrm>
          <a:prstGeom prst="line">
            <a:avLst/>
          </a:prstGeom>
          <a:ln w="25400">
            <a:solidFill>
              <a:srgbClr val="1B3A6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0" y="2148840"/>
            <a:ext cx="121916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  <a:cs typeface="Arial"/>
              </a:rPr>
              <a:t>كل معاملة لها خيط…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E7C476"/>
                </a:solidFill>
                <a:latin typeface="Arial"/>
                <a:cs typeface="Arial"/>
              </a:rPr>
              <a:t>نحن نمسك طرفه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816144" y="3547872"/>
            <a:ext cx="2560320" cy="0"/>
          </a:xfrm>
          <a:prstGeom prst="line">
            <a:avLst/>
          </a:prstGeom>
          <a:ln w="19050">
            <a:solidFill>
              <a:srgbClr val="C79A3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393192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AEB9CC"/>
                </a:solidFill>
                <a:latin typeface="Arial"/>
                <a:cs typeface="Arial"/>
              </a:rPr>
              <a:t>طرف الخيط — منصة تشغيلية موحّدة للخدمات البلدية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C79A3F"/>
                </a:solidFill>
                <a:latin typeface="Arial"/>
                <a:cs typeface="Arial"/>
              </a:rPr>
              <a:t>جاهزون نطبّقها في بلدية حقيقية — طرف الخيط بانتظار طرفه التاني.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624</Words>
  <Application>Microsoft Office PowerPoint</Application>
  <PresentationFormat>Custom</PresentationFormat>
  <Paragraphs>121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Razan Shalabi</cp:lastModifiedBy>
  <cp:revision>8</cp:revision>
  <dcterms:created xsi:type="dcterms:W3CDTF">2013-01-27T09:14:16Z</dcterms:created>
  <dcterms:modified xsi:type="dcterms:W3CDTF">2026-08-26T12:37:21Z</dcterms:modified>
  <cp:category/>
</cp:coreProperties>
</file>