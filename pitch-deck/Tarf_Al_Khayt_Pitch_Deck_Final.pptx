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6" r:id="rId5"/>
    <p:sldId id="259" r:id="rId6"/>
    <p:sldId id="260" r:id="rId7"/>
    <p:sldId id="267" r:id="rId8"/>
    <p:sldId id="261" r:id="rId9"/>
    <p:sldId id="268" r:id="rId10"/>
    <p:sldId id="262" r:id="rId11"/>
    <p:sldId id="269" r:id="rId12"/>
    <p:sldId id="263" r:id="rId13"/>
    <p:sldId id="270" r:id="rId14"/>
    <p:sldId id="264" r:id="rId15"/>
    <p:sldId id="265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-115" y="-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6DCA8B-D41A-4A78-8E2C-50C9BCC231ED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F461A0-59EE-4164-B11B-50CE80E6D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809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15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274320"/>
          </a:xfrm>
          <a:prstGeom prst="rect">
            <a:avLst/>
          </a:prstGeom>
        </p:spPr>
      </p:pic>
      <p:pic>
        <p:nvPicPr>
          <p:cNvPr id="3" name="Image 1" descr="assets/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83680"/>
            <a:ext cx="12191695" cy="274320"/>
          </a:xfrm>
          <a:prstGeom prst="rect">
            <a:avLst/>
          </a:prstGeom>
        </p:spPr>
      </p:pic>
      <p:pic>
        <p:nvPicPr>
          <p:cNvPr id="4" name="Image 2" descr="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85800"/>
            <a:ext cx="4480560" cy="448056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5669280" y="1371600"/>
            <a:ext cx="59710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6600" b="1" dirty="0">
                <a:solidFill>
                  <a:srgbClr val="8A1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طرف الخيط</a:t>
            </a:r>
            <a:endParaRPr lang="ar-SA" sz="6600" dirty="0"/>
          </a:p>
        </p:txBody>
      </p:sp>
      <p:sp>
        <p:nvSpPr>
          <p:cNvPr id="7" name="Text 2"/>
          <p:cNvSpPr txBox="1"/>
          <p:nvPr/>
        </p:nvSpPr>
        <p:spPr>
          <a:xfrm>
            <a:off x="5394960" y="2606040"/>
            <a:ext cx="6245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2300" b="1" dirty="0" smtClean="0">
                <a:solidFill>
                  <a:srgbClr val="561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النظام الي بخلي كل معاملة تعرف طريقها</a:t>
            </a:r>
            <a:endParaRPr lang="ar-SA" sz="2300" dirty="0"/>
          </a:p>
        </p:txBody>
      </p:sp>
      <p:sp>
        <p:nvSpPr>
          <p:cNvPr id="8" name="Text 3"/>
          <p:cNvSpPr txBox="1"/>
          <p:nvPr/>
        </p:nvSpPr>
        <p:spPr>
          <a:xfrm>
            <a:off x="6309360" y="3291840"/>
            <a:ext cx="5330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ar-SA" altLang="en-US" sz="1700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مسار إداري مبهم ومتداخل إلى إجراء موثّق، مسؤول، وقابل للمساءلة</a:t>
            </a:r>
            <a:endParaRPr lang="ar-SA" sz="1700" dirty="0"/>
          </a:p>
        </p:txBody>
      </p:sp>
      <p:sp>
        <p:nvSpPr>
          <p:cNvPr id="9" name="Shape 4"/>
          <p:cNvSpPr/>
          <p:nvPr/>
        </p:nvSpPr>
        <p:spPr>
          <a:xfrm>
            <a:off x="4690872" y="4379976"/>
            <a:ext cx="6949440" cy="1280160"/>
          </a:xfrm>
          <a:custGeom>
            <a:avLst/>
            <a:gdLst/>
            <a:ahLst/>
            <a:cxnLst/>
            <a:rect l="l" t="t" r="r" b="b"/>
            <a:pathLst>
              <a:path w="6949440" h="1280160">
                <a:moveTo>
                  <a:pt x="6949440" y="0"/>
                </a:moveTo>
                <a:cubicBezTo>
                  <a:pt x="6850380" y="175260"/>
                  <a:pt x="6576060" y="1013460"/>
                  <a:pt x="6355080" y="1051560"/>
                </a:cubicBezTo>
                <a:cubicBezTo>
                  <a:pt x="6134100" y="1089660"/>
                  <a:pt x="5646420" y="403860"/>
                  <a:pt x="5623560" y="228600"/>
                </a:cubicBezTo>
                <a:cubicBezTo>
                  <a:pt x="5600700" y="53340"/>
                  <a:pt x="6080760" y="-83820"/>
                  <a:pt x="6217920" y="0"/>
                </a:cubicBezTo>
                <a:cubicBezTo>
                  <a:pt x="6355080" y="83820"/>
                  <a:pt x="6583680" y="518160"/>
                  <a:pt x="6446520" y="731520"/>
                </a:cubicBezTo>
                <a:cubicBezTo>
                  <a:pt x="6309360" y="944880"/>
                  <a:pt x="5661660" y="1333500"/>
                  <a:pt x="5394960" y="1280160"/>
                </a:cubicBezTo>
                <a:cubicBezTo>
                  <a:pt x="5128260" y="1226820"/>
                  <a:pt x="4838700" y="601980"/>
                  <a:pt x="4846320" y="411480"/>
                </a:cubicBezTo>
                <a:cubicBezTo>
                  <a:pt x="4853940" y="220980"/>
                  <a:pt x="5387340" y="22860"/>
                  <a:pt x="5440680" y="137160"/>
                </a:cubicBezTo>
                <a:cubicBezTo>
                  <a:pt x="5494020" y="251460"/>
                  <a:pt x="5356860" y="960120"/>
                  <a:pt x="5166360" y="1097280"/>
                </a:cubicBezTo>
                <a:cubicBezTo>
                  <a:pt x="4975860" y="1234440"/>
                  <a:pt x="4610100" y="1010412"/>
                  <a:pt x="4297680" y="960120"/>
                </a:cubicBezTo>
                <a:cubicBezTo>
                  <a:pt x="3985260" y="909828"/>
                  <a:pt x="3642360" y="826008"/>
                  <a:pt x="3291840" y="795528"/>
                </a:cubicBezTo>
                <a:cubicBezTo>
                  <a:pt x="2941320" y="765048"/>
                  <a:pt x="2560320" y="780288"/>
                  <a:pt x="2194560" y="777240"/>
                </a:cubicBezTo>
                <a:cubicBezTo>
                  <a:pt x="1828800" y="774192"/>
                  <a:pt x="1463040" y="777240"/>
                  <a:pt x="1097280" y="777240"/>
                </a:cubicBezTo>
                <a:cubicBezTo>
                  <a:pt x="731520" y="777240"/>
                  <a:pt x="182880" y="777240"/>
                  <a:pt x="0" y="777240"/>
                </a:cubicBezTo>
              </a:path>
            </a:pathLst>
          </a:custGeom>
          <a:ln w="44450">
            <a:solidFill>
              <a:srgbClr val="8A1832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4837176" y="5020056"/>
            <a:ext cx="201168" cy="201168"/>
          </a:xfrm>
          <a:prstGeom prst="ellipse">
            <a:avLst/>
          </a:prstGeom>
          <a:solidFill>
            <a:srgbClr val="8A1832"/>
          </a:solidFill>
          <a:ln w="19050">
            <a:solidFill>
              <a:srgbClr val="FFFDF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2743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943600" y="457200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200" b="1" dirty="0">
                <a:solidFill>
                  <a:srgbClr val="596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٠١ — المشكلة</a:t>
            </a:r>
            <a:endParaRPr lang="ar-SA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97280" y="73152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200" b="1" dirty="0">
                <a:solidFill>
                  <a:srgbClr val="8A1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المعاملة تضيع داخل المسار الإداري</a:t>
            </a:r>
            <a:endParaRPr lang="ar-SA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000" dirty="0">
                <a:solidFill>
                  <a:srgbClr val="CBB9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10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1463040"/>
            <a:ext cx="5696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endParaRPr lang="ar-SA" sz="1500" dirty="0"/>
          </a:p>
        </p:txBody>
      </p:sp>
      <p:sp>
        <p:nvSpPr>
          <p:cNvPr id="7" name="Shape 4"/>
          <p:cNvSpPr/>
          <p:nvPr/>
        </p:nvSpPr>
        <p:spPr>
          <a:xfrm>
            <a:off x="1691640" y="1783080"/>
            <a:ext cx="6035040" cy="3090672"/>
          </a:xfrm>
          <a:custGeom>
            <a:avLst/>
            <a:gdLst/>
            <a:ahLst/>
            <a:cxnLst/>
            <a:rect l="l" t="t" r="r" b="b"/>
            <a:pathLst>
              <a:path w="6035040" h="3090672">
                <a:moveTo>
                  <a:pt x="6035040" y="0"/>
                </a:moveTo>
                <a:cubicBezTo>
                  <a:pt x="5852160" y="91440"/>
                  <a:pt x="5280660" y="502920"/>
                  <a:pt x="4937760" y="548640"/>
                </a:cubicBezTo>
                <a:cubicBezTo>
                  <a:pt x="4594860" y="594360"/>
                  <a:pt x="4335780" y="342900"/>
                  <a:pt x="3977640" y="274320"/>
                </a:cubicBezTo>
                <a:cubicBezTo>
                  <a:pt x="3619500" y="205740"/>
                  <a:pt x="3230880" y="91440"/>
                  <a:pt x="2788920" y="137160"/>
                </a:cubicBezTo>
                <a:cubicBezTo>
                  <a:pt x="2346960" y="182880"/>
                  <a:pt x="1752600" y="449580"/>
                  <a:pt x="1325880" y="548640"/>
                </a:cubicBezTo>
                <a:cubicBezTo>
                  <a:pt x="899160" y="647700"/>
                  <a:pt x="449580" y="563880"/>
                  <a:pt x="228600" y="731520"/>
                </a:cubicBezTo>
                <a:cubicBezTo>
                  <a:pt x="7620" y="899160"/>
                  <a:pt x="-137160" y="1371600"/>
                  <a:pt x="0" y="1554480"/>
                </a:cubicBezTo>
                <a:cubicBezTo>
                  <a:pt x="137160" y="1737360"/>
                  <a:pt x="640080" y="1821180"/>
                  <a:pt x="1051560" y="1828800"/>
                </a:cubicBezTo>
                <a:cubicBezTo>
                  <a:pt x="1463040" y="1836420"/>
                  <a:pt x="2118360" y="1752600"/>
                  <a:pt x="2468880" y="1600200"/>
                </a:cubicBezTo>
                <a:cubicBezTo>
                  <a:pt x="2819400" y="1447800"/>
                  <a:pt x="2887980" y="906780"/>
                  <a:pt x="3154680" y="914400"/>
                </a:cubicBezTo>
                <a:cubicBezTo>
                  <a:pt x="3421380" y="922020"/>
                  <a:pt x="3703320" y="1508760"/>
                  <a:pt x="4069080" y="1645920"/>
                </a:cubicBezTo>
                <a:cubicBezTo>
                  <a:pt x="4434840" y="1783080"/>
                  <a:pt x="5151120" y="1653540"/>
                  <a:pt x="5349240" y="1737360"/>
                </a:cubicBezTo>
                <a:cubicBezTo>
                  <a:pt x="5547360" y="1821180"/>
                  <a:pt x="5471160" y="2087880"/>
                  <a:pt x="5257800" y="2148840"/>
                </a:cubicBezTo>
                <a:cubicBezTo>
                  <a:pt x="5044440" y="2209800"/>
                  <a:pt x="4358640" y="1996440"/>
                  <a:pt x="4069080" y="2103120"/>
                </a:cubicBezTo>
                <a:cubicBezTo>
                  <a:pt x="3779520" y="2209800"/>
                  <a:pt x="3451860" y="2697480"/>
                  <a:pt x="3520440" y="2788920"/>
                </a:cubicBezTo>
                <a:cubicBezTo>
                  <a:pt x="3589020" y="2880360"/>
                  <a:pt x="4404360" y="2735580"/>
                  <a:pt x="4480560" y="2651760"/>
                </a:cubicBezTo>
                <a:cubicBezTo>
                  <a:pt x="4556760" y="2567940"/>
                  <a:pt x="4259580" y="2331720"/>
                  <a:pt x="3977640" y="2286000"/>
                </a:cubicBezTo>
                <a:cubicBezTo>
                  <a:pt x="3695700" y="2240280"/>
                  <a:pt x="3078480" y="2278380"/>
                  <a:pt x="2788920" y="2377440"/>
                </a:cubicBezTo>
                <a:cubicBezTo>
                  <a:pt x="2499360" y="2476500"/>
                  <a:pt x="2400300" y="2761488"/>
                  <a:pt x="2240280" y="2880360"/>
                </a:cubicBezTo>
                <a:cubicBezTo>
                  <a:pt x="2080260" y="2999232"/>
                  <a:pt x="1897380" y="3055620"/>
                  <a:pt x="1828800" y="3090672"/>
                </a:cubicBezTo>
              </a:path>
            </a:pathLst>
          </a:custGeom>
          <a:ln w="38100">
            <a:solidFill>
              <a:srgbClr val="8A183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4206240"/>
            <a:ext cx="2103120" cy="914400"/>
          </a:xfrm>
          <a:custGeom>
            <a:avLst/>
            <a:gdLst/>
            <a:ahLst/>
            <a:cxnLst/>
            <a:rect l="l" t="t" r="r" b="b"/>
            <a:pathLst>
              <a:path w="2103120" h="914400">
                <a:moveTo>
                  <a:pt x="2103120" y="777240"/>
                </a:moveTo>
                <a:cubicBezTo>
                  <a:pt x="1996440" y="800100"/>
                  <a:pt x="1645920" y="960120"/>
                  <a:pt x="1463040" y="914400"/>
                </a:cubicBezTo>
                <a:cubicBezTo>
                  <a:pt x="1280160" y="868680"/>
                  <a:pt x="1173480" y="655320"/>
                  <a:pt x="1005840" y="502920"/>
                </a:cubicBezTo>
                <a:cubicBezTo>
                  <a:pt x="838200" y="350520"/>
                  <a:pt x="624840" y="60960"/>
                  <a:pt x="457200" y="0"/>
                </a:cubicBezTo>
                <a:cubicBezTo>
                  <a:pt x="289560" y="-60960"/>
                  <a:pt x="76200" y="114300"/>
                  <a:pt x="0" y="137160"/>
                </a:cubicBezTo>
              </a:path>
            </a:pathLst>
          </a:custGeom>
          <a:ln w="38100">
            <a:solidFill>
              <a:srgbClr val="8A1832"/>
            </a:solidFill>
            <a:prstDash val="sysDash"/>
          </a:ln>
        </p:spPr>
      </p:sp>
      <p:sp>
        <p:nvSpPr>
          <p:cNvPr id="9" name="Shape 6"/>
          <p:cNvSpPr/>
          <p:nvPr/>
        </p:nvSpPr>
        <p:spPr>
          <a:xfrm>
            <a:off x="2990088" y="4700016"/>
            <a:ext cx="420624" cy="420624"/>
          </a:xfrm>
          <a:prstGeom prst="ellipse">
            <a:avLst/>
          </a:prstGeom>
          <a:solidFill>
            <a:srgbClr val="B54242"/>
          </a:solidFill>
          <a:ln w="25400">
            <a:solidFill>
              <a:srgbClr val="FFFDF8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0672" y="4800600"/>
            <a:ext cx="219456" cy="2194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286000" y="52303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1200" b="1" dirty="0">
                <a:solidFill>
                  <a:srgbClr val="B5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توقف دون سبب</a:t>
            </a:r>
            <a:endParaRPr lang="ar-SA" sz="1200" dirty="0"/>
          </a:p>
        </p:txBody>
      </p:sp>
      <p:sp>
        <p:nvSpPr>
          <p:cNvPr id="12" name="Shape 8"/>
          <p:cNvSpPr/>
          <p:nvPr/>
        </p:nvSpPr>
        <p:spPr>
          <a:xfrm>
            <a:off x="6217920" y="1920240"/>
            <a:ext cx="822960" cy="822960"/>
          </a:xfrm>
          <a:prstGeom prst="ellipse">
            <a:avLst/>
          </a:prstGeom>
          <a:solidFill>
            <a:srgbClr val="FFFDF8"/>
          </a:solidFill>
          <a:ln w="22225">
            <a:solidFill>
              <a:srgbClr val="8A1832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214884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623560" y="28072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1400" b="1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خدمات الجمهور</a:t>
            </a:r>
            <a:endParaRPr lang="ar-SA" sz="1400" dirty="0"/>
          </a:p>
        </p:txBody>
      </p:sp>
      <p:sp>
        <p:nvSpPr>
          <p:cNvPr id="15" name="Shape 10"/>
          <p:cNvSpPr/>
          <p:nvPr/>
        </p:nvSpPr>
        <p:spPr>
          <a:xfrm>
            <a:off x="2606040" y="1920240"/>
            <a:ext cx="822960" cy="822960"/>
          </a:xfrm>
          <a:prstGeom prst="ellipse">
            <a:avLst/>
          </a:prstGeom>
          <a:solidFill>
            <a:srgbClr val="FFFDF8"/>
          </a:solidFill>
          <a:ln w="22225">
            <a:solidFill>
              <a:srgbClr val="8A1832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4640" y="214884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2011680" y="28072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1400" b="1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الهندسة</a:t>
            </a:r>
            <a:endParaRPr lang="ar-SA" sz="1400" dirty="0"/>
          </a:p>
        </p:txBody>
      </p:sp>
      <p:sp>
        <p:nvSpPr>
          <p:cNvPr id="18" name="Shape 12"/>
          <p:cNvSpPr/>
          <p:nvPr/>
        </p:nvSpPr>
        <p:spPr>
          <a:xfrm>
            <a:off x="4800600" y="4160520"/>
            <a:ext cx="822960" cy="822960"/>
          </a:xfrm>
          <a:prstGeom prst="ellipse">
            <a:avLst/>
          </a:prstGeom>
          <a:solidFill>
            <a:srgbClr val="FFFDF8"/>
          </a:solidFill>
          <a:ln w="22225">
            <a:solidFill>
              <a:srgbClr val="8A1832"/>
            </a:solidFill>
            <a:prstDash val="solid"/>
          </a:ln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4389120"/>
            <a:ext cx="365760" cy="36576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4206240" y="50474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1400" b="1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المالية</a:t>
            </a:r>
            <a:endParaRPr lang="ar-SA" sz="1400" dirty="0"/>
          </a:p>
        </p:txBody>
      </p:sp>
      <p:sp>
        <p:nvSpPr>
          <p:cNvPr id="21" name="Shape 14"/>
          <p:cNvSpPr/>
          <p:nvPr/>
        </p:nvSpPr>
        <p:spPr>
          <a:xfrm>
            <a:off x="1371600" y="4297680"/>
            <a:ext cx="822960" cy="822960"/>
          </a:xfrm>
          <a:prstGeom prst="ellipse">
            <a:avLst/>
          </a:prstGeom>
          <a:solidFill>
            <a:srgbClr val="FFFDF8"/>
          </a:solidFill>
          <a:ln w="22225">
            <a:solidFill>
              <a:srgbClr val="8A1832"/>
            </a:solidFill>
            <a:prstDash val="solid"/>
          </a:ln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00200" y="4526280"/>
            <a:ext cx="365760" cy="36576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777240" y="51846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1400" b="1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المدير</a:t>
            </a:r>
            <a:endParaRPr lang="ar-SA" sz="1400" dirty="0"/>
          </a:p>
        </p:txBody>
      </p:sp>
      <p:sp>
        <p:nvSpPr>
          <p:cNvPr id="24" name="Shape 16"/>
          <p:cNvSpPr/>
          <p:nvPr/>
        </p:nvSpPr>
        <p:spPr>
          <a:xfrm>
            <a:off x="11091672" y="2148840"/>
            <a:ext cx="548640" cy="548640"/>
          </a:xfrm>
          <a:prstGeom prst="ellipse">
            <a:avLst/>
          </a:prstGeom>
          <a:solidFill>
            <a:srgbClr val="8A1832">
              <a:alpha val="12000"/>
            </a:srgbClr>
          </a:solidFill>
          <a:ln/>
        </p:spPr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28832" y="2286000"/>
            <a:ext cx="274320" cy="274320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7772400" y="213055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700" b="1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تداخل المسؤوليات</a:t>
            </a:r>
            <a:endParaRPr lang="ar-SA" sz="1700" dirty="0"/>
          </a:p>
        </p:txBody>
      </p:sp>
      <p:sp>
        <p:nvSpPr>
          <p:cNvPr id="27" name="Text 18"/>
          <p:cNvSpPr txBox="1"/>
          <p:nvPr/>
        </p:nvSpPr>
        <p:spPr>
          <a:xfrm>
            <a:off x="7772400" y="253288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300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يتضح من يملك المعاملة ومتى يسلّمها.</a:t>
            </a:r>
            <a:endParaRPr lang="ar-SA" sz="1300" dirty="0"/>
          </a:p>
        </p:txBody>
      </p:sp>
      <p:sp>
        <p:nvSpPr>
          <p:cNvPr id="28" name="Shape 19"/>
          <p:cNvSpPr/>
          <p:nvPr/>
        </p:nvSpPr>
        <p:spPr>
          <a:xfrm>
            <a:off x="7772400" y="3172968"/>
            <a:ext cx="3867912" cy="0"/>
          </a:xfrm>
          <a:prstGeom prst="line">
            <a:avLst/>
          </a:prstGeom>
          <a:noFill/>
          <a:ln w="12700">
            <a:solidFill>
              <a:srgbClr val="E4D9CA"/>
            </a:solidFill>
            <a:prstDash val="solid"/>
          </a:ln>
        </p:spPr>
      </p:sp>
      <p:sp>
        <p:nvSpPr>
          <p:cNvPr id="29" name="Shape 20"/>
          <p:cNvSpPr/>
          <p:nvPr/>
        </p:nvSpPr>
        <p:spPr>
          <a:xfrm>
            <a:off x="11091672" y="3337560"/>
            <a:ext cx="548640" cy="548640"/>
          </a:xfrm>
          <a:prstGeom prst="ellipse">
            <a:avLst/>
          </a:prstGeom>
          <a:solidFill>
            <a:srgbClr val="8A1832">
              <a:alpha val="12000"/>
            </a:srgbClr>
          </a:solidFill>
          <a:ln/>
        </p:spPr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28832" y="3474720"/>
            <a:ext cx="274320" cy="274320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7772400" y="331927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700" b="1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غياب مسار موحّد</a:t>
            </a:r>
            <a:endParaRPr lang="ar-SA" sz="1700" dirty="0"/>
          </a:p>
        </p:txBody>
      </p:sp>
      <p:sp>
        <p:nvSpPr>
          <p:cNvPr id="32" name="Text 22"/>
          <p:cNvSpPr txBox="1"/>
          <p:nvPr/>
        </p:nvSpPr>
        <p:spPr>
          <a:xfrm>
            <a:off x="7772400" y="372160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300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ترتيب الخطوات يعتمد على اجتهاد كل موظف.</a:t>
            </a:r>
            <a:endParaRPr lang="ar-SA" sz="1300" dirty="0"/>
          </a:p>
        </p:txBody>
      </p:sp>
      <p:sp>
        <p:nvSpPr>
          <p:cNvPr id="33" name="Shape 23"/>
          <p:cNvSpPr/>
          <p:nvPr/>
        </p:nvSpPr>
        <p:spPr>
          <a:xfrm>
            <a:off x="7772400" y="4361688"/>
            <a:ext cx="3867912" cy="0"/>
          </a:xfrm>
          <a:prstGeom prst="line">
            <a:avLst/>
          </a:prstGeom>
          <a:noFill/>
          <a:ln w="12700">
            <a:solidFill>
              <a:srgbClr val="E4D9CA"/>
            </a:solidFill>
            <a:prstDash val="solid"/>
          </a:ln>
        </p:spPr>
      </p:sp>
      <p:sp>
        <p:nvSpPr>
          <p:cNvPr id="34" name="Shape 24"/>
          <p:cNvSpPr/>
          <p:nvPr/>
        </p:nvSpPr>
        <p:spPr>
          <a:xfrm>
            <a:off x="11091672" y="4526280"/>
            <a:ext cx="548640" cy="548640"/>
          </a:xfrm>
          <a:prstGeom prst="ellipse">
            <a:avLst/>
          </a:prstGeom>
          <a:solidFill>
            <a:srgbClr val="8A1832">
              <a:alpha val="12000"/>
            </a:srgbClr>
          </a:solidFill>
          <a:ln/>
        </p:spPr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28832" y="4663440"/>
            <a:ext cx="274320" cy="274320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7772400" y="450799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700" b="1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غياب سجل التأخير والمساءلة</a:t>
            </a:r>
            <a:endParaRPr lang="ar-SA" sz="1700" dirty="0"/>
          </a:p>
        </p:txBody>
      </p:sp>
      <p:sp>
        <p:nvSpPr>
          <p:cNvPr id="37" name="Text 26"/>
          <p:cNvSpPr txBox="1"/>
          <p:nvPr/>
        </p:nvSpPr>
        <p:spPr>
          <a:xfrm>
            <a:off x="7772400" y="491032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300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التأخير يحدث دون سبب موثّق أو أثر.</a:t>
            </a:r>
            <a:endParaRPr lang="ar-SA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2743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943600" y="457200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200" b="1" dirty="0">
                <a:solidFill>
                  <a:srgbClr val="596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٠٢ — إعادة تعريف المشكلة</a:t>
            </a:r>
            <a:endParaRPr lang="ar-SA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97280" y="73152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200" b="1" dirty="0">
                <a:solidFill>
                  <a:srgbClr val="8A1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ضياع المواطن نتيجة لضياع المسار</a:t>
            </a:r>
            <a:endParaRPr lang="ar-SA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000" dirty="0">
                <a:solidFill>
                  <a:srgbClr val="CBB9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10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7315200" y="1645920"/>
            <a:ext cx="4325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300" b="1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السؤال الظاهر</a:t>
            </a:r>
            <a:endParaRPr lang="ar-SA" sz="1300" dirty="0"/>
          </a:p>
        </p:txBody>
      </p:sp>
      <p:sp>
        <p:nvSpPr>
          <p:cNvPr id="7" name="Shape 4"/>
          <p:cNvSpPr/>
          <p:nvPr/>
        </p:nvSpPr>
        <p:spPr>
          <a:xfrm>
            <a:off x="6720840" y="1965960"/>
            <a:ext cx="4919472" cy="73152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12700">
            <a:solidFill>
              <a:srgbClr val="CBB9A5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0816" y="2185416"/>
            <a:ext cx="292608" cy="29260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949440" y="19659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400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«أين وصلت معاملتي؟»</a:t>
            </a:r>
            <a:endParaRPr lang="ar-SA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1">
              <a:buNone/>
            </a:pPr>
            <a:r>
              <a:rPr lang="ar-SA" altLang="en-US" sz="1200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يراه المواطن</a:t>
            </a:r>
            <a:endParaRPr lang="ar-SA" sz="1200" dirty="0"/>
          </a:p>
        </p:txBody>
      </p:sp>
      <p:sp>
        <p:nvSpPr>
          <p:cNvPr id="11" name="Shape 7"/>
          <p:cNvSpPr/>
          <p:nvPr/>
        </p:nvSpPr>
        <p:spPr>
          <a:xfrm>
            <a:off x="411480" y="2971800"/>
            <a:ext cx="11384280" cy="228600"/>
          </a:xfrm>
          <a:custGeom>
            <a:avLst/>
            <a:gdLst/>
            <a:ahLst/>
            <a:cxnLst/>
            <a:rect l="l" t="t" r="r" b="b"/>
            <a:pathLst>
              <a:path w="11384280" h="228600">
                <a:moveTo>
                  <a:pt x="11384280" y="137160"/>
                </a:moveTo>
                <a:cubicBezTo>
                  <a:pt x="11018520" y="114300"/>
                  <a:pt x="9936480" y="-15240"/>
                  <a:pt x="9189720" y="0"/>
                </a:cubicBezTo>
                <a:cubicBezTo>
                  <a:pt x="8442960" y="15240"/>
                  <a:pt x="7665720" y="220980"/>
                  <a:pt x="6903720" y="228600"/>
                </a:cubicBezTo>
                <a:cubicBezTo>
                  <a:pt x="6141720" y="236220"/>
                  <a:pt x="5379720" y="45720"/>
                  <a:pt x="4617720" y="45720"/>
                </a:cubicBezTo>
                <a:cubicBezTo>
                  <a:pt x="3855720" y="45720"/>
                  <a:pt x="3101340" y="220980"/>
                  <a:pt x="2331720" y="228600"/>
                </a:cubicBezTo>
                <a:cubicBezTo>
                  <a:pt x="1562100" y="236220"/>
                  <a:pt x="388620" y="114300"/>
                  <a:pt x="0" y="91440"/>
                </a:cubicBezTo>
              </a:path>
            </a:pathLst>
          </a:custGeom>
          <a:ln w="31750">
            <a:solidFill>
              <a:srgbClr val="CBB9A5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4864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1">
              <a:buNone/>
            </a:pPr>
            <a:r>
              <a:rPr lang="ar-SA" altLang="en-US" sz="1200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يحدث داخل البلدية</a:t>
            </a:r>
            <a:endParaRPr lang="ar-SA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3657600"/>
            <a:ext cx="11091672" cy="1920240"/>
          </a:xfrm>
          <a:prstGeom prst="roundRect">
            <a:avLst>
              <a:gd name="adj" fmla="val 8571"/>
            </a:avLst>
          </a:prstGeom>
          <a:solidFill>
            <a:srgbClr val="56132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3291840" y="3886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400" b="1" dirty="0">
                <a:solidFill>
                  <a:srgbClr val="CBB9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السؤال الأساسي</a:t>
            </a:r>
            <a:endParaRPr lang="ar-SA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291840" y="42519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300" b="1" dirty="0">
                <a:solidFill>
                  <a:srgbClr val="FFF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«كيف تتحرك المعاملة داخل البلدية؟»</a:t>
            </a:r>
            <a:endParaRPr lang="ar-SA" sz="3300" dirty="0"/>
          </a:p>
        </p:txBody>
      </p:sp>
      <p:sp>
        <p:nvSpPr>
          <p:cNvPr id="16" name="Shape 12"/>
          <p:cNvSpPr/>
          <p:nvPr/>
        </p:nvSpPr>
        <p:spPr>
          <a:xfrm>
            <a:off x="868680" y="4754880"/>
            <a:ext cx="2103120" cy="18288"/>
          </a:xfrm>
          <a:custGeom>
            <a:avLst/>
            <a:gdLst/>
            <a:ahLst/>
            <a:cxnLst/>
            <a:rect l="l" t="t" r="r" b="b"/>
            <a:pathLst>
              <a:path w="2103120" h="18288">
                <a:moveTo>
                  <a:pt x="2103120" y="0"/>
                </a:moveTo>
                <a:cubicBezTo>
                  <a:pt x="1752600" y="0"/>
                  <a:pt x="350520" y="0"/>
                  <a:pt x="0" y="0"/>
                </a:cubicBezTo>
              </a:path>
            </a:pathLst>
          </a:custGeom>
          <a:ln w="38100">
            <a:solidFill>
              <a:srgbClr val="CBB9A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560320" y="4617720"/>
            <a:ext cx="274320" cy="274320"/>
          </a:xfrm>
          <a:prstGeom prst="ellipse">
            <a:avLst/>
          </a:prstGeom>
          <a:solidFill>
            <a:srgbClr val="8A1832"/>
          </a:solidFill>
          <a:ln w="19050">
            <a:solidFill>
              <a:srgbClr val="CBB9A5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2011680" y="4617720"/>
            <a:ext cx="274320" cy="274320"/>
          </a:xfrm>
          <a:prstGeom prst="ellipse">
            <a:avLst/>
          </a:prstGeom>
          <a:solidFill>
            <a:srgbClr val="8A1832"/>
          </a:solidFill>
          <a:ln w="19050">
            <a:solidFill>
              <a:srgbClr val="CBB9A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463040" y="4617720"/>
            <a:ext cx="274320" cy="274320"/>
          </a:xfrm>
          <a:prstGeom prst="ellipse">
            <a:avLst/>
          </a:prstGeom>
          <a:solidFill>
            <a:srgbClr val="8A1832"/>
          </a:solidFill>
          <a:ln w="19050">
            <a:solidFill>
              <a:srgbClr val="CBB9A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914400" y="4617720"/>
            <a:ext cx="274320" cy="274320"/>
          </a:xfrm>
          <a:prstGeom prst="ellipse">
            <a:avLst/>
          </a:prstGeom>
          <a:solidFill>
            <a:srgbClr val="59613A"/>
          </a:solidFill>
          <a:ln w="19050">
            <a:solidFill>
              <a:srgbClr val="CBB9A5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83696" y="5907024"/>
            <a:ext cx="292608" cy="292608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4572000" y="5870448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900" b="1" dirty="0">
                <a:solidFill>
                  <a:srgbClr val="596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واجهة المواطن دليل على أن النظام الداخلي يعمل</a:t>
            </a:r>
            <a:endParaRPr lang="ar-SA" sz="1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2743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943600" y="457200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200" b="1" dirty="0">
                <a:solidFill>
                  <a:srgbClr val="596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لقطة من النظام الفعلي</a:t>
            </a:r>
            <a:endParaRPr lang="ar-SA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97280" y="73152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200" b="1" dirty="0">
                <a:solidFill>
                  <a:srgbClr val="8A1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بوابة المواطن — كما هي فعليًا</a:t>
            </a:r>
            <a:endParaRPr lang="ar-SA" sz="3200" dirty="0"/>
          </a:p>
        </p:txBody>
      </p:sp>
      <p:sp>
        <p:nvSpPr>
          <p:cNvPr id="101" name="ShotCard"/>
          <p:cNvSpPr/>
          <p:nvPr/>
        </p:nvSpPr>
        <p:spPr>
          <a:xfrm>
            <a:off x="2719600" y="1950000"/>
            <a:ext cx="6752800" cy="4488000"/>
          </a:xfrm>
          <a:prstGeom prst="roundRect">
            <a:avLst>
              <a:gd name="adj" fmla="val 3000"/>
            </a:avLst>
          </a:prstGeom>
          <a:solidFill>
            <a:srgbClr val="FFFDF8"/>
          </a:solidFill>
          <a:ln w="12700">
            <a:solidFill>
              <a:srgbClr val="CBB9A5"/>
            </a:solidFill>
            <a:prstDash val="solid"/>
          </a:ln>
          <a:effectLst>
            <a:outerShdw blurRad="180000" dist="60000" dir="5400000" rotWithShape="0">
              <a:srgbClr val="3A1520">
                <a:alpha val="22000"/>
              </a:srgbClr>
            </a:outerShdw>
          </a:effectLst>
        </p:spPr>
      </p:sp>
      <p:sp>
        <p:nvSpPr>
          <p:cNvPr id="105" name="dot"/>
          <p:cNvSpPr/>
          <p:nvPr/>
        </p:nvSpPr>
        <p:spPr>
          <a:xfrm>
            <a:off x="2789600" y="2019000"/>
            <a:ext cx="92000" cy="92000"/>
          </a:xfrm>
          <a:prstGeom prst="ellipse">
            <a:avLst/>
          </a:prstGeom>
          <a:solidFill>
            <a:srgbClr val="8A1832"/>
          </a:solidFill>
          <a:ln>
            <a:noFill/>
          </a:ln>
        </p:spPr>
      </p:sp>
      <p:sp>
        <p:nvSpPr>
          <p:cNvPr id="106" name="dot"/>
          <p:cNvSpPr/>
          <p:nvPr/>
        </p:nvSpPr>
        <p:spPr>
          <a:xfrm>
            <a:off x="2865600" y="2019000"/>
            <a:ext cx="92000" cy="92000"/>
          </a:xfrm>
          <a:prstGeom prst="ellipse">
            <a:avLst/>
          </a:prstGeom>
          <a:solidFill>
            <a:srgbClr val="CBB9A5"/>
          </a:solidFill>
          <a:ln>
            <a:noFill/>
          </a:ln>
        </p:spPr>
      </p:sp>
      <p:sp>
        <p:nvSpPr>
          <p:cNvPr id="107" name="dot"/>
          <p:cNvSpPr/>
          <p:nvPr/>
        </p:nvSpPr>
        <p:spPr>
          <a:xfrm>
            <a:off x="2941600" y="2019000"/>
            <a:ext cx="92000" cy="92000"/>
          </a:xfrm>
          <a:prstGeom prst="ellipse">
            <a:avLst/>
          </a:prstGeom>
          <a:solidFill>
            <a:srgbClr val="59613A"/>
          </a:solidFill>
          <a:ln>
            <a:noFill/>
          </a:ln>
        </p:spPr>
      </p:sp>
      <p:sp>
        <p:nvSpPr>
          <p:cNvPr id="102" name="ChromeDivider"/>
          <p:cNvSpPr/>
          <p:nvPr/>
        </p:nvSpPr>
        <p:spPr>
          <a:xfrm>
            <a:off x="2719600" y="2180000"/>
            <a:ext cx="6752800" cy="12700"/>
          </a:xfrm>
          <a:prstGeom prst="rect">
            <a:avLst/>
          </a:prstGeom>
          <a:solidFill>
            <a:srgbClr val="CBB9A5"/>
          </a:solidFill>
          <a:ln>
            <a:noFill/>
          </a:ln>
        </p:spPr>
      </p:sp>
      <p:sp>
        <p:nvSpPr>
          <p:cNvPr id="103" name="ChromeLabel"/>
          <p:cNvSpPr txBox="1"/>
          <p:nvPr/>
        </p:nvSpPr>
        <p:spPr>
          <a:xfrm>
            <a:off x="3057600" y="1950000"/>
            <a:ext cx="63348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ar-SA" sz="1100" dirty="0">
                <a:solidFill>
                  <a:srgbClr val="6B6259"/>
                </a:solidFill>
                <a:latin typeface="Arial" pitchFamily="34" charset="0"/>
              </a:rPr>
              <a:t>tarfalkhayt.ps</a:t>
            </a:r>
          </a:p>
        </p:txBody>
      </p:sp>
      <p:pic>
        <p:nvPicPr>
          <p:cNvPr id="104" name="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9600" y="2230000"/>
            <a:ext cx="6652800" cy="4158000"/>
          </a:xfrm>
          <a:prstGeom prst="rect">
            <a:avLst/>
          </a:prstGeom>
        </p:spPr>
      </p:pic>
      <p:sp>
        <p:nvSpPr>
          <p:cNvPr id="108" name="Sub"/>
          <p:cNvSpPr txBox="1"/>
          <p:nvPr/>
        </p:nvSpPr>
        <p:spPr>
          <a:xfrm>
            <a:off x="1097280" y="149352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400" dirty="0">
                <a:solidFill>
                  <a:srgbClr val="6B6259"/>
                </a:solidFill>
                <a:latin typeface="Arial" pitchFamily="34" charset="0"/>
              </a:rPr>
              <a:t>نفس الشاشة اللي بيشوفها كل مواطن، بمعاملاته الحقيقية وحالتها اللحظية.</a:t>
            </a:r>
          </a:p>
        </p:txBody>
      </p:sp>
      <p:sp>
        <p:nvSpPr>
          <p:cNvPr id="109" name="Caption"/>
          <p:cNvSpPr txBox="1"/>
          <p:nvPr/>
        </p:nvSpPr>
        <p:spPr>
          <a:xfrm>
            <a:off x="548640" y="6400800"/>
            <a:ext cx="600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1">
              <a:buNone/>
            </a:pPr>
            <a:r>
              <a:rPr lang="ar-SA" altLang="en-US" sz="1000" i="1" dirty="0">
                <a:solidFill>
                  <a:srgbClr val="CBB9A5"/>
                </a:solidFill>
                <a:latin typeface="Arial" pitchFamily="34" charset="0"/>
              </a:rPr>
              <a:t>شاشة حيّة من tarfalkhayt — لا تصميم، لا محاكاة.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2743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943600" y="457200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200" b="1" dirty="0">
                <a:solidFill>
                  <a:srgbClr val="596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٠٣ — الحل</a:t>
            </a:r>
            <a:endParaRPr lang="ar-SA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97280" y="73152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200" b="1" dirty="0">
                <a:solidFill>
                  <a:srgbClr val="8A1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مسار موحّد لكل معاملة</a:t>
            </a:r>
            <a:endParaRPr lang="ar-SA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000" dirty="0">
                <a:solidFill>
                  <a:srgbClr val="CBB9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2788920"/>
            <a:ext cx="11750040" cy="502920"/>
          </a:xfrm>
          <a:custGeom>
            <a:avLst/>
            <a:gdLst/>
            <a:ahLst/>
            <a:cxnLst/>
            <a:rect l="l" t="t" r="r" b="b"/>
            <a:pathLst>
              <a:path w="11750040" h="502920">
                <a:moveTo>
                  <a:pt x="11750040" y="0"/>
                </a:moveTo>
                <a:cubicBezTo>
                  <a:pt x="11681460" y="68580"/>
                  <a:pt x="11475720" y="396240"/>
                  <a:pt x="11338560" y="411480"/>
                </a:cubicBezTo>
                <a:cubicBezTo>
                  <a:pt x="11201400" y="426720"/>
                  <a:pt x="11049000" y="83820"/>
                  <a:pt x="10927080" y="91440"/>
                </a:cubicBezTo>
                <a:cubicBezTo>
                  <a:pt x="10805160" y="99060"/>
                  <a:pt x="10751820" y="388620"/>
                  <a:pt x="10607040" y="457200"/>
                </a:cubicBezTo>
                <a:cubicBezTo>
                  <a:pt x="10462260" y="525780"/>
                  <a:pt x="10683240" y="495300"/>
                  <a:pt x="10058400" y="502920"/>
                </a:cubicBezTo>
                <a:cubicBezTo>
                  <a:pt x="9433560" y="510540"/>
                  <a:pt x="8001000" y="502920"/>
                  <a:pt x="6858000" y="502920"/>
                </a:cubicBezTo>
                <a:cubicBezTo>
                  <a:pt x="5715000" y="502920"/>
                  <a:pt x="4343400" y="502920"/>
                  <a:pt x="3200400" y="502920"/>
                </a:cubicBezTo>
                <a:cubicBezTo>
                  <a:pt x="2057400" y="502920"/>
                  <a:pt x="533400" y="502920"/>
                  <a:pt x="0" y="502920"/>
                </a:cubicBezTo>
              </a:path>
            </a:pathLst>
          </a:custGeom>
          <a:ln w="44450">
            <a:solidFill>
              <a:srgbClr val="8A183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549640" y="2286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2200" b="1" dirty="0">
                <a:solidFill>
                  <a:srgbClr val="596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٠١</a:t>
            </a:r>
            <a:endParaRPr lang="ar-SA" sz="2200" dirty="0"/>
          </a:p>
        </p:txBody>
      </p:sp>
      <p:sp>
        <p:nvSpPr>
          <p:cNvPr id="8" name="Shape 5"/>
          <p:cNvSpPr/>
          <p:nvPr/>
        </p:nvSpPr>
        <p:spPr>
          <a:xfrm>
            <a:off x="9189720" y="2834640"/>
            <a:ext cx="914400" cy="914400"/>
          </a:xfrm>
          <a:prstGeom prst="ellipse">
            <a:avLst/>
          </a:prstGeom>
          <a:solidFill>
            <a:srgbClr val="8A1832"/>
          </a:solidFill>
          <a:ln w="38100">
            <a:solidFill>
              <a:srgbClr val="FFFDF8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5752" y="3090672"/>
            <a:ext cx="402336" cy="40233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385048" y="397764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1700" b="1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تعريف الخطوات مسبقًا</a:t>
            </a:r>
            <a:endParaRPr lang="ar-SA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8549640" y="43891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lnSpc>
                <a:spcPct val="110000"/>
              </a:lnSpc>
              <a:buNone/>
            </a:pPr>
            <a:r>
              <a:rPr lang="ar-SA" altLang="en-US" sz="1300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لكل نوع معاملة مسار معتمد بخطوات محددة.</a:t>
            </a:r>
            <a:endParaRPr lang="ar-SA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5989320" y="2286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2200" b="1" dirty="0">
                <a:solidFill>
                  <a:srgbClr val="596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٠٢</a:t>
            </a:r>
            <a:endParaRPr lang="ar-SA" sz="2200" dirty="0"/>
          </a:p>
        </p:txBody>
      </p:sp>
      <p:sp>
        <p:nvSpPr>
          <p:cNvPr id="13" name="Shape 9"/>
          <p:cNvSpPr/>
          <p:nvPr/>
        </p:nvSpPr>
        <p:spPr>
          <a:xfrm>
            <a:off x="6629400" y="2834640"/>
            <a:ext cx="914400" cy="914400"/>
          </a:xfrm>
          <a:prstGeom prst="ellipse">
            <a:avLst/>
          </a:prstGeom>
          <a:solidFill>
            <a:srgbClr val="8A1832"/>
          </a:solidFill>
          <a:ln w="38100">
            <a:solidFill>
              <a:srgbClr val="FFFDF8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5432" y="3090672"/>
            <a:ext cx="402336" cy="40233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824728" y="397764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1700" b="1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تحديد المسؤول</a:t>
            </a:r>
            <a:endParaRPr lang="ar-SA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5989320" y="43891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lnSpc>
                <a:spcPct val="110000"/>
              </a:lnSpc>
              <a:buNone/>
            </a:pPr>
            <a:r>
              <a:rPr lang="ar-SA" altLang="en-US" sz="1300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مرحلة مرتبطة بدائرة وموظف محدد.</a:t>
            </a:r>
            <a:endParaRPr lang="ar-SA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3429000" y="2286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2200" b="1" dirty="0">
                <a:solidFill>
                  <a:srgbClr val="596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٠٣</a:t>
            </a:r>
            <a:endParaRPr lang="ar-SA" sz="2200" dirty="0"/>
          </a:p>
        </p:txBody>
      </p:sp>
      <p:sp>
        <p:nvSpPr>
          <p:cNvPr id="18" name="Shape 13"/>
          <p:cNvSpPr/>
          <p:nvPr/>
        </p:nvSpPr>
        <p:spPr>
          <a:xfrm>
            <a:off x="4069080" y="2834640"/>
            <a:ext cx="914400" cy="914400"/>
          </a:xfrm>
          <a:prstGeom prst="ellipse">
            <a:avLst/>
          </a:prstGeom>
          <a:solidFill>
            <a:srgbClr val="8A1832"/>
          </a:solidFill>
          <a:ln w="38100">
            <a:solidFill>
              <a:srgbClr val="FFFDF8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5112" y="3090672"/>
            <a:ext cx="402336" cy="40233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3264408" y="397764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1700" b="1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توثيق التوقف</a:t>
            </a:r>
            <a:endParaRPr lang="ar-SA" sz="1700" dirty="0"/>
          </a:p>
        </p:txBody>
      </p:sp>
      <p:sp>
        <p:nvSpPr>
          <p:cNvPr id="21" name="Text 15"/>
          <p:cNvSpPr txBox="1"/>
          <p:nvPr/>
        </p:nvSpPr>
        <p:spPr>
          <a:xfrm>
            <a:off x="3429000" y="43891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lnSpc>
                <a:spcPct val="110000"/>
              </a:lnSpc>
              <a:buNone/>
            </a:pPr>
            <a:r>
              <a:rPr lang="ar-SA" altLang="en-US" sz="1300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سبب التوقف ووقته يُسجّلان إلزاميًا.</a:t>
            </a:r>
            <a:endParaRPr lang="ar-SA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868680" y="2286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2200" b="1" dirty="0">
                <a:solidFill>
                  <a:srgbClr val="596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٠٤</a:t>
            </a:r>
            <a:endParaRPr lang="ar-SA" sz="2200" dirty="0"/>
          </a:p>
        </p:txBody>
      </p:sp>
      <p:sp>
        <p:nvSpPr>
          <p:cNvPr id="23" name="Shape 17"/>
          <p:cNvSpPr/>
          <p:nvPr/>
        </p:nvSpPr>
        <p:spPr>
          <a:xfrm>
            <a:off x="1508760" y="2834640"/>
            <a:ext cx="914400" cy="914400"/>
          </a:xfrm>
          <a:prstGeom prst="ellipse">
            <a:avLst/>
          </a:prstGeom>
          <a:solidFill>
            <a:srgbClr val="8A1832"/>
          </a:solidFill>
          <a:ln w="38100">
            <a:solidFill>
              <a:srgbClr val="FFFDF8"/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64792" y="3090672"/>
            <a:ext cx="402336" cy="40233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04088" y="397764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1700" b="1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تصعيد تلقائي</a:t>
            </a:r>
            <a:endParaRPr lang="ar-SA" sz="1700" dirty="0"/>
          </a:p>
        </p:txBody>
      </p:sp>
      <p:sp>
        <p:nvSpPr>
          <p:cNvPr id="26" name="Text 19"/>
          <p:cNvSpPr txBox="1"/>
          <p:nvPr/>
        </p:nvSpPr>
        <p:spPr>
          <a:xfrm>
            <a:off x="868680" y="43891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lnSpc>
                <a:spcPct val="110000"/>
              </a:lnSpc>
              <a:buNone/>
            </a:pPr>
            <a:r>
              <a:rPr lang="ar-SA" altLang="en-US" sz="1300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التأخير يصل إلى المدير دون انتظار شكوى.</a:t>
            </a:r>
            <a:endParaRPr lang="ar-SA" sz="1300" dirty="0"/>
          </a:p>
        </p:txBody>
      </p:sp>
      <p:sp>
        <p:nvSpPr>
          <p:cNvPr id="27" name="Shape 20"/>
          <p:cNvSpPr/>
          <p:nvPr/>
        </p:nvSpPr>
        <p:spPr>
          <a:xfrm>
            <a:off x="3566160" y="5532120"/>
            <a:ext cx="5056632" cy="566928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12700">
            <a:solidFill>
              <a:srgbClr val="CBB9A5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3566160" y="5532120"/>
            <a:ext cx="5056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2000" b="1" dirty="0">
                <a:solidFill>
                  <a:srgbClr val="8A1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الخيط هو المسار الإجرائي نفسه</a:t>
            </a:r>
            <a:endParaRPr lang="ar-SA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2743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943600" y="457200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200" b="1" dirty="0">
                <a:solidFill>
                  <a:srgbClr val="596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٠٤ — رحلة المعاملة</a:t>
            </a:r>
            <a:endParaRPr lang="ar-SA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97280" y="73152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200" b="1" dirty="0">
                <a:solidFill>
                  <a:srgbClr val="8A1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رحلة رخصة بناء داخل البلدية</a:t>
            </a:r>
            <a:endParaRPr lang="ar-SA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000" dirty="0">
                <a:solidFill>
                  <a:srgbClr val="CBB9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9230868" y="2057400"/>
            <a:ext cx="1650492" cy="18288"/>
          </a:xfrm>
          <a:custGeom>
            <a:avLst/>
            <a:gdLst/>
            <a:ahLst/>
            <a:cxnLst/>
            <a:rect l="l" t="t" r="r" b="b"/>
            <a:pathLst>
              <a:path w="1650492" h="18288">
                <a:moveTo>
                  <a:pt x="1650492" y="0"/>
                </a:moveTo>
                <a:cubicBezTo>
                  <a:pt x="1375410" y="0"/>
                  <a:pt x="275082" y="0"/>
                  <a:pt x="0" y="0"/>
                </a:cubicBezTo>
              </a:path>
            </a:pathLst>
          </a:custGeom>
          <a:ln w="44450">
            <a:solidFill>
              <a:srgbClr val="59613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01484" y="2057400"/>
            <a:ext cx="1929384" cy="18288"/>
          </a:xfrm>
          <a:custGeom>
            <a:avLst/>
            <a:gdLst/>
            <a:ahLst/>
            <a:cxnLst/>
            <a:rect l="l" t="t" r="r" b="b"/>
            <a:pathLst>
              <a:path w="1929384" h="18288">
                <a:moveTo>
                  <a:pt x="1929384" y="0"/>
                </a:moveTo>
                <a:cubicBezTo>
                  <a:pt x="1607820" y="0"/>
                  <a:pt x="321564" y="0"/>
                  <a:pt x="0" y="0"/>
                </a:cubicBezTo>
              </a:path>
            </a:pathLst>
          </a:custGeom>
          <a:ln w="44450">
            <a:solidFill>
              <a:srgbClr val="59613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372100" y="2057400"/>
            <a:ext cx="1929384" cy="18288"/>
          </a:xfrm>
          <a:custGeom>
            <a:avLst/>
            <a:gdLst/>
            <a:ahLst/>
            <a:cxnLst/>
            <a:rect l="l" t="t" r="r" b="b"/>
            <a:pathLst>
              <a:path w="1929384" h="18288">
                <a:moveTo>
                  <a:pt x="1929384" y="0"/>
                </a:moveTo>
                <a:cubicBezTo>
                  <a:pt x="1607820" y="0"/>
                  <a:pt x="321564" y="0"/>
                  <a:pt x="0" y="0"/>
                </a:cubicBezTo>
              </a:path>
            </a:pathLst>
          </a:custGeom>
          <a:ln w="44450">
            <a:solidFill>
              <a:srgbClr val="59613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42716" y="2057400"/>
            <a:ext cx="1929384" cy="18288"/>
          </a:xfrm>
          <a:custGeom>
            <a:avLst/>
            <a:gdLst/>
            <a:ahLst/>
            <a:cxnLst/>
            <a:rect l="l" t="t" r="r" b="b"/>
            <a:pathLst>
              <a:path w="1929384" h="18288">
                <a:moveTo>
                  <a:pt x="1929384" y="0"/>
                </a:moveTo>
                <a:cubicBezTo>
                  <a:pt x="1607820" y="0"/>
                  <a:pt x="321564" y="0"/>
                  <a:pt x="0" y="0"/>
                </a:cubicBezTo>
              </a:path>
            </a:pathLst>
          </a:custGeom>
          <a:ln w="44450">
            <a:solidFill>
              <a:srgbClr val="C96E3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513332" y="2057400"/>
            <a:ext cx="1929384" cy="18288"/>
          </a:xfrm>
          <a:custGeom>
            <a:avLst/>
            <a:gdLst/>
            <a:ahLst/>
            <a:cxnLst/>
            <a:rect l="l" t="t" r="r" b="b"/>
            <a:pathLst>
              <a:path w="1929384" h="18288">
                <a:moveTo>
                  <a:pt x="1929384" y="0"/>
                </a:moveTo>
                <a:cubicBezTo>
                  <a:pt x="1607820" y="0"/>
                  <a:pt x="321564" y="0"/>
                  <a:pt x="0" y="0"/>
                </a:cubicBezTo>
              </a:path>
            </a:pathLst>
          </a:custGeom>
          <a:ln w="44450">
            <a:solidFill>
              <a:srgbClr val="CBB9A5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502920" y="2057400"/>
            <a:ext cx="1010412" cy="18288"/>
          </a:xfrm>
          <a:custGeom>
            <a:avLst/>
            <a:gdLst/>
            <a:ahLst/>
            <a:cxnLst/>
            <a:rect l="l" t="t" r="r" b="b"/>
            <a:pathLst>
              <a:path w="1010412" h="18288">
                <a:moveTo>
                  <a:pt x="1010412" y="0"/>
                </a:moveTo>
                <a:cubicBezTo>
                  <a:pt x="842010" y="0"/>
                  <a:pt x="168402" y="0"/>
                  <a:pt x="0" y="0"/>
                </a:cubicBezTo>
              </a:path>
            </a:pathLst>
          </a:custGeom>
          <a:ln w="44450">
            <a:solidFill>
              <a:srgbClr val="CBB9A5"/>
            </a:solidFill>
            <a:prstDash val="dash"/>
          </a:ln>
        </p:spPr>
      </p:sp>
      <p:sp>
        <p:nvSpPr>
          <p:cNvPr id="12" name="Text 9"/>
          <p:cNvSpPr txBox="1"/>
          <p:nvPr/>
        </p:nvSpPr>
        <p:spPr>
          <a:xfrm>
            <a:off x="10332720" y="3611880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150" b="1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الموظف المسؤول</a:t>
            </a:r>
            <a:endParaRPr lang="ar-SA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10332720" y="4041648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150" b="1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وقت الاستلام</a:t>
            </a:r>
            <a:endParaRPr lang="ar-SA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10332720" y="4471416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150" b="1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وقت التسليم</a:t>
            </a:r>
            <a:endParaRPr lang="ar-SA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10332720" y="4901184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150" b="1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الحالة</a:t>
            </a:r>
            <a:endParaRPr lang="ar-SA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10332720" y="5330952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150" b="1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سبب التوقف</a:t>
            </a:r>
            <a:endParaRPr lang="ar-SA" sz="1150" dirty="0"/>
          </a:p>
        </p:txBody>
      </p:sp>
      <p:sp>
        <p:nvSpPr>
          <p:cNvPr id="17" name="Shape 14"/>
          <p:cNvSpPr/>
          <p:nvPr/>
        </p:nvSpPr>
        <p:spPr>
          <a:xfrm>
            <a:off x="8947404" y="1773936"/>
            <a:ext cx="566928" cy="566928"/>
          </a:xfrm>
          <a:prstGeom prst="ellipse">
            <a:avLst/>
          </a:prstGeom>
          <a:solidFill>
            <a:srgbClr val="59613A"/>
          </a:solidFill>
          <a:ln w="38100">
            <a:solidFill>
              <a:srgbClr val="FFFDF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947404" y="17739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ar-SA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8316468" y="24871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1600" b="1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تقديم الطلب</a:t>
            </a:r>
            <a:endParaRPr lang="ar-SA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316468" y="2807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1250" b="1" dirty="0">
                <a:solidFill>
                  <a:srgbClr val="596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خدمات الجمهور</a:t>
            </a:r>
            <a:endParaRPr lang="ar-SA" sz="1250" dirty="0"/>
          </a:p>
        </p:txBody>
      </p:sp>
      <p:sp>
        <p:nvSpPr>
          <p:cNvPr id="21" name="Shape 18"/>
          <p:cNvSpPr/>
          <p:nvPr/>
        </p:nvSpPr>
        <p:spPr>
          <a:xfrm>
            <a:off x="8343900" y="3429000"/>
            <a:ext cx="1773936" cy="2331720"/>
          </a:xfrm>
          <a:prstGeom prst="roundRect">
            <a:avLst>
              <a:gd name="adj" fmla="val 5155"/>
            </a:avLst>
          </a:prstGeom>
          <a:solidFill>
            <a:srgbClr val="FFFDF8"/>
          </a:solidFill>
          <a:ln w="12700">
            <a:solidFill>
              <a:srgbClr val="E4D9C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407908" y="3611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1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موظفة الاستقبال</a:t>
            </a:r>
            <a:endParaRPr lang="ar-SA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8407908" y="40416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11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09:05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8407908" y="44714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11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09:40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8773668" y="4901184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59613A">
              <a:alpha val="16000"/>
            </a:srgbClr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773668" y="49011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050" b="1" dirty="0">
                <a:solidFill>
                  <a:srgbClr val="596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منجزة</a:t>
            </a:r>
            <a:endParaRPr lang="ar-SA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8407908" y="5330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1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ar-SA" sz="1150" dirty="0"/>
          </a:p>
        </p:txBody>
      </p:sp>
      <p:sp>
        <p:nvSpPr>
          <p:cNvPr id="28" name="Shape 25"/>
          <p:cNvSpPr/>
          <p:nvPr/>
        </p:nvSpPr>
        <p:spPr>
          <a:xfrm>
            <a:off x="7018020" y="1773936"/>
            <a:ext cx="566928" cy="566928"/>
          </a:xfrm>
          <a:prstGeom prst="ellipse">
            <a:avLst/>
          </a:prstGeom>
          <a:solidFill>
            <a:srgbClr val="59613A"/>
          </a:solidFill>
          <a:ln w="38100">
            <a:solidFill>
              <a:srgbClr val="FFFDF8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018020" y="17739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ar-SA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6387084" y="24871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1600" b="1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المراجعة الفنية</a:t>
            </a:r>
            <a:endParaRPr lang="ar-SA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6387084" y="2807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1250" b="1" dirty="0">
                <a:solidFill>
                  <a:srgbClr val="596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الهندسة</a:t>
            </a:r>
            <a:endParaRPr lang="ar-SA" sz="1250" dirty="0"/>
          </a:p>
        </p:txBody>
      </p:sp>
      <p:sp>
        <p:nvSpPr>
          <p:cNvPr id="32" name="Shape 29"/>
          <p:cNvSpPr/>
          <p:nvPr/>
        </p:nvSpPr>
        <p:spPr>
          <a:xfrm>
            <a:off x="6414516" y="3429000"/>
            <a:ext cx="1773936" cy="2331720"/>
          </a:xfrm>
          <a:prstGeom prst="roundRect">
            <a:avLst>
              <a:gd name="adj" fmla="val 5155"/>
            </a:avLst>
          </a:prstGeom>
          <a:solidFill>
            <a:srgbClr val="FFFDF8"/>
          </a:solidFill>
          <a:ln w="12700">
            <a:solidFill>
              <a:srgbClr val="E4D9C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478524" y="3611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1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المهندس المراجع</a:t>
            </a:r>
            <a:endParaRPr lang="ar-SA" sz="1150" dirty="0"/>
          </a:p>
        </p:txBody>
      </p:sp>
      <p:sp>
        <p:nvSpPr>
          <p:cNvPr id="34" name="Text 31"/>
          <p:cNvSpPr txBox="1"/>
          <p:nvPr/>
        </p:nvSpPr>
        <p:spPr>
          <a:xfrm>
            <a:off x="6478524" y="40416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11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09:40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6478524" y="44714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11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12:15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844284" y="4901184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59613A">
              <a:alpha val="16000"/>
            </a:srgbClr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6844284" y="49011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050" b="1" dirty="0">
                <a:solidFill>
                  <a:srgbClr val="596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منجزة</a:t>
            </a:r>
            <a:endParaRPr lang="ar-SA" sz="1050" dirty="0"/>
          </a:p>
        </p:txBody>
      </p:sp>
      <p:sp>
        <p:nvSpPr>
          <p:cNvPr id="38" name="Text 35"/>
          <p:cNvSpPr txBox="1"/>
          <p:nvPr/>
        </p:nvSpPr>
        <p:spPr>
          <a:xfrm>
            <a:off x="6478524" y="5330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1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ar-SA" sz="1150" dirty="0"/>
          </a:p>
        </p:txBody>
      </p:sp>
      <p:sp>
        <p:nvSpPr>
          <p:cNvPr id="39" name="Shape 36"/>
          <p:cNvSpPr/>
          <p:nvPr/>
        </p:nvSpPr>
        <p:spPr>
          <a:xfrm>
            <a:off x="5088636" y="1773936"/>
            <a:ext cx="566928" cy="566928"/>
          </a:xfrm>
          <a:prstGeom prst="ellipse">
            <a:avLst/>
          </a:prstGeom>
          <a:solidFill>
            <a:srgbClr val="C96E3B"/>
          </a:solidFill>
          <a:ln w="38100">
            <a:solidFill>
              <a:srgbClr val="FFFDF8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5088636" y="17739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ar-SA" sz="1600" dirty="0"/>
          </a:p>
        </p:txBody>
      </p:sp>
      <p:sp>
        <p:nvSpPr>
          <p:cNvPr id="41" name="Text 38"/>
          <p:cNvSpPr txBox="1"/>
          <p:nvPr/>
        </p:nvSpPr>
        <p:spPr>
          <a:xfrm>
            <a:off x="4457700" y="24871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1600" b="1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تدقيق الرسوم</a:t>
            </a:r>
            <a:endParaRPr lang="ar-SA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4457700" y="2807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1250" b="1" dirty="0">
                <a:solidFill>
                  <a:srgbClr val="596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المالية</a:t>
            </a:r>
            <a:endParaRPr lang="ar-SA" sz="1250" dirty="0"/>
          </a:p>
        </p:txBody>
      </p:sp>
      <p:sp>
        <p:nvSpPr>
          <p:cNvPr id="43" name="Shape 40"/>
          <p:cNvSpPr/>
          <p:nvPr/>
        </p:nvSpPr>
        <p:spPr>
          <a:xfrm>
            <a:off x="4485132" y="3429000"/>
            <a:ext cx="1773936" cy="2331720"/>
          </a:xfrm>
          <a:prstGeom prst="roundRect">
            <a:avLst>
              <a:gd name="adj" fmla="val 5155"/>
            </a:avLst>
          </a:prstGeom>
          <a:solidFill>
            <a:srgbClr val="FFFDF8"/>
          </a:solidFill>
          <a:ln w="19050">
            <a:solidFill>
              <a:srgbClr val="C96E3B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4549140" y="3611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1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مدقق الرسوم</a:t>
            </a:r>
            <a:endParaRPr lang="ar-SA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4549140" y="40416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11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12:20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4549140" y="44714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1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ar-SA" sz="1150" dirty="0"/>
          </a:p>
        </p:txBody>
      </p:sp>
      <p:sp>
        <p:nvSpPr>
          <p:cNvPr id="47" name="Shape 44"/>
          <p:cNvSpPr/>
          <p:nvPr/>
        </p:nvSpPr>
        <p:spPr>
          <a:xfrm>
            <a:off x="4914900" y="4901184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C96E3B">
              <a:alpha val="16000"/>
            </a:srgbClr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4914900" y="49011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050" b="1" dirty="0">
                <a:solidFill>
                  <a:srgbClr val="C96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متأخرة</a:t>
            </a:r>
            <a:endParaRPr lang="ar-SA" sz="1050" dirty="0"/>
          </a:p>
        </p:txBody>
      </p:sp>
      <p:sp>
        <p:nvSpPr>
          <p:cNvPr id="49" name="Text 46"/>
          <p:cNvSpPr txBox="1"/>
          <p:nvPr/>
        </p:nvSpPr>
        <p:spPr>
          <a:xfrm>
            <a:off x="4549140" y="5330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050" b="1" dirty="0">
                <a:solidFill>
                  <a:srgbClr val="C96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بانتظار إيصال الرسوم</a:t>
            </a:r>
            <a:endParaRPr lang="ar-SA" sz="1050" dirty="0"/>
          </a:p>
        </p:txBody>
      </p:sp>
      <p:sp>
        <p:nvSpPr>
          <p:cNvPr id="50" name="Shape 47"/>
          <p:cNvSpPr/>
          <p:nvPr/>
        </p:nvSpPr>
        <p:spPr>
          <a:xfrm>
            <a:off x="3159252" y="1773936"/>
            <a:ext cx="566928" cy="566928"/>
          </a:xfrm>
          <a:prstGeom prst="ellipse">
            <a:avLst/>
          </a:prstGeom>
          <a:solidFill>
            <a:srgbClr val="CBB9A5"/>
          </a:solidFill>
          <a:ln w="38100">
            <a:solidFill>
              <a:srgbClr val="FFFDF8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159252" y="17739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600" b="1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ar-SA" sz="1600" dirty="0"/>
          </a:p>
        </p:txBody>
      </p:sp>
      <p:sp>
        <p:nvSpPr>
          <p:cNvPr id="52" name="Text 49"/>
          <p:cNvSpPr txBox="1"/>
          <p:nvPr/>
        </p:nvSpPr>
        <p:spPr>
          <a:xfrm>
            <a:off x="2528316" y="24871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1600" b="1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الاعتماد النهائي</a:t>
            </a:r>
            <a:endParaRPr lang="ar-SA" sz="1600" dirty="0"/>
          </a:p>
        </p:txBody>
      </p:sp>
      <p:sp>
        <p:nvSpPr>
          <p:cNvPr id="53" name="Text 50"/>
          <p:cNvSpPr txBox="1"/>
          <p:nvPr/>
        </p:nvSpPr>
        <p:spPr>
          <a:xfrm>
            <a:off x="2528316" y="2807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1250" b="1" dirty="0">
                <a:solidFill>
                  <a:srgbClr val="596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المدير</a:t>
            </a:r>
            <a:endParaRPr lang="ar-SA" sz="1250" dirty="0"/>
          </a:p>
        </p:txBody>
      </p:sp>
      <p:sp>
        <p:nvSpPr>
          <p:cNvPr id="54" name="Shape 51"/>
          <p:cNvSpPr/>
          <p:nvPr/>
        </p:nvSpPr>
        <p:spPr>
          <a:xfrm>
            <a:off x="2555748" y="3429000"/>
            <a:ext cx="1773936" cy="2331720"/>
          </a:xfrm>
          <a:prstGeom prst="roundRect">
            <a:avLst>
              <a:gd name="adj" fmla="val 5155"/>
            </a:avLst>
          </a:prstGeom>
          <a:solidFill>
            <a:srgbClr val="FFFDF8"/>
          </a:solidFill>
          <a:ln w="12700">
            <a:solidFill>
              <a:srgbClr val="E4D9C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619756" y="3611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1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مدير البلدية</a:t>
            </a:r>
            <a:endParaRPr lang="ar-SA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2619756" y="40416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1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ar-SA" sz="1150" dirty="0"/>
          </a:p>
        </p:txBody>
      </p:sp>
      <p:sp>
        <p:nvSpPr>
          <p:cNvPr id="57" name="Text 54"/>
          <p:cNvSpPr txBox="1"/>
          <p:nvPr/>
        </p:nvSpPr>
        <p:spPr>
          <a:xfrm>
            <a:off x="2619756" y="44714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1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ar-SA" sz="1150" dirty="0"/>
          </a:p>
        </p:txBody>
      </p:sp>
      <p:sp>
        <p:nvSpPr>
          <p:cNvPr id="58" name="Shape 55"/>
          <p:cNvSpPr/>
          <p:nvPr/>
        </p:nvSpPr>
        <p:spPr>
          <a:xfrm>
            <a:off x="2985516" y="4901184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6B6259">
              <a:alpha val="16000"/>
            </a:srgbClr>
          </a:solidFill>
          <a:ln/>
        </p:spPr>
      </p:sp>
      <p:sp>
        <p:nvSpPr>
          <p:cNvPr id="59" name="Text 56"/>
          <p:cNvSpPr txBox="1"/>
          <p:nvPr/>
        </p:nvSpPr>
        <p:spPr>
          <a:xfrm>
            <a:off x="2985516" y="49011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050" b="1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بالانتظار</a:t>
            </a:r>
            <a:endParaRPr lang="ar-SA" sz="1050" dirty="0"/>
          </a:p>
        </p:txBody>
      </p:sp>
      <p:sp>
        <p:nvSpPr>
          <p:cNvPr id="60" name="Text 57"/>
          <p:cNvSpPr txBox="1"/>
          <p:nvPr/>
        </p:nvSpPr>
        <p:spPr>
          <a:xfrm>
            <a:off x="2619756" y="5330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1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ar-SA" sz="1150" dirty="0"/>
          </a:p>
        </p:txBody>
      </p:sp>
      <p:sp>
        <p:nvSpPr>
          <p:cNvPr id="61" name="Shape 58"/>
          <p:cNvSpPr/>
          <p:nvPr/>
        </p:nvSpPr>
        <p:spPr>
          <a:xfrm>
            <a:off x="1229868" y="1773936"/>
            <a:ext cx="566928" cy="566928"/>
          </a:xfrm>
          <a:prstGeom prst="ellipse">
            <a:avLst/>
          </a:prstGeom>
          <a:solidFill>
            <a:srgbClr val="CBB9A5"/>
          </a:solidFill>
          <a:ln w="38100">
            <a:solidFill>
              <a:srgbClr val="FFFDF8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1229868" y="17739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600" b="1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ar-SA" sz="1600" dirty="0"/>
          </a:p>
        </p:txBody>
      </p:sp>
      <p:sp>
        <p:nvSpPr>
          <p:cNvPr id="63" name="Text 60"/>
          <p:cNvSpPr txBox="1"/>
          <p:nvPr/>
        </p:nvSpPr>
        <p:spPr>
          <a:xfrm>
            <a:off x="598932" y="24871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1600" b="1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الإنجاز</a:t>
            </a:r>
            <a:endParaRPr lang="ar-SA" sz="1600" dirty="0"/>
          </a:p>
        </p:txBody>
      </p:sp>
      <p:sp>
        <p:nvSpPr>
          <p:cNvPr id="64" name="Text 61"/>
          <p:cNvSpPr txBox="1"/>
          <p:nvPr/>
        </p:nvSpPr>
        <p:spPr>
          <a:xfrm>
            <a:off x="598932" y="2807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1250" b="1" dirty="0">
                <a:solidFill>
                  <a:srgbClr val="596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إبلاغ المواطن</a:t>
            </a:r>
            <a:endParaRPr lang="ar-SA" sz="1250" dirty="0"/>
          </a:p>
        </p:txBody>
      </p:sp>
      <p:sp>
        <p:nvSpPr>
          <p:cNvPr id="65" name="Shape 62"/>
          <p:cNvSpPr/>
          <p:nvPr/>
        </p:nvSpPr>
        <p:spPr>
          <a:xfrm>
            <a:off x="626364" y="3429000"/>
            <a:ext cx="1773936" cy="2331720"/>
          </a:xfrm>
          <a:prstGeom prst="roundRect">
            <a:avLst>
              <a:gd name="adj" fmla="val 5155"/>
            </a:avLst>
          </a:prstGeom>
          <a:solidFill>
            <a:srgbClr val="FFFDF8"/>
          </a:solidFill>
          <a:ln w="12700">
            <a:solidFill>
              <a:srgbClr val="E4D9CA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690372" y="3611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1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النظام</a:t>
            </a:r>
            <a:endParaRPr lang="ar-SA" sz="1150" dirty="0"/>
          </a:p>
        </p:txBody>
      </p:sp>
      <p:sp>
        <p:nvSpPr>
          <p:cNvPr id="67" name="Text 64"/>
          <p:cNvSpPr txBox="1"/>
          <p:nvPr/>
        </p:nvSpPr>
        <p:spPr>
          <a:xfrm>
            <a:off x="690372" y="40416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1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ar-SA" sz="1150" dirty="0"/>
          </a:p>
        </p:txBody>
      </p:sp>
      <p:sp>
        <p:nvSpPr>
          <p:cNvPr id="68" name="Text 65"/>
          <p:cNvSpPr txBox="1"/>
          <p:nvPr/>
        </p:nvSpPr>
        <p:spPr>
          <a:xfrm>
            <a:off x="690372" y="44714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1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ar-SA" sz="1150" dirty="0"/>
          </a:p>
        </p:txBody>
      </p:sp>
      <p:sp>
        <p:nvSpPr>
          <p:cNvPr id="69" name="Shape 66"/>
          <p:cNvSpPr/>
          <p:nvPr/>
        </p:nvSpPr>
        <p:spPr>
          <a:xfrm>
            <a:off x="1056132" y="4901184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6B6259">
              <a:alpha val="16000"/>
            </a:srgbClr>
          </a:solidFill>
          <a:ln/>
        </p:spPr>
      </p:sp>
      <p:sp>
        <p:nvSpPr>
          <p:cNvPr id="70" name="Text 67"/>
          <p:cNvSpPr txBox="1"/>
          <p:nvPr/>
        </p:nvSpPr>
        <p:spPr>
          <a:xfrm>
            <a:off x="1056132" y="49011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050" b="1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بالانتظار</a:t>
            </a:r>
            <a:endParaRPr lang="ar-SA" sz="1050" dirty="0"/>
          </a:p>
        </p:txBody>
      </p:sp>
      <p:sp>
        <p:nvSpPr>
          <p:cNvPr id="71" name="Text 68"/>
          <p:cNvSpPr txBox="1"/>
          <p:nvPr/>
        </p:nvSpPr>
        <p:spPr>
          <a:xfrm>
            <a:off x="690372" y="5330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1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ar-SA" sz="1150" dirty="0"/>
          </a:p>
        </p:txBody>
      </p:sp>
      <p:sp>
        <p:nvSpPr>
          <p:cNvPr id="72" name="Shape 69"/>
          <p:cNvSpPr/>
          <p:nvPr/>
        </p:nvSpPr>
        <p:spPr>
          <a:xfrm>
            <a:off x="11494008" y="6053328"/>
            <a:ext cx="146304" cy="146304"/>
          </a:xfrm>
          <a:prstGeom prst="ellipse">
            <a:avLst/>
          </a:prstGeom>
          <a:solidFill>
            <a:srgbClr val="59613A"/>
          </a:solidFill>
          <a:ln/>
        </p:spPr>
      </p:sp>
      <p:sp>
        <p:nvSpPr>
          <p:cNvPr id="73" name="Text 70"/>
          <p:cNvSpPr txBox="1"/>
          <p:nvPr/>
        </p:nvSpPr>
        <p:spPr>
          <a:xfrm>
            <a:off x="10757916" y="5989320"/>
            <a:ext cx="662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100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منجزة</a:t>
            </a:r>
            <a:endParaRPr lang="ar-SA" sz="1100" dirty="0"/>
          </a:p>
        </p:txBody>
      </p:sp>
      <p:sp>
        <p:nvSpPr>
          <p:cNvPr id="74" name="Shape 71"/>
          <p:cNvSpPr/>
          <p:nvPr/>
        </p:nvSpPr>
        <p:spPr>
          <a:xfrm>
            <a:off x="10328148" y="6053328"/>
            <a:ext cx="146304" cy="146304"/>
          </a:xfrm>
          <a:prstGeom prst="ellipse">
            <a:avLst/>
          </a:prstGeom>
          <a:solidFill>
            <a:srgbClr val="C96E3B"/>
          </a:solidFill>
          <a:ln/>
        </p:spPr>
      </p:sp>
      <p:sp>
        <p:nvSpPr>
          <p:cNvPr id="75" name="Text 72"/>
          <p:cNvSpPr txBox="1"/>
          <p:nvPr/>
        </p:nvSpPr>
        <p:spPr>
          <a:xfrm>
            <a:off x="9514332" y="5989320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100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متأخرة</a:t>
            </a:r>
            <a:endParaRPr lang="ar-SA" sz="1100" dirty="0"/>
          </a:p>
        </p:txBody>
      </p:sp>
      <p:sp>
        <p:nvSpPr>
          <p:cNvPr id="76" name="Shape 73"/>
          <p:cNvSpPr/>
          <p:nvPr/>
        </p:nvSpPr>
        <p:spPr>
          <a:xfrm>
            <a:off x="9084564" y="6053328"/>
            <a:ext cx="146304" cy="146304"/>
          </a:xfrm>
          <a:prstGeom prst="ellipse">
            <a:avLst/>
          </a:prstGeom>
          <a:solidFill>
            <a:srgbClr val="B54242"/>
          </a:solidFill>
          <a:ln/>
        </p:spPr>
      </p:sp>
      <p:sp>
        <p:nvSpPr>
          <p:cNvPr id="77" name="Text 74"/>
          <p:cNvSpPr txBox="1"/>
          <p:nvPr/>
        </p:nvSpPr>
        <p:spPr>
          <a:xfrm>
            <a:off x="7415784" y="5989320"/>
            <a:ext cx="1595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100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متوقفة أو متجاوزة</a:t>
            </a:r>
            <a:endParaRPr lang="ar-SA" sz="1100" dirty="0"/>
          </a:p>
        </p:txBody>
      </p:sp>
      <p:sp>
        <p:nvSpPr>
          <p:cNvPr id="78" name="Shape 75"/>
          <p:cNvSpPr/>
          <p:nvPr/>
        </p:nvSpPr>
        <p:spPr>
          <a:xfrm>
            <a:off x="6986016" y="6053328"/>
            <a:ext cx="146304" cy="146304"/>
          </a:xfrm>
          <a:prstGeom prst="ellipse">
            <a:avLst/>
          </a:prstGeom>
          <a:solidFill>
            <a:srgbClr val="CBB9A5"/>
          </a:solidFill>
          <a:ln/>
        </p:spPr>
      </p:sp>
      <p:sp>
        <p:nvSpPr>
          <p:cNvPr id="79" name="Text 76"/>
          <p:cNvSpPr txBox="1"/>
          <p:nvPr/>
        </p:nvSpPr>
        <p:spPr>
          <a:xfrm>
            <a:off x="5939028" y="5989320"/>
            <a:ext cx="9738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100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بالانتظار</a:t>
            </a:r>
            <a:endParaRPr lang="ar-SA" sz="1100" dirty="0"/>
          </a:p>
        </p:txBody>
      </p:sp>
      <p:sp>
        <p:nvSpPr>
          <p:cNvPr id="80" name="Text 77"/>
          <p:cNvSpPr txBox="1"/>
          <p:nvPr/>
        </p:nvSpPr>
        <p:spPr>
          <a:xfrm>
            <a:off x="1828800" y="5989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1">
              <a:buNone/>
            </a:pPr>
            <a:r>
              <a:rPr lang="ar-SA" altLang="en-US" sz="1000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الأسماء والأوقات توضيحية</a:t>
            </a:r>
            <a:endParaRPr lang="ar-SA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2743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943600" y="457200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200" b="1" dirty="0">
                <a:solidFill>
                  <a:srgbClr val="596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لقطة من النظام الفعلي</a:t>
            </a:r>
            <a:endParaRPr lang="ar-SA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97280" y="73152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200" b="1" dirty="0">
                <a:solidFill>
                  <a:srgbClr val="8A1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رحلة معاملة حقيقية، خطوة بخطوة</a:t>
            </a:r>
            <a:endParaRPr lang="ar-SA" sz="3200" dirty="0"/>
          </a:p>
        </p:txBody>
      </p:sp>
      <p:sp>
        <p:nvSpPr>
          <p:cNvPr id="110" name="ShotCard"/>
          <p:cNvSpPr/>
          <p:nvPr/>
        </p:nvSpPr>
        <p:spPr>
          <a:xfrm>
            <a:off x="2719600" y="1950000"/>
            <a:ext cx="6752800" cy="4488000"/>
          </a:xfrm>
          <a:prstGeom prst="roundRect">
            <a:avLst>
              <a:gd name="adj" fmla="val 3000"/>
            </a:avLst>
          </a:prstGeom>
          <a:solidFill>
            <a:srgbClr val="FFFDF8"/>
          </a:solidFill>
          <a:ln w="12700">
            <a:solidFill>
              <a:srgbClr val="CBB9A5"/>
            </a:solidFill>
            <a:prstDash val="solid"/>
          </a:ln>
          <a:effectLst>
            <a:outerShdw blurRad="180000" dist="60000" dir="5400000" rotWithShape="0">
              <a:srgbClr val="3A1520">
                <a:alpha val="22000"/>
              </a:srgbClr>
            </a:outerShdw>
          </a:effectLst>
        </p:spPr>
      </p:sp>
      <p:sp>
        <p:nvSpPr>
          <p:cNvPr id="114" name="dot"/>
          <p:cNvSpPr/>
          <p:nvPr/>
        </p:nvSpPr>
        <p:spPr>
          <a:xfrm>
            <a:off x="2789600" y="2019000"/>
            <a:ext cx="92000" cy="92000"/>
          </a:xfrm>
          <a:prstGeom prst="ellipse">
            <a:avLst/>
          </a:prstGeom>
          <a:solidFill>
            <a:srgbClr val="8A1832"/>
          </a:solidFill>
          <a:ln>
            <a:noFill/>
          </a:ln>
        </p:spPr>
      </p:sp>
      <p:sp>
        <p:nvSpPr>
          <p:cNvPr id="115" name="dot"/>
          <p:cNvSpPr/>
          <p:nvPr/>
        </p:nvSpPr>
        <p:spPr>
          <a:xfrm>
            <a:off x="2865600" y="2019000"/>
            <a:ext cx="92000" cy="92000"/>
          </a:xfrm>
          <a:prstGeom prst="ellipse">
            <a:avLst/>
          </a:prstGeom>
          <a:solidFill>
            <a:srgbClr val="CBB9A5"/>
          </a:solidFill>
          <a:ln>
            <a:noFill/>
          </a:ln>
        </p:spPr>
      </p:sp>
      <p:sp>
        <p:nvSpPr>
          <p:cNvPr id="116" name="dot"/>
          <p:cNvSpPr/>
          <p:nvPr/>
        </p:nvSpPr>
        <p:spPr>
          <a:xfrm>
            <a:off x="2941600" y="2019000"/>
            <a:ext cx="92000" cy="92000"/>
          </a:xfrm>
          <a:prstGeom prst="ellipse">
            <a:avLst/>
          </a:prstGeom>
          <a:solidFill>
            <a:srgbClr val="59613A"/>
          </a:solidFill>
          <a:ln>
            <a:noFill/>
          </a:ln>
        </p:spPr>
      </p:sp>
      <p:sp>
        <p:nvSpPr>
          <p:cNvPr id="111" name="ChromeDivider"/>
          <p:cNvSpPr/>
          <p:nvPr/>
        </p:nvSpPr>
        <p:spPr>
          <a:xfrm>
            <a:off x="2719600" y="2180000"/>
            <a:ext cx="6752800" cy="12700"/>
          </a:xfrm>
          <a:prstGeom prst="rect">
            <a:avLst/>
          </a:prstGeom>
          <a:solidFill>
            <a:srgbClr val="CBB9A5"/>
          </a:solidFill>
          <a:ln>
            <a:noFill/>
          </a:ln>
        </p:spPr>
      </p:sp>
      <p:sp>
        <p:nvSpPr>
          <p:cNvPr id="112" name="ChromeLabel"/>
          <p:cNvSpPr txBox="1"/>
          <p:nvPr/>
        </p:nvSpPr>
        <p:spPr>
          <a:xfrm>
            <a:off x="3057600" y="1950000"/>
            <a:ext cx="63348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ar-SA" sz="1100" dirty="0">
                <a:solidFill>
                  <a:srgbClr val="6B6259"/>
                </a:solidFill>
                <a:latin typeface="Arial" pitchFamily="34" charset="0"/>
              </a:rPr>
              <a:t>tarfalkhayt.ps</a:t>
            </a:r>
          </a:p>
        </p:txBody>
      </p:sp>
      <p:pic>
        <p:nvPicPr>
          <p:cNvPr id="113" name="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9600" y="2230000"/>
            <a:ext cx="6652800" cy="4158000"/>
          </a:xfrm>
          <a:prstGeom prst="rect">
            <a:avLst/>
          </a:prstGeom>
        </p:spPr>
      </p:pic>
      <p:sp>
        <p:nvSpPr>
          <p:cNvPr id="117" name="Sub"/>
          <p:cNvSpPr txBox="1"/>
          <p:nvPr/>
        </p:nvSpPr>
        <p:spPr>
          <a:xfrm>
            <a:off x="1097280" y="149352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400" dirty="0">
                <a:solidFill>
                  <a:srgbClr val="6B6259"/>
                </a:solidFill>
                <a:latin typeface="Arial" pitchFamily="34" charset="0"/>
              </a:rPr>
              <a:t>شهادة براءة ذمة — المرحلة الحالية، الوقت المتبقي، وسجل المسار كامل.</a:t>
            </a:r>
          </a:p>
        </p:txBody>
      </p:sp>
      <p:sp>
        <p:nvSpPr>
          <p:cNvPr id="118" name="Caption"/>
          <p:cNvSpPr txBox="1"/>
          <p:nvPr/>
        </p:nvSpPr>
        <p:spPr>
          <a:xfrm>
            <a:off x="548640" y="6400800"/>
            <a:ext cx="600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1">
              <a:buNone/>
            </a:pPr>
            <a:r>
              <a:rPr lang="ar-SA" altLang="en-US" sz="1000" i="1" dirty="0">
                <a:solidFill>
                  <a:srgbClr val="CBB9A5"/>
                </a:solidFill>
                <a:latin typeface="Arial" pitchFamily="34" charset="0"/>
              </a:rPr>
              <a:t>شاشة حيّة من tarfalkhayt — لا تصميم، لا محاكاة.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2743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943600" y="457200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200" b="1" dirty="0">
                <a:solidFill>
                  <a:srgbClr val="596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٠٥ — الرحلة المتزامنة</a:t>
            </a:r>
            <a:endParaRPr lang="ar-SA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97280" y="73152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200" b="1" dirty="0">
                <a:solidFill>
                  <a:srgbClr val="8A1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رحلة واحدة، رؤية متزامنة</a:t>
            </a:r>
            <a:endParaRPr lang="ar-SA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000" dirty="0">
                <a:solidFill>
                  <a:srgbClr val="CBB9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10</a:t>
            </a:r>
            <a:endParaRPr lang="en-US" sz="1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56264" y="1581912"/>
            <a:ext cx="256032" cy="25603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869680" y="15727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500" b="1" dirty="0">
                <a:solidFill>
                  <a:srgbClr val="8A1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جهة المواطن</a:t>
            </a:r>
            <a:endParaRPr lang="ar-SA" sz="15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6744" y="1581912"/>
            <a:ext cx="256032" cy="256032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48640" y="157276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500" b="1" dirty="0">
                <a:solidFill>
                  <a:srgbClr val="8A1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جهة الموظف والبلدية</a:t>
            </a:r>
            <a:endParaRPr lang="ar-SA" sz="1500" dirty="0"/>
          </a:p>
        </p:txBody>
      </p:sp>
      <p:sp>
        <p:nvSpPr>
          <p:cNvPr id="10" name="Shape 5"/>
          <p:cNvSpPr/>
          <p:nvPr/>
        </p:nvSpPr>
        <p:spPr>
          <a:xfrm>
            <a:off x="8915400" y="1965960"/>
            <a:ext cx="2724912" cy="3703320"/>
          </a:xfrm>
          <a:prstGeom prst="roundRect">
            <a:avLst>
              <a:gd name="adj" fmla="val 10067"/>
            </a:avLst>
          </a:prstGeom>
          <a:solidFill>
            <a:srgbClr val="FFFDF8"/>
          </a:solidFill>
          <a:ln w="28575">
            <a:solidFill>
              <a:srgbClr val="292622"/>
            </a:solidFill>
            <a:prstDash val="solid"/>
          </a:ln>
          <a:effectLst>
            <a:outerShdw blurRad="127000" dist="38100" dir="5400000" algn="bl" rotWithShape="0">
              <a:srgbClr val="5A4636">
                <a:alpha val="14000"/>
              </a:srgbClr>
            </a:outerShdw>
          </a:effectLst>
        </p:spPr>
      </p:sp>
      <p:sp>
        <p:nvSpPr>
          <p:cNvPr id="11" name="Text 6"/>
          <p:cNvSpPr txBox="1"/>
          <p:nvPr/>
        </p:nvSpPr>
        <p:spPr>
          <a:xfrm>
            <a:off x="9098280" y="2084832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150" b="1" dirty="0">
                <a:solidFill>
                  <a:srgbClr val="561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معاملاتي · رخصة بناء</a:t>
            </a:r>
            <a:endParaRPr lang="ar-SA" sz="1150" dirty="0"/>
          </a:p>
        </p:txBody>
      </p:sp>
      <p:sp>
        <p:nvSpPr>
          <p:cNvPr id="12" name="Shape 7"/>
          <p:cNvSpPr/>
          <p:nvPr/>
        </p:nvSpPr>
        <p:spPr>
          <a:xfrm>
            <a:off x="548640" y="1965960"/>
            <a:ext cx="3520440" cy="3703320"/>
          </a:xfrm>
          <a:prstGeom prst="roundRect">
            <a:avLst>
              <a:gd name="adj" fmla="val 2597"/>
            </a:avLst>
          </a:prstGeom>
          <a:solidFill>
            <a:srgbClr val="FFFDF8"/>
          </a:solidFill>
          <a:ln w="19050">
            <a:solidFill>
              <a:srgbClr val="292622"/>
            </a:solidFill>
            <a:prstDash val="solid"/>
          </a:ln>
          <a:effectLst>
            <a:outerShdw blurRad="127000" dist="38100" dir="5400000" algn="bl" rotWithShape="0">
              <a:srgbClr val="5A4636">
                <a:alpha val="14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566928" y="1984248"/>
            <a:ext cx="3483864" cy="310896"/>
          </a:xfrm>
          <a:prstGeom prst="rect">
            <a:avLst/>
          </a:prstGeom>
          <a:solidFill>
            <a:srgbClr val="F1E8DA"/>
          </a:solidFill>
          <a:ln/>
        </p:spPr>
      </p:sp>
      <p:sp>
        <p:nvSpPr>
          <p:cNvPr id="14" name="Shape 9"/>
          <p:cNvSpPr/>
          <p:nvPr/>
        </p:nvSpPr>
        <p:spPr>
          <a:xfrm>
            <a:off x="731520" y="2084832"/>
            <a:ext cx="100584" cy="100584"/>
          </a:xfrm>
          <a:prstGeom prst="ellipse">
            <a:avLst/>
          </a:prstGeom>
          <a:solidFill>
            <a:srgbClr val="CBB9A5"/>
          </a:solidFill>
          <a:ln/>
        </p:spPr>
      </p:sp>
      <p:sp>
        <p:nvSpPr>
          <p:cNvPr id="15" name="Shape 10"/>
          <p:cNvSpPr/>
          <p:nvPr/>
        </p:nvSpPr>
        <p:spPr>
          <a:xfrm>
            <a:off x="896112" y="2084832"/>
            <a:ext cx="100584" cy="100584"/>
          </a:xfrm>
          <a:prstGeom prst="ellipse">
            <a:avLst/>
          </a:prstGeom>
          <a:solidFill>
            <a:srgbClr val="CBB9A5"/>
          </a:solidFill>
          <a:ln/>
        </p:spPr>
      </p:sp>
      <p:sp>
        <p:nvSpPr>
          <p:cNvPr id="16" name="Shape 11"/>
          <p:cNvSpPr/>
          <p:nvPr/>
        </p:nvSpPr>
        <p:spPr>
          <a:xfrm>
            <a:off x="1060704" y="2084832"/>
            <a:ext cx="100584" cy="100584"/>
          </a:xfrm>
          <a:prstGeom prst="ellipse">
            <a:avLst/>
          </a:prstGeom>
          <a:solidFill>
            <a:srgbClr val="CBB9A5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1828800" y="198424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100" b="1" dirty="0">
                <a:solidFill>
                  <a:srgbClr val="561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البلدية</a:t>
            </a:r>
            <a:endParaRPr lang="ar-SA" sz="1100" dirty="0"/>
          </a:p>
        </p:txBody>
      </p:sp>
      <p:sp>
        <p:nvSpPr>
          <p:cNvPr id="18" name="Shape 13"/>
          <p:cNvSpPr/>
          <p:nvPr/>
        </p:nvSpPr>
        <p:spPr>
          <a:xfrm>
            <a:off x="3931920" y="2715768"/>
            <a:ext cx="5120640" cy="146304"/>
          </a:xfrm>
          <a:custGeom>
            <a:avLst/>
            <a:gdLst/>
            <a:ahLst/>
            <a:cxnLst/>
            <a:rect l="l" t="t" r="r" b="b"/>
            <a:pathLst>
              <a:path w="5120640" h="146304">
                <a:moveTo>
                  <a:pt x="5120640" y="73152"/>
                </a:moveTo>
                <a:cubicBezTo>
                  <a:pt x="4892040" y="60960"/>
                  <a:pt x="4198620" y="0"/>
                  <a:pt x="3749040" y="0"/>
                </a:cubicBezTo>
                <a:cubicBezTo>
                  <a:pt x="3299460" y="0"/>
                  <a:pt x="2865120" y="48768"/>
                  <a:pt x="2423160" y="73152"/>
                </a:cubicBezTo>
                <a:cubicBezTo>
                  <a:pt x="1981200" y="97536"/>
                  <a:pt x="1501140" y="146304"/>
                  <a:pt x="1097280" y="146304"/>
                </a:cubicBezTo>
                <a:cubicBezTo>
                  <a:pt x="693420" y="146304"/>
                  <a:pt x="182880" y="85344"/>
                  <a:pt x="0" y="73152"/>
                </a:cubicBezTo>
              </a:path>
            </a:pathLst>
          </a:custGeom>
          <a:ln w="38100">
            <a:solidFill>
              <a:srgbClr val="8A183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144768" y="2578608"/>
            <a:ext cx="420624" cy="420624"/>
          </a:xfrm>
          <a:prstGeom prst="ellipse">
            <a:avLst/>
          </a:prstGeom>
          <a:solidFill>
            <a:srgbClr val="8A1832"/>
          </a:solidFill>
          <a:ln w="31750">
            <a:solidFill>
              <a:srgbClr val="FFFDF8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144768" y="2578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ar-SA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4343400" y="224028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1450" b="1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المواطن يقدّم الطلب</a:t>
            </a:r>
            <a:endParaRPr lang="ar-SA" sz="1450" dirty="0"/>
          </a:p>
        </p:txBody>
      </p:sp>
      <p:sp>
        <p:nvSpPr>
          <p:cNvPr id="22" name="Text 17"/>
          <p:cNvSpPr txBox="1"/>
          <p:nvPr/>
        </p:nvSpPr>
        <p:spPr>
          <a:xfrm>
            <a:off x="4343400" y="30449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1200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يظهر فورًا لدى الموظف المسؤول</a:t>
            </a:r>
            <a:endParaRPr lang="ar-SA" sz="1200" dirty="0"/>
          </a:p>
        </p:txBody>
      </p:sp>
      <p:sp>
        <p:nvSpPr>
          <p:cNvPr id="23" name="Shape 18"/>
          <p:cNvSpPr/>
          <p:nvPr/>
        </p:nvSpPr>
        <p:spPr>
          <a:xfrm>
            <a:off x="9070848" y="2423160"/>
            <a:ext cx="2414016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8A1832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11247120" y="2596896"/>
            <a:ext cx="128016" cy="128016"/>
          </a:xfrm>
          <a:prstGeom prst="ellipse">
            <a:avLst/>
          </a:prstGeom>
          <a:solidFill>
            <a:srgbClr val="8A1832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9162288" y="2514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250" b="1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 استلام طلبك</a:t>
            </a:r>
            <a:endParaRPr lang="ar-SA" sz="1250" dirty="0"/>
          </a:p>
        </p:txBody>
      </p:sp>
      <p:sp>
        <p:nvSpPr>
          <p:cNvPr id="26" name="Text 21"/>
          <p:cNvSpPr txBox="1"/>
          <p:nvPr/>
        </p:nvSpPr>
        <p:spPr>
          <a:xfrm>
            <a:off x="9162288" y="2807208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050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لدى: خدمات الجمهور</a:t>
            </a:r>
            <a:endParaRPr lang="ar-SA" sz="1050" dirty="0"/>
          </a:p>
        </p:txBody>
      </p:sp>
      <p:sp>
        <p:nvSpPr>
          <p:cNvPr id="27" name="Shape 22"/>
          <p:cNvSpPr/>
          <p:nvPr/>
        </p:nvSpPr>
        <p:spPr>
          <a:xfrm>
            <a:off x="704088" y="2423160"/>
            <a:ext cx="3209544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8A1832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3675888" y="2596896"/>
            <a:ext cx="128016" cy="128016"/>
          </a:xfrm>
          <a:prstGeom prst="ellipse">
            <a:avLst/>
          </a:prstGeom>
          <a:solidFill>
            <a:srgbClr val="8A1832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822960" y="2514600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250" b="1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طلب جديد في قائمتك</a:t>
            </a:r>
            <a:endParaRPr lang="ar-SA" sz="1250" dirty="0"/>
          </a:p>
        </p:txBody>
      </p:sp>
      <p:sp>
        <p:nvSpPr>
          <p:cNvPr id="30" name="Text 25"/>
          <p:cNvSpPr txBox="1"/>
          <p:nvPr/>
        </p:nvSpPr>
        <p:spPr>
          <a:xfrm>
            <a:off x="822960" y="2807208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050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رخصة بناء · خدمات الجمهور</a:t>
            </a:r>
            <a:endParaRPr lang="ar-SA" sz="1050" dirty="0"/>
          </a:p>
        </p:txBody>
      </p:sp>
      <p:sp>
        <p:nvSpPr>
          <p:cNvPr id="31" name="Shape 26"/>
          <p:cNvSpPr/>
          <p:nvPr/>
        </p:nvSpPr>
        <p:spPr>
          <a:xfrm>
            <a:off x="3931920" y="3904488"/>
            <a:ext cx="5120640" cy="146304"/>
          </a:xfrm>
          <a:custGeom>
            <a:avLst/>
            <a:gdLst/>
            <a:ahLst/>
            <a:cxnLst/>
            <a:rect l="l" t="t" r="r" b="b"/>
            <a:pathLst>
              <a:path w="5120640" h="146304">
                <a:moveTo>
                  <a:pt x="5120640" y="73152"/>
                </a:moveTo>
                <a:cubicBezTo>
                  <a:pt x="4892040" y="60960"/>
                  <a:pt x="4198620" y="0"/>
                  <a:pt x="3749040" y="0"/>
                </a:cubicBezTo>
                <a:cubicBezTo>
                  <a:pt x="3299460" y="0"/>
                  <a:pt x="2865120" y="48768"/>
                  <a:pt x="2423160" y="73152"/>
                </a:cubicBezTo>
                <a:cubicBezTo>
                  <a:pt x="1981200" y="97536"/>
                  <a:pt x="1501140" y="146304"/>
                  <a:pt x="1097280" y="146304"/>
                </a:cubicBezTo>
                <a:cubicBezTo>
                  <a:pt x="693420" y="146304"/>
                  <a:pt x="182880" y="85344"/>
                  <a:pt x="0" y="73152"/>
                </a:cubicBezTo>
              </a:path>
            </a:pathLst>
          </a:custGeom>
          <a:ln w="38100">
            <a:solidFill>
              <a:srgbClr val="C96E3B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6144768" y="3767328"/>
            <a:ext cx="420624" cy="420624"/>
          </a:xfrm>
          <a:prstGeom prst="ellipse">
            <a:avLst/>
          </a:prstGeom>
          <a:solidFill>
            <a:srgbClr val="C96E3B"/>
          </a:solidFill>
          <a:ln w="31750">
            <a:solidFill>
              <a:srgbClr val="FFFDF8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6144768" y="3767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ar-SA" sz="1500" dirty="0"/>
          </a:p>
        </p:txBody>
      </p:sp>
      <p:sp>
        <p:nvSpPr>
          <p:cNvPr id="34" name="Text 29"/>
          <p:cNvSpPr txBox="1"/>
          <p:nvPr/>
        </p:nvSpPr>
        <p:spPr>
          <a:xfrm>
            <a:off x="4343400" y="34290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1450" b="1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الموظف يسجّل وثيقة ناقصة</a:t>
            </a:r>
            <a:endParaRPr lang="ar-SA" sz="1450" dirty="0"/>
          </a:p>
        </p:txBody>
      </p:sp>
      <p:sp>
        <p:nvSpPr>
          <p:cNvPr id="35" name="Text 30"/>
          <p:cNvSpPr txBox="1"/>
          <p:nvPr/>
        </p:nvSpPr>
        <p:spPr>
          <a:xfrm>
            <a:off x="4343400" y="42336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1200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يظهر السبب للمواطن</a:t>
            </a:r>
            <a:endParaRPr lang="ar-SA" sz="1200" dirty="0"/>
          </a:p>
        </p:txBody>
      </p:sp>
      <p:sp>
        <p:nvSpPr>
          <p:cNvPr id="36" name="Shape 31"/>
          <p:cNvSpPr/>
          <p:nvPr/>
        </p:nvSpPr>
        <p:spPr>
          <a:xfrm>
            <a:off x="9070848" y="3611880"/>
            <a:ext cx="2414016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C96E3B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11247120" y="3785616"/>
            <a:ext cx="128016" cy="128016"/>
          </a:xfrm>
          <a:prstGeom prst="ellipse">
            <a:avLst/>
          </a:prstGeom>
          <a:solidFill>
            <a:srgbClr val="C96E3B"/>
          </a:solidFill>
          <a:ln/>
        </p:spPr>
      </p:sp>
      <p:sp>
        <p:nvSpPr>
          <p:cNvPr id="38" name="Text 33"/>
          <p:cNvSpPr txBox="1"/>
          <p:nvPr/>
        </p:nvSpPr>
        <p:spPr>
          <a:xfrm>
            <a:off x="9162288" y="3703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250" b="1" dirty="0">
                <a:solidFill>
                  <a:srgbClr val="C96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بانتظار وثيقة</a:t>
            </a:r>
            <a:endParaRPr lang="ar-SA" sz="1250" dirty="0"/>
          </a:p>
        </p:txBody>
      </p:sp>
      <p:sp>
        <p:nvSpPr>
          <p:cNvPr id="39" name="Text 34"/>
          <p:cNvSpPr txBox="1"/>
          <p:nvPr/>
        </p:nvSpPr>
        <p:spPr>
          <a:xfrm>
            <a:off x="9162288" y="3995928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050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السبب: مخطط الموقع غير مرفق</a:t>
            </a:r>
            <a:endParaRPr lang="ar-SA" sz="1050" dirty="0"/>
          </a:p>
        </p:txBody>
      </p:sp>
      <p:sp>
        <p:nvSpPr>
          <p:cNvPr id="40" name="Shape 35"/>
          <p:cNvSpPr/>
          <p:nvPr/>
        </p:nvSpPr>
        <p:spPr>
          <a:xfrm>
            <a:off x="704088" y="3611880"/>
            <a:ext cx="3209544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96E3B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3675888" y="3785616"/>
            <a:ext cx="128016" cy="128016"/>
          </a:xfrm>
          <a:prstGeom prst="ellipse">
            <a:avLst/>
          </a:prstGeom>
          <a:solidFill>
            <a:srgbClr val="C96E3B"/>
          </a:solidFill>
          <a:ln/>
        </p:spPr>
      </p:sp>
      <p:sp>
        <p:nvSpPr>
          <p:cNvPr id="42" name="Text 37"/>
          <p:cNvSpPr txBox="1"/>
          <p:nvPr/>
        </p:nvSpPr>
        <p:spPr>
          <a:xfrm>
            <a:off x="822960" y="3703320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250" b="1" dirty="0">
                <a:solidFill>
                  <a:srgbClr val="C96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تسجيل نقص: مخطط الموقع</a:t>
            </a:r>
            <a:endParaRPr lang="ar-SA" sz="1250" dirty="0"/>
          </a:p>
        </p:txBody>
      </p:sp>
      <p:sp>
        <p:nvSpPr>
          <p:cNvPr id="43" name="Text 38"/>
          <p:cNvSpPr txBox="1"/>
          <p:nvPr/>
        </p:nvSpPr>
        <p:spPr>
          <a:xfrm>
            <a:off x="822960" y="3995928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050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الهندسة · السبب إلزامي</a:t>
            </a:r>
            <a:endParaRPr lang="ar-SA" sz="1050" dirty="0"/>
          </a:p>
        </p:txBody>
      </p:sp>
      <p:sp>
        <p:nvSpPr>
          <p:cNvPr id="44" name="Shape 39"/>
          <p:cNvSpPr/>
          <p:nvPr/>
        </p:nvSpPr>
        <p:spPr>
          <a:xfrm>
            <a:off x="3931920" y="5093208"/>
            <a:ext cx="5120640" cy="146304"/>
          </a:xfrm>
          <a:custGeom>
            <a:avLst/>
            <a:gdLst/>
            <a:ahLst/>
            <a:cxnLst/>
            <a:rect l="l" t="t" r="r" b="b"/>
            <a:pathLst>
              <a:path w="5120640" h="146304">
                <a:moveTo>
                  <a:pt x="5120640" y="73152"/>
                </a:moveTo>
                <a:cubicBezTo>
                  <a:pt x="4892040" y="60960"/>
                  <a:pt x="4198620" y="0"/>
                  <a:pt x="3749040" y="0"/>
                </a:cubicBezTo>
                <a:cubicBezTo>
                  <a:pt x="3299460" y="0"/>
                  <a:pt x="2865120" y="48768"/>
                  <a:pt x="2423160" y="73152"/>
                </a:cubicBezTo>
                <a:cubicBezTo>
                  <a:pt x="1981200" y="97536"/>
                  <a:pt x="1501140" y="146304"/>
                  <a:pt x="1097280" y="146304"/>
                </a:cubicBezTo>
                <a:cubicBezTo>
                  <a:pt x="693420" y="146304"/>
                  <a:pt x="182880" y="85344"/>
                  <a:pt x="0" y="73152"/>
                </a:cubicBezTo>
              </a:path>
            </a:pathLst>
          </a:custGeom>
          <a:ln w="38100">
            <a:solidFill>
              <a:srgbClr val="B54242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6144768" y="4956048"/>
            <a:ext cx="420624" cy="420624"/>
          </a:xfrm>
          <a:prstGeom prst="ellipse">
            <a:avLst/>
          </a:prstGeom>
          <a:solidFill>
            <a:srgbClr val="B54242"/>
          </a:solidFill>
          <a:ln w="31750">
            <a:solidFill>
              <a:srgbClr val="FFFDF8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6144768" y="4956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ar-SA" sz="1500" dirty="0"/>
          </a:p>
        </p:txBody>
      </p:sp>
      <p:sp>
        <p:nvSpPr>
          <p:cNvPr id="47" name="Text 42"/>
          <p:cNvSpPr txBox="1"/>
          <p:nvPr/>
        </p:nvSpPr>
        <p:spPr>
          <a:xfrm>
            <a:off x="4343400" y="46177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1450" b="1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المعاملة تتجاوز المدة</a:t>
            </a:r>
            <a:endParaRPr lang="ar-SA" sz="1450" dirty="0"/>
          </a:p>
        </p:txBody>
      </p:sp>
      <p:sp>
        <p:nvSpPr>
          <p:cNvPr id="48" name="Text 43"/>
          <p:cNvSpPr txBox="1"/>
          <p:nvPr/>
        </p:nvSpPr>
        <p:spPr>
          <a:xfrm>
            <a:off x="4343400" y="54223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1200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تنبيه تلقائي للمدير وتتغير الحالة عند المواطن</a:t>
            </a:r>
            <a:endParaRPr lang="ar-SA" sz="1200" dirty="0"/>
          </a:p>
        </p:txBody>
      </p:sp>
      <p:sp>
        <p:nvSpPr>
          <p:cNvPr id="49" name="Shape 44"/>
          <p:cNvSpPr/>
          <p:nvPr/>
        </p:nvSpPr>
        <p:spPr>
          <a:xfrm>
            <a:off x="9070848" y="4800600"/>
            <a:ext cx="2414016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B54242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11247120" y="4974336"/>
            <a:ext cx="128016" cy="128016"/>
          </a:xfrm>
          <a:prstGeom prst="ellipse">
            <a:avLst/>
          </a:prstGeom>
          <a:solidFill>
            <a:srgbClr val="B54242"/>
          </a:solidFill>
          <a:ln/>
        </p:spPr>
      </p:sp>
      <p:sp>
        <p:nvSpPr>
          <p:cNvPr id="51" name="Text 46"/>
          <p:cNvSpPr txBox="1"/>
          <p:nvPr/>
        </p:nvSpPr>
        <p:spPr>
          <a:xfrm>
            <a:off x="9162288" y="4892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250" b="1" dirty="0">
                <a:solidFill>
                  <a:srgbClr val="B5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 تصعيد معاملتك</a:t>
            </a:r>
            <a:endParaRPr lang="ar-SA" sz="1250" dirty="0"/>
          </a:p>
        </p:txBody>
      </p:sp>
      <p:sp>
        <p:nvSpPr>
          <p:cNvPr id="52" name="Text 47"/>
          <p:cNvSpPr txBox="1"/>
          <p:nvPr/>
        </p:nvSpPr>
        <p:spPr>
          <a:xfrm>
            <a:off x="9162288" y="5184648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050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الحالة: قيد متابعة الإدارة</a:t>
            </a:r>
            <a:endParaRPr lang="ar-SA" sz="1050" dirty="0"/>
          </a:p>
        </p:txBody>
      </p:sp>
      <p:sp>
        <p:nvSpPr>
          <p:cNvPr id="53" name="Shape 48"/>
          <p:cNvSpPr/>
          <p:nvPr/>
        </p:nvSpPr>
        <p:spPr>
          <a:xfrm>
            <a:off x="704088" y="4800600"/>
            <a:ext cx="3209544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B54242"/>
            </a:solidFill>
            <a:prstDash val="solid"/>
          </a:ln>
        </p:spPr>
      </p:sp>
      <p:sp>
        <p:nvSpPr>
          <p:cNvPr id="54" name="Shape 49"/>
          <p:cNvSpPr/>
          <p:nvPr/>
        </p:nvSpPr>
        <p:spPr>
          <a:xfrm>
            <a:off x="3675888" y="4974336"/>
            <a:ext cx="128016" cy="128016"/>
          </a:xfrm>
          <a:prstGeom prst="ellipse">
            <a:avLst/>
          </a:prstGeom>
          <a:solidFill>
            <a:srgbClr val="B54242"/>
          </a:solidFill>
          <a:ln/>
        </p:spPr>
      </p:sp>
      <p:sp>
        <p:nvSpPr>
          <p:cNvPr id="55" name="Text 50"/>
          <p:cNvSpPr txBox="1"/>
          <p:nvPr/>
        </p:nvSpPr>
        <p:spPr>
          <a:xfrm>
            <a:off x="822960" y="4892040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250" b="1" dirty="0">
                <a:solidFill>
                  <a:srgbClr val="B5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تنبيه للمدير: تجاوز المدة</a:t>
            </a:r>
            <a:endParaRPr lang="ar-SA" sz="1250" dirty="0"/>
          </a:p>
        </p:txBody>
      </p:sp>
      <p:sp>
        <p:nvSpPr>
          <p:cNvPr id="56" name="Text 51"/>
          <p:cNvSpPr txBox="1"/>
          <p:nvPr/>
        </p:nvSpPr>
        <p:spPr>
          <a:xfrm>
            <a:off x="822960" y="5184648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050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تصعيد تلقائي · الهندسة</a:t>
            </a:r>
            <a:endParaRPr lang="ar-SA" sz="1050" dirty="0"/>
          </a:p>
        </p:txBody>
      </p:sp>
      <p:sp>
        <p:nvSpPr>
          <p:cNvPr id="57" name="Text 52"/>
          <p:cNvSpPr txBox="1"/>
          <p:nvPr/>
        </p:nvSpPr>
        <p:spPr>
          <a:xfrm>
            <a:off x="2286000" y="5897880"/>
            <a:ext cx="7616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2400" b="1" dirty="0">
                <a:solidFill>
                  <a:srgbClr val="8A1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نفس الحدث، نفس الوقت، ونفس السجل</a:t>
            </a:r>
            <a:endParaRPr lang="ar-SA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2743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943600" y="457200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200" b="1" dirty="0">
                <a:solidFill>
                  <a:srgbClr val="596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لقطة من النظام الفعلي</a:t>
            </a:r>
            <a:endParaRPr lang="ar-SA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97280" y="73152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200" b="1" dirty="0">
                <a:solidFill>
                  <a:srgbClr val="8A1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نفس اللحظة، من ثلاث شاشات حقيقية</a:t>
            </a:r>
            <a:endParaRPr lang="ar-SA" sz="3200" dirty="0"/>
          </a:p>
        </p:txBody>
      </p:sp>
      <p:sp>
        <p:nvSpPr>
          <p:cNvPr id="119" name="ShotCard"/>
          <p:cNvSpPr/>
          <p:nvPr/>
        </p:nvSpPr>
        <p:spPr>
          <a:xfrm>
            <a:off x="2719600" y="1950000"/>
            <a:ext cx="6752800" cy="4488000"/>
          </a:xfrm>
          <a:prstGeom prst="roundRect">
            <a:avLst>
              <a:gd name="adj" fmla="val 3000"/>
            </a:avLst>
          </a:prstGeom>
          <a:solidFill>
            <a:srgbClr val="FFFDF8"/>
          </a:solidFill>
          <a:ln w="12700">
            <a:solidFill>
              <a:srgbClr val="CBB9A5"/>
            </a:solidFill>
            <a:prstDash val="solid"/>
          </a:ln>
          <a:effectLst>
            <a:outerShdw blurRad="180000" dist="60000" dir="5400000" rotWithShape="0">
              <a:srgbClr val="3A1520">
                <a:alpha val="22000"/>
              </a:srgbClr>
            </a:outerShdw>
          </a:effectLst>
        </p:spPr>
      </p:sp>
      <p:sp>
        <p:nvSpPr>
          <p:cNvPr id="123" name="dot"/>
          <p:cNvSpPr/>
          <p:nvPr/>
        </p:nvSpPr>
        <p:spPr>
          <a:xfrm>
            <a:off x="2789600" y="2019000"/>
            <a:ext cx="92000" cy="92000"/>
          </a:xfrm>
          <a:prstGeom prst="ellipse">
            <a:avLst/>
          </a:prstGeom>
          <a:solidFill>
            <a:srgbClr val="8A1832"/>
          </a:solidFill>
          <a:ln>
            <a:noFill/>
          </a:ln>
        </p:spPr>
      </p:sp>
      <p:sp>
        <p:nvSpPr>
          <p:cNvPr id="124" name="dot"/>
          <p:cNvSpPr/>
          <p:nvPr/>
        </p:nvSpPr>
        <p:spPr>
          <a:xfrm>
            <a:off x="2865600" y="2019000"/>
            <a:ext cx="92000" cy="92000"/>
          </a:xfrm>
          <a:prstGeom prst="ellipse">
            <a:avLst/>
          </a:prstGeom>
          <a:solidFill>
            <a:srgbClr val="CBB9A5"/>
          </a:solidFill>
          <a:ln>
            <a:noFill/>
          </a:ln>
        </p:spPr>
      </p:sp>
      <p:sp>
        <p:nvSpPr>
          <p:cNvPr id="125" name="dot"/>
          <p:cNvSpPr/>
          <p:nvPr/>
        </p:nvSpPr>
        <p:spPr>
          <a:xfrm>
            <a:off x="2941600" y="2019000"/>
            <a:ext cx="92000" cy="92000"/>
          </a:xfrm>
          <a:prstGeom prst="ellipse">
            <a:avLst/>
          </a:prstGeom>
          <a:solidFill>
            <a:srgbClr val="59613A"/>
          </a:solidFill>
          <a:ln>
            <a:noFill/>
          </a:ln>
        </p:spPr>
      </p:sp>
      <p:sp>
        <p:nvSpPr>
          <p:cNvPr id="120" name="ChromeDivider"/>
          <p:cNvSpPr/>
          <p:nvPr/>
        </p:nvSpPr>
        <p:spPr>
          <a:xfrm>
            <a:off x="2719600" y="2180000"/>
            <a:ext cx="6752800" cy="12700"/>
          </a:xfrm>
          <a:prstGeom prst="rect">
            <a:avLst/>
          </a:prstGeom>
          <a:solidFill>
            <a:srgbClr val="CBB9A5"/>
          </a:solidFill>
          <a:ln>
            <a:noFill/>
          </a:ln>
        </p:spPr>
      </p:sp>
      <p:sp>
        <p:nvSpPr>
          <p:cNvPr id="121" name="ChromeLabel"/>
          <p:cNvSpPr txBox="1"/>
          <p:nvPr/>
        </p:nvSpPr>
        <p:spPr>
          <a:xfrm>
            <a:off x="3057600" y="1950000"/>
            <a:ext cx="63348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ar-SA" sz="1100" dirty="0">
                <a:solidFill>
                  <a:srgbClr val="6B6259"/>
                </a:solidFill>
                <a:latin typeface="Arial" pitchFamily="34" charset="0"/>
              </a:rPr>
              <a:t>tarfalkhayt.ps</a:t>
            </a:r>
          </a:p>
        </p:txBody>
      </p:sp>
      <p:pic>
        <p:nvPicPr>
          <p:cNvPr id="122" name="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9600" y="2230000"/>
            <a:ext cx="6652800" cy="4158000"/>
          </a:xfrm>
          <a:prstGeom prst="rect">
            <a:avLst/>
          </a:prstGeom>
        </p:spPr>
      </p:pic>
      <p:sp>
        <p:nvSpPr>
          <p:cNvPr id="126" name="Sub"/>
          <p:cNvSpPr txBox="1"/>
          <p:nvPr/>
        </p:nvSpPr>
        <p:spPr>
          <a:xfrm>
            <a:off x="1097280" y="149352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400" dirty="0">
                <a:solidFill>
                  <a:srgbClr val="6B6259"/>
                </a:solidFill>
                <a:latin typeface="Arial" pitchFamily="34" charset="0"/>
              </a:rPr>
              <a:t>المواطن، الموظف المسؤول، والمدير — كلهم يشوفوا نفس التحديث لحظة ما يصير.</a:t>
            </a:r>
          </a:p>
        </p:txBody>
      </p:sp>
      <p:sp>
        <p:nvSpPr>
          <p:cNvPr id="127" name="Caption"/>
          <p:cNvSpPr txBox="1"/>
          <p:nvPr/>
        </p:nvSpPr>
        <p:spPr>
          <a:xfrm>
            <a:off x="548640" y="6400800"/>
            <a:ext cx="600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1">
              <a:buNone/>
            </a:pPr>
            <a:r>
              <a:rPr lang="ar-SA" altLang="en-US" sz="1000" i="1" dirty="0">
                <a:solidFill>
                  <a:srgbClr val="CBB9A5"/>
                </a:solidFill>
                <a:latin typeface="Arial" pitchFamily="34" charset="0"/>
              </a:rPr>
              <a:t>شاشة حيّة من tarfalkhayt — لا تصميم، لا محاكاة.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2743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943600" y="457200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200" b="1" dirty="0">
                <a:solidFill>
                  <a:srgbClr val="596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٠٦ — واجهة الموظف</a:t>
            </a:r>
            <a:endParaRPr lang="ar-SA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97280" y="73152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200" b="1" dirty="0">
                <a:solidFill>
                  <a:srgbClr val="8A1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الموظف يحرّك المعاملة ويوثّق كل خطوة</a:t>
            </a:r>
            <a:endParaRPr lang="ar-SA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000" dirty="0">
                <a:solidFill>
                  <a:srgbClr val="CBB9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7269480" cy="4114800"/>
          </a:xfrm>
          <a:prstGeom prst="roundRect">
            <a:avLst>
              <a:gd name="adj" fmla="val 2222"/>
            </a:avLst>
          </a:prstGeom>
          <a:solidFill>
            <a:srgbClr val="FFFDF8"/>
          </a:solidFill>
          <a:ln w="19050">
            <a:solidFill>
              <a:srgbClr val="292622"/>
            </a:solidFill>
            <a:prstDash val="solid"/>
          </a:ln>
          <a:effectLst>
            <a:outerShdw blurRad="127000" dist="38100" dir="5400000" algn="bl" rotWithShape="0">
              <a:srgbClr val="5A4636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66928" y="1618488"/>
            <a:ext cx="7232904" cy="310896"/>
          </a:xfrm>
          <a:prstGeom prst="rect">
            <a:avLst/>
          </a:prstGeom>
          <a:solidFill>
            <a:srgbClr val="F1E8DA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1719072"/>
            <a:ext cx="100584" cy="100584"/>
          </a:xfrm>
          <a:prstGeom prst="ellipse">
            <a:avLst/>
          </a:prstGeom>
          <a:solidFill>
            <a:srgbClr val="CBB9A5"/>
          </a:solidFill>
          <a:ln/>
        </p:spPr>
      </p:sp>
      <p:sp>
        <p:nvSpPr>
          <p:cNvPr id="9" name="Shape 6"/>
          <p:cNvSpPr/>
          <p:nvPr/>
        </p:nvSpPr>
        <p:spPr>
          <a:xfrm>
            <a:off x="896112" y="1719072"/>
            <a:ext cx="100584" cy="100584"/>
          </a:xfrm>
          <a:prstGeom prst="ellipse">
            <a:avLst/>
          </a:prstGeom>
          <a:solidFill>
            <a:srgbClr val="CBB9A5"/>
          </a:solidFill>
          <a:ln/>
        </p:spPr>
      </p:sp>
      <p:sp>
        <p:nvSpPr>
          <p:cNvPr id="10" name="Shape 7"/>
          <p:cNvSpPr/>
          <p:nvPr/>
        </p:nvSpPr>
        <p:spPr>
          <a:xfrm>
            <a:off x="1060704" y="1719072"/>
            <a:ext cx="100584" cy="100584"/>
          </a:xfrm>
          <a:prstGeom prst="ellipse">
            <a:avLst/>
          </a:prstGeom>
          <a:solidFill>
            <a:srgbClr val="CBB9A5"/>
          </a:solidFill>
          <a:ln/>
        </p:spPr>
      </p:sp>
      <p:sp>
        <p:nvSpPr>
          <p:cNvPr id="11" name="Shape 8"/>
          <p:cNvSpPr/>
          <p:nvPr/>
        </p:nvSpPr>
        <p:spPr>
          <a:xfrm>
            <a:off x="6812280" y="1929384"/>
            <a:ext cx="987552" cy="3767328"/>
          </a:xfrm>
          <a:prstGeom prst="rect">
            <a:avLst/>
          </a:prstGeom>
          <a:solidFill>
            <a:srgbClr val="56132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830568" y="2057400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950" b="1" dirty="0">
                <a:solidFill>
                  <a:srgbClr val="FFF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طرف الخيط</a:t>
            </a:r>
            <a:endParaRPr lang="ar-SA" sz="950" dirty="0"/>
          </a:p>
        </p:txBody>
      </p:sp>
      <p:sp>
        <p:nvSpPr>
          <p:cNvPr id="13" name="Shape 10"/>
          <p:cNvSpPr/>
          <p:nvPr/>
        </p:nvSpPr>
        <p:spPr>
          <a:xfrm>
            <a:off x="6949440" y="2478024"/>
            <a:ext cx="713232" cy="402336"/>
          </a:xfrm>
          <a:prstGeom prst="roundRect">
            <a:avLst>
              <a:gd name="adj" fmla="val 18182"/>
            </a:avLst>
          </a:prstGeom>
          <a:solidFill>
            <a:srgbClr val="8A1832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7184" y="2560320"/>
            <a:ext cx="237744" cy="237744"/>
          </a:xfrm>
          <a:prstGeom prst="rect">
            <a:avLst/>
          </a:prstGeom>
        </p:spPr>
      </p:pic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7184" y="3063240"/>
            <a:ext cx="237744" cy="237744"/>
          </a:xfrm>
          <a:prstGeom prst="rect">
            <a:avLst/>
          </a:prstGeom>
        </p:spPr>
      </p:pic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7184" y="3566160"/>
            <a:ext cx="237744" cy="237744"/>
          </a:xfrm>
          <a:prstGeom prst="rect">
            <a:avLst/>
          </a:prstGeom>
        </p:spPr>
      </p:pic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7184" y="4069080"/>
            <a:ext cx="237744" cy="23774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4114800" y="20574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400" b="1" dirty="0">
                <a:solidFill>
                  <a:srgbClr val="561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المعاملات الموكلة إليّ</a:t>
            </a:r>
            <a:endParaRPr lang="ar-SA" sz="1400" dirty="0"/>
          </a:p>
        </p:txBody>
      </p:sp>
      <p:sp>
        <p:nvSpPr>
          <p:cNvPr id="19" name="Shape 12"/>
          <p:cNvSpPr/>
          <p:nvPr/>
        </p:nvSpPr>
        <p:spPr>
          <a:xfrm>
            <a:off x="4114800" y="2450592"/>
            <a:ext cx="256032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9050">
            <a:solidFill>
              <a:srgbClr val="8A1832"/>
            </a:solidFill>
            <a:prstDash val="solid"/>
          </a:ln>
        </p:spPr>
      </p:sp>
      <p:sp>
        <p:nvSpPr>
          <p:cNvPr id="20" name="Text 13"/>
          <p:cNvSpPr txBox="1"/>
          <p:nvPr/>
        </p:nvSpPr>
        <p:spPr>
          <a:xfrm>
            <a:off x="5248656" y="245059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950" b="1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رخصة بناء #2034</a:t>
            </a:r>
            <a:endParaRPr lang="ar-SA" sz="950" dirty="0"/>
          </a:p>
        </p:txBody>
      </p:sp>
      <p:sp>
        <p:nvSpPr>
          <p:cNvPr id="21" name="Shape 14"/>
          <p:cNvSpPr/>
          <p:nvPr/>
        </p:nvSpPr>
        <p:spPr>
          <a:xfrm>
            <a:off x="4169664" y="2514600"/>
            <a:ext cx="1042416" cy="274320"/>
          </a:xfrm>
          <a:prstGeom prst="roundRect">
            <a:avLst>
              <a:gd name="adj" fmla="val 50000"/>
            </a:avLst>
          </a:prstGeom>
          <a:solidFill>
            <a:srgbClr val="8A1832">
              <a:alpha val="16000"/>
            </a:srgbClr>
          </a:solidFill>
          <a:ln/>
        </p:spPr>
      </p:sp>
      <p:sp>
        <p:nvSpPr>
          <p:cNvPr id="22" name="Text 15"/>
          <p:cNvSpPr txBox="1"/>
          <p:nvPr/>
        </p:nvSpPr>
        <p:spPr>
          <a:xfrm>
            <a:off x="4169664" y="2514600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950" b="1" dirty="0">
                <a:solidFill>
                  <a:srgbClr val="8A1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قيد المراجعة</a:t>
            </a:r>
            <a:endParaRPr lang="ar-SA" sz="950" dirty="0"/>
          </a:p>
        </p:txBody>
      </p:sp>
      <p:sp>
        <p:nvSpPr>
          <p:cNvPr id="23" name="Shape 16"/>
          <p:cNvSpPr/>
          <p:nvPr/>
        </p:nvSpPr>
        <p:spPr>
          <a:xfrm>
            <a:off x="4114800" y="2926080"/>
            <a:ext cx="2560320" cy="402336"/>
          </a:xfrm>
          <a:prstGeom prst="roundRect">
            <a:avLst>
              <a:gd name="adj" fmla="val 15909"/>
            </a:avLst>
          </a:prstGeom>
          <a:solidFill>
            <a:srgbClr val="FFFDF8"/>
          </a:solidFill>
          <a:ln w="12700">
            <a:solidFill>
              <a:srgbClr val="E4D9CA"/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5248656" y="292608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950" b="1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مخطط تنظيمي #1889</a:t>
            </a:r>
            <a:endParaRPr lang="ar-SA" sz="950" dirty="0"/>
          </a:p>
        </p:txBody>
      </p:sp>
      <p:sp>
        <p:nvSpPr>
          <p:cNvPr id="25" name="Shape 18"/>
          <p:cNvSpPr/>
          <p:nvPr/>
        </p:nvSpPr>
        <p:spPr>
          <a:xfrm>
            <a:off x="4169664" y="2990088"/>
            <a:ext cx="1042416" cy="274320"/>
          </a:xfrm>
          <a:prstGeom prst="roundRect">
            <a:avLst>
              <a:gd name="adj" fmla="val 50000"/>
            </a:avLst>
          </a:prstGeom>
          <a:solidFill>
            <a:srgbClr val="C96E3B">
              <a:alpha val="16000"/>
            </a:srgbClr>
          </a:solidFill>
          <a:ln/>
        </p:spPr>
      </p:sp>
      <p:sp>
        <p:nvSpPr>
          <p:cNvPr id="26" name="Text 19"/>
          <p:cNvSpPr txBox="1"/>
          <p:nvPr/>
        </p:nvSpPr>
        <p:spPr>
          <a:xfrm>
            <a:off x="4169664" y="299008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950" b="1" dirty="0">
                <a:solidFill>
                  <a:srgbClr val="C96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بانتظار مستند</a:t>
            </a:r>
            <a:endParaRPr lang="ar-SA" sz="950" dirty="0"/>
          </a:p>
        </p:txBody>
      </p:sp>
      <p:sp>
        <p:nvSpPr>
          <p:cNvPr id="27" name="Shape 20"/>
          <p:cNvSpPr/>
          <p:nvPr/>
        </p:nvSpPr>
        <p:spPr>
          <a:xfrm>
            <a:off x="4114800" y="3401568"/>
            <a:ext cx="2560320" cy="402336"/>
          </a:xfrm>
          <a:prstGeom prst="roundRect">
            <a:avLst>
              <a:gd name="adj" fmla="val 15909"/>
            </a:avLst>
          </a:prstGeom>
          <a:solidFill>
            <a:srgbClr val="FFFDF8"/>
          </a:solidFill>
          <a:ln w="12700">
            <a:solidFill>
              <a:srgbClr val="E4D9CA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5248656" y="340156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950" b="1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شهادة إشغال #1772</a:t>
            </a:r>
            <a:endParaRPr lang="ar-SA" sz="950" dirty="0"/>
          </a:p>
        </p:txBody>
      </p:sp>
      <p:sp>
        <p:nvSpPr>
          <p:cNvPr id="29" name="Shape 22"/>
          <p:cNvSpPr/>
          <p:nvPr/>
        </p:nvSpPr>
        <p:spPr>
          <a:xfrm>
            <a:off x="4169664" y="3465576"/>
            <a:ext cx="1042416" cy="274320"/>
          </a:xfrm>
          <a:prstGeom prst="roundRect">
            <a:avLst>
              <a:gd name="adj" fmla="val 50000"/>
            </a:avLst>
          </a:prstGeom>
          <a:solidFill>
            <a:srgbClr val="59613A">
              <a:alpha val="16000"/>
            </a:srgbClr>
          </a:solidFill>
          <a:ln/>
        </p:spPr>
      </p:sp>
      <p:sp>
        <p:nvSpPr>
          <p:cNvPr id="30" name="Text 23"/>
          <p:cNvSpPr txBox="1"/>
          <p:nvPr/>
        </p:nvSpPr>
        <p:spPr>
          <a:xfrm>
            <a:off x="4169664" y="3465576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950" b="1" dirty="0">
                <a:solidFill>
                  <a:srgbClr val="596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جاهزة للتسليم</a:t>
            </a:r>
            <a:endParaRPr lang="ar-SA" sz="950" dirty="0"/>
          </a:p>
        </p:txBody>
      </p:sp>
      <p:sp>
        <p:nvSpPr>
          <p:cNvPr id="31" name="Text 24"/>
          <p:cNvSpPr txBox="1"/>
          <p:nvPr/>
        </p:nvSpPr>
        <p:spPr>
          <a:xfrm>
            <a:off x="4114800" y="3977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300" b="1" dirty="0">
                <a:solidFill>
                  <a:srgbClr val="561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 الإجراءات</a:t>
            </a:r>
            <a:endParaRPr lang="ar-SA" sz="1300" dirty="0"/>
          </a:p>
        </p:txBody>
      </p:sp>
      <p:sp>
        <p:nvSpPr>
          <p:cNvPr id="32" name="Shape 25"/>
          <p:cNvSpPr/>
          <p:nvPr/>
        </p:nvSpPr>
        <p:spPr>
          <a:xfrm>
            <a:off x="6556248" y="4389120"/>
            <a:ext cx="18288" cy="914400"/>
          </a:xfrm>
          <a:custGeom>
            <a:avLst/>
            <a:gdLst/>
            <a:ahLst/>
            <a:cxnLst/>
            <a:rect l="l" t="t" r="r" b="b"/>
            <a:pathLst>
              <a:path w="18288" h="914400">
                <a:moveTo>
                  <a:pt x="0" y="0"/>
                </a:moveTo>
                <a:cubicBezTo>
                  <a:pt x="0" y="152400"/>
                  <a:pt x="0" y="762000"/>
                  <a:pt x="0" y="914400"/>
                </a:cubicBezTo>
              </a:path>
            </a:pathLst>
          </a:custGeom>
          <a:ln w="19050">
            <a:solidFill>
              <a:srgbClr val="CBB9A5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6492240" y="4389120"/>
            <a:ext cx="128016" cy="128016"/>
          </a:xfrm>
          <a:prstGeom prst="ellipse">
            <a:avLst/>
          </a:prstGeom>
          <a:solidFill>
            <a:srgbClr val="59613A"/>
          </a:solidFill>
          <a:ln/>
        </p:spPr>
      </p:sp>
      <p:sp>
        <p:nvSpPr>
          <p:cNvPr id="34" name="Text 27"/>
          <p:cNvSpPr txBox="1"/>
          <p:nvPr/>
        </p:nvSpPr>
        <p:spPr>
          <a:xfrm>
            <a:off x="4663440" y="43159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0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استلام من خدمات الجمهور</a:t>
            </a:r>
            <a:endParaRPr lang="ar-SA" sz="1050" dirty="0"/>
          </a:p>
        </p:txBody>
      </p:sp>
      <p:sp>
        <p:nvSpPr>
          <p:cNvPr id="35" name="Text 28"/>
          <p:cNvSpPr txBox="1"/>
          <p:nvPr/>
        </p:nvSpPr>
        <p:spPr>
          <a:xfrm>
            <a:off x="4114800" y="43159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1000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09:05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6492240" y="4791456"/>
            <a:ext cx="128016" cy="128016"/>
          </a:xfrm>
          <a:prstGeom prst="ellipse">
            <a:avLst/>
          </a:prstGeom>
          <a:solidFill>
            <a:srgbClr val="C96E3B"/>
          </a:solidFill>
          <a:ln/>
        </p:spPr>
      </p:sp>
      <p:sp>
        <p:nvSpPr>
          <p:cNvPr id="37" name="Text 30"/>
          <p:cNvSpPr txBox="1"/>
          <p:nvPr/>
        </p:nvSpPr>
        <p:spPr>
          <a:xfrm>
            <a:off x="4663440" y="47183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0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طلب مستند: مخطط الموقع</a:t>
            </a:r>
            <a:endParaRPr lang="ar-SA" sz="1050" dirty="0"/>
          </a:p>
        </p:txBody>
      </p:sp>
      <p:sp>
        <p:nvSpPr>
          <p:cNvPr id="38" name="Text 31"/>
          <p:cNvSpPr txBox="1"/>
          <p:nvPr/>
        </p:nvSpPr>
        <p:spPr>
          <a:xfrm>
            <a:off x="4114800" y="471830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1000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10:30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6492240" y="5193792"/>
            <a:ext cx="128016" cy="128016"/>
          </a:xfrm>
          <a:prstGeom prst="ellipse">
            <a:avLst/>
          </a:prstGeom>
          <a:solidFill>
            <a:srgbClr val="59613A"/>
          </a:solidFill>
          <a:ln/>
        </p:spPr>
      </p:sp>
      <p:sp>
        <p:nvSpPr>
          <p:cNvPr id="40" name="Text 33"/>
          <p:cNvSpPr txBox="1"/>
          <p:nvPr/>
        </p:nvSpPr>
        <p:spPr>
          <a:xfrm>
            <a:off x="4663440" y="5120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0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إبلاغ المواطن بالسبب</a:t>
            </a:r>
            <a:endParaRPr lang="ar-SA" sz="1050" dirty="0"/>
          </a:p>
        </p:txBody>
      </p:sp>
      <p:sp>
        <p:nvSpPr>
          <p:cNvPr id="41" name="Text 34"/>
          <p:cNvSpPr txBox="1"/>
          <p:nvPr/>
        </p:nvSpPr>
        <p:spPr>
          <a:xfrm>
            <a:off x="4114800" y="51206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1000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10:31</a:t>
            </a:r>
            <a:endParaRPr lang="en-US" sz="1000" dirty="0"/>
          </a:p>
        </p:txBody>
      </p:sp>
      <p:sp>
        <p:nvSpPr>
          <p:cNvPr id="42" name="Shape 35"/>
          <p:cNvSpPr/>
          <p:nvPr/>
        </p:nvSpPr>
        <p:spPr>
          <a:xfrm>
            <a:off x="731520" y="2057400"/>
            <a:ext cx="3200400" cy="347472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4D9CA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68680" y="2148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400" b="1" dirty="0">
                <a:solidFill>
                  <a:srgbClr val="8A1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رخصة بناء #2034</a:t>
            </a:r>
            <a:endParaRPr lang="ar-SA" sz="1400" dirty="0"/>
          </a:p>
        </p:txBody>
      </p:sp>
      <p:sp>
        <p:nvSpPr>
          <p:cNvPr id="44" name="Text 37"/>
          <p:cNvSpPr txBox="1"/>
          <p:nvPr/>
        </p:nvSpPr>
        <p:spPr>
          <a:xfrm>
            <a:off x="868680" y="254203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950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الإجراء المطلوب</a:t>
            </a:r>
            <a:endParaRPr lang="ar-SA" sz="950" dirty="0"/>
          </a:p>
        </p:txBody>
      </p:sp>
      <p:sp>
        <p:nvSpPr>
          <p:cNvPr id="45" name="Text 38"/>
          <p:cNvSpPr txBox="1"/>
          <p:nvPr/>
        </p:nvSpPr>
        <p:spPr>
          <a:xfrm>
            <a:off x="868680" y="2743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200" b="1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مراجعة المخطط الهندسي</a:t>
            </a:r>
            <a:endParaRPr lang="ar-SA" sz="1200" dirty="0"/>
          </a:p>
        </p:txBody>
      </p:sp>
      <p:sp>
        <p:nvSpPr>
          <p:cNvPr id="46" name="Text 39"/>
          <p:cNvSpPr txBox="1"/>
          <p:nvPr/>
        </p:nvSpPr>
        <p:spPr>
          <a:xfrm>
            <a:off x="868680" y="30906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950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وقت الاستلام</a:t>
            </a:r>
            <a:endParaRPr lang="ar-SA" sz="950" dirty="0"/>
          </a:p>
        </p:txBody>
      </p:sp>
      <p:sp>
        <p:nvSpPr>
          <p:cNvPr id="47" name="Text 40"/>
          <p:cNvSpPr txBox="1"/>
          <p:nvPr/>
        </p:nvSpPr>
        <p:spPr>
          <a:xfrm>
            <a:off x="2377440" y="32918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altLang="en-US" sz="1200" b="1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09:05</a:t>
            </a:r>
            <a:endParaRPr lang="en-US" sz="1200" dirty="0"/>
          </a:p>
        </p:txBody>
      </p:sp>
      <p:sp>
        <p:nvSpPr>
          <p:cNvPr id="48" name="Text 41"/>
          <p:cNvSpPr txBox="1"/>
          <p:nvPr/>
        </p:nvSpPr>
        <p:spPr>
          <a:xfrm>
            <a:off x="868680" y="363931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950" b="1" dirty="0">
                <a:solidFill>
                  <a:srgbClr val="B5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سبب التوقف (إلزامي)</a:t>
            </a:r>
            <a:endParaRPr lang="ar-SA" sz="950" dirty="0"/>
          </a:p>
        </p:txBody>
      </p:sp>
      <p:sp>
        <p:nvSpPr>
          <p:cNvPr id="49" name="Shape 42"/>
          <p:cNvSpPr/>
          <p:nvPr/>
        </p:nvSpPr>
        <p:spPr>
          <a:xfrm>
            <a:off x="868680" y="3867912"/>
            <a:ext cx="2651760" cy="329184"/>
          </a:xfrm>
          <a:prstGeom prst="roundRect">
            <a:avLst>
              <a:gd name="adj" fmla="val 16667"/>
            </a:avLst>
          </a:prstGeom>
          <a:solidFill>
            <a:srgbClr val="FFFDF8"/>
          </a:solidFill>
          <a:ln w="12700">
            <a:solidFill>
              <a:srgbClr val="B54242"/>
            </a:solidFill>
            <a:prstDash val="solid"/>
          </a:ln>
        </p:spPr>
      </p:sp>
      <p:sp>
        <p:nvSpPr>
          <p:cNvPr id="50" name="Text 43"/>
          <p:cNvSpPr txBox="1"/>
          <p:nvPr/>
        </p:nvSpPr>
        <p:spPr>
          <a:xfrm>
            <a:off x="1234440" y="386791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0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وثيقة ناقصة: مخطط الموقع</a:t>
            </a:r>
            <a:endParaRPr lang="ar-SA" sz="1050" dirty="0"/>
          </a:p>
        </p:txBody>
      </p:sp>
      <p:pic>
        <p:nvPicPr>
          <p:cNvPr id="5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9264" y="3950208"/>
            <a:ext cx="164592" cy="164592"/>
          </a:xfrm>
          <a:prstGeom prst="rect">
            <a:avLst/>
          </a:prstGeom>
        </p:spPr>
      </p:pic>
      <p:sp>
        <p:nvSpPr>
          <p:cNvPr id="52" name="Shape 44"/>
          <p:cNvSpPr/>
          <p:nvPr/>
        </p:nvSpPr>
        <p:spPr>
          <a:xfrm>
            <a:off x="868680" y="4343400"/>
            <a:ext cx="457200" cy="237744"/>
          </a:xfrm>
          <a:prstGeom prst="roundRect">
            <a:avLst>
              <a:gd name="adj" fmla="val 50000"/>
            </a:avLst>
          </a:prstGeom>
          <a:solidFill>
            <a:srgbClr val="59613A"/>
          </a:solidFill>
          <a:ln/>
        </p:spPr>
      </p:sp>
      <p:sp>
        <p:nvSpPr>
          <p:cNvPr id="53" name="Shape 45"/>
          <p:cNvSpPr/>
          <p:nvPr/>
        </p:nvSpPr>
        <p:spPr>
          <a:xfrm>
            <a:off x="905256" y="4370832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4" name="Text 46"/>
          <p:cNvSpPr txBox="1"/>
          <p:nvPr/>
        </p:nvSpPr>
        <p:spPr>
          <a:xfrm>
            <a:off x="1417320" y="43251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10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إبلاغ المواطن بالتحديث</a:t>
            </a:r>
            <a:endParaRPr lang="ar-SA" sz="1100" dirty="0"/>
          </a:p>
        </p:txBody>
      </p:sp>
      <p:sp>
        <p:nvSpPr>
          <p:cNvPr id="55" name="Shape 47"/>
          <p:cNvSpPr/>
          <p:nvPr/>
        </p:nvSpPr>
        <p:spPr>
          <a:xfrm>
            <a:off x="868680" y="484632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8A1832"/>
          </a:solidFill>
          <a:ln/>
        </p:spPr>
      </p:sp>
      <p:sp>
        <p:nvSpPr>
          <p:cNvPr id="56" name="Text 48"/>
          <p:cNvSpPr txBox="1"/>
          <p:nvPr/>
        </p:nvSpPr>
        <p:spPr>
          <a:xfrm>
            <a:off x="868680" y="4846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تحويل إلى الدائرة التالية ←</a:t>
            </a:r>
            <a:endParaRPr lang="ar-SA" sz="1200" dirty="0"/>
          </a:p>
        </p:txBody>
      </p:sp>
      <p:sp>
        <p:nvSpPr>
          <p:cNvPr id="57" name="Shape 49"/>
          <p:cNvSpPr/>
          <p:nvPr/>
        </p:nvSpPr>
        <p:spPr>
          <a:xfrm>
            <a:off x="4178808" y="2066544"/>
            <a:ext cx="274320" cy="274320"/>
          </a:xfrm>
          <a:prstGeom prst="ellipse">
            <a:avLst/>
          </a:prstGeom>
          <a:solidFill>
            <a:srgbClr val="8A1832"/>
          </a:solidFill>
          <a:ln w="19050">
            <a:solidFill>
              <a:srgbClr val="FFFDF8"/>
            </a:solidFill>
            <a:prstDash val="solid"/>
          </a:ln>
        </p:spPr>
      </p:sp>
      <p:sp>
        <p:nvSpPr>
          <p:cNvPr id="58" name="Text 50"/>
          <p:cNvSpPr txBox="1"/>
          <p:nvPr/>
        </p:nvSpPr>
        <p:spPr>
          <a:xfrm>
            <a:off x="4178808" y="2066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ar-SA" sz="1050" dirty="0"/>
          </a:p>
        </p:txBody>
      </p:sp>
      <p:sp>
        <p:nvSpPr>
          <p:cNvPr id="59" name="Shape 51"/>
          <p:cNvSpPr/>
          <p:nvPr/>
        </p:nvSpPr>
        <p:spPr>
          <a:xfrm>
            <a:off x="3593592" y="2697480"/>
            <a:ext cx="274320" cy="274320"/>
          </a:xfrm>
          <a:prstGeom prst="ellipse">
            <a:avLst/>
          </a:prstGeom>
          <a:solidFill>
            <a:srgbClr val="8A1832"/>
          </a:solidFill>
          <a:ln w="19050">
            <a:solidFill>
              <a:srgbClr val="FFFDF8"/>
            </a:solidFill>
            <a:prstDash val="solid"/>
          </a:ln>
        </p:spPr>
      </p:sp>
      <p:sp>
        <p:nvSpPr>
          <p:cNvPr id="60" name="Text 52"/>
          <p:cNvSpPr txBox="1"/>
          <p:nvPr/>
        </p:nvSpPr>
        <p:spPr>
          <a:xfrm>
            <a:off x="3593592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ar-SA" sz="1050" dirty="0"/>
          </a:p>
        </p:txBody>
      </p:sp>
      <p:sp>
        <p:nvSpPr>
          <p:cNvPr id="61" name="Shape 53"/>
          <p:cNvSpPr/>
          <p:nvPr/>
        </p:nvSpPr>
        <p:spPr>
          <a:xfrm>
            <a:off x="3593592" y="3264408"/>
            <a:ext cx="274320" cy="274320"/>
          </a:xfrm>
          <a:prstGeom prst="ellipse">
            <a:avLst/>
          </a:prstGeom>
          <a:solidFill>
            <a:srgbClr val="8A1832"/>
          </a:solidFill>
          <a:ln w="19050">
            <a:solidFill>
              <a:srgbClr val="FFFDF8"/>
            </a:solidFill>
            <a:prstDash val="solid"/>
          </a:ln>
        </p:spPr>
      </p:sp>
      <p:sp>
        <p:nvSpPr>
          <p:cNvPr id="62" name="Text 54"/>
          <p:cNvSpPr txBox="1"/>
          <p:nvPr/>
        </p:nvSpPr>
        <p:spPr>
          <a:xfrm>
            <a:off x="3593592" y="3264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ar-SA" sz="1050" dirty="0"/>
          </a:p>
        </p:txBody>
      </p:sp>
      <p:sp>
        <p:nvSpPr>
          <p:cNvPr id="63" name="Shape 55"/>
          <p:cNvSpPr/>
          <p:nvPr/>
        </p:nvSpPr>
        <p:spPr>
          <a:xfrm>
            <a:off x="3593592" y="4937760"/>
            <a:ext cx="274320" cy="274320"/>
          </a:xfrm>
          <a:prstGeom prst="ellipse">
            <a:avLst/>
          </a:prstGeom>
          <a:solidFill>
            <a:srgbClr val="8A1832"/>
          </a:solidFill>
          <a:ln w="19050">
            <a:solidFill>
              <a:srgbClr val="FFFDF8"/>
            </a:solidFill>
            <a:prstDash val="solid"/>
          </a:ln>
        </p:spPr>
      </p:sp>
      <p:sp>
        <p:nvSpPr>
          <p:cNvPr id="64" name="Text 56"/>
          <p:cNvSpPr txBox="1"/>
          <p:nvPr/>
        </p:nvSpPr>
        <p:spPr>
          <a:xfrm>
            <a:off x="3593592" y="4937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ar-SA" sz="1050" dirty="0"/>
          </a:p>
        </p:txBody>
      </p:sp>
      <p:sp>
        <p:nvSpPr>
          <p:cNvPr id="65" name="Shape 57"/>
          <p:cNvSpPr/>
          <p:nvPr/>
        </p:nvSpPr>
        <p:spPr>
          <a:xfrm>
            <a:off x="3593592" y="3895344"/>
            <a:ext cx="274320" cy="274320"/>
          </a:xfrm>
          <a:prstGeom prst="ellipse">
            <a:avLst/>
          </a:prstGeom>
          <a:solidFill>
            <a:srgbClr val="8A1832"/>
          </a:solidFill>
          <a:ln w="19050">
            <a:solidFill>
              <a:srgbClr val="FFFDF8"/>
            </a:solidFill>
            <a:prstDash val="solid"/>
          </a:ln>
        </p:spPr>
      </p:sp>
      <p:sp>
        <p:nvSpPr>
          <p:cNvPr id="66" name="Text 58"/>
          <p:cNvSpPr txBox="1"/>
          <p:nvPr/>
        </p:nvSpPr>
        <p:spPr>
          <a:xfrm>
            <a:off x="3593592" y="3895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ar-SA" sz="1050" dirty="0"/>
          </a:p>
        </p:txBody>
      </p:sp>
      <p:sp>
        <p:nvSpPr>
          <p:cNvPr id="67" name="Shape 59"/>
          <p:cNvSpPr/>
          <p:nvPr/>
        </p:nvSpPr>
        <p:spPr>
          <a:xfrm>
            <a:off x="4178808" y="3977640"/>
            <a:ext cx="274320" cy="274320"/>
          </a:xfrm>
          <a:prstGeom prst="ellipse">
            <a:avLst/>
          </a:prstGeom>
          <a:solidFill>
            <a:srgbClr val="8A1832"/>
          </a:solidFill>
          <a:ln w="19050">
            <a:solidFill>
              <a:srgbClr val="FFFDF8"/>
            </a:solidFill>
            <a:prstDash val="solid"/>
          </a:ln>
        </p:spPr>
      </p:sp>
      <p:sp>
        <p:nvSpPr>
          <p:cNvPr id="68" name="Text 60"/>
          <p:cNvSpPr txBox="1"/>
          <p:nvPr/>
        </p:nvSpPr>
        <p:spPr>
          <a:xfrm>
            <a:off x="4178808" y="3977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ar-SA" sz="1050" dirty="0"/>
          </a:p>
        </p:txBody>
      </p:sp>
      <p:sp>
        <p:nvSpPr>
          <p:cNvPr id="69" name="Shape 61"/>
          <p:cNvSpPr/>
          <p:nvPr/>
        </p:nvSpPr>
        <p:spPr>
          <a:xfrm>
            <a:off x="3593592" y="4325112"/>
            <a:ext cx="274320" cy="274320"/>
          </a:xfrm>
          <a:prstGeom prst="ellipse">
            <a:avLst/>
          </a:prstGeom>
          <a:solidFill>
            <a:srgbClr val="8A1832"/>
          </a:solidFill>
          <a:ln w="19050">
            <a:solidFill>
              <a:srgbClr val="FFFDF8"/>
            </a:solidFill>
            <a:prstDash val="solid"/>
          </a:ln>
        </p:spPr>
      </p:sp>
      <p:sp>
        <p:nvSpPr>
          <p:cNvPr id="70" name="Text 62"/>
          <p:cNvSpPr txBox="1"/>
          <p:nvPr/>
        </p:nvSpPr>
        <p:spPr>
          <a:xfrm>
            <a:off x="3593592" y="4325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ar-SA" sz="1050" dirty="0"/>
          </a:p>
        </p:txBody>
      </p:sp>
      <p:sp>
        <p:nvSpPr>
          <p:cNvPr id="71" name="Shape 63"/>
          <p:cNvSpPr/>
          <p:nvPr/>
        </p:nvSpPr>
        <p:spPr>
          <a:xfrm>
            <a:off x="11475720" y="1783080"/>
            <a:ext cx="18288" cy="3337560"/>
          </a:xfrm>
          <a:custGeom>
            <a:avLst/>
            <a:gdLst/>
            <a:ahLst/>
            <a:cxnLst/>
            <a:rect l="l" t="t" r="r" b="b"/>
            <a:pathLst>
              <a:path w="18288" h="3337560">
                <a:moveTo>
                  <a:pt x="0" y="0"/>
                </a:moveTo>
                <a:cubicBezTo>
                  <a:pt x="0" y="556260"/>
                  <a:pt x="0" y="2781300"/>
                  <a:pt x="0" y="3337560"/>
                </a:cubicBezTo>
              </a:path>
            </a:pathLst>
          </a:custGeom>
          <a:ln w="25400">
            <a:solidFill>
              <a:srgbClr val="CBB9A5"/>
            </a:solidFill>
            <a:prstDash val="solid"/>
          </a:ln>
        </p:spPr>
      </p:sp>
      <p:sp>
        <p:nvSpPr>
          <p:cNvPr id="72" name="Shape 64"/>
          <p:cNvSpPr/>
          <p:nvPr/>
        </p:nvSpPr>
        <p:spPr>
          <a:xfrm>
            <a:off x="11311128" y="1618488"/>
            <a:ext cx="329184" cy="329184"/>
          </a:xfrm>
          <a:prstGeom prst="ellipse">
            <a:avLst/>
          </a:prstGeom>
          <a:solidFill>
            <a:srgbClr val="8A1832"/>
          </a:solidFill>
          <a:ln w="25400">
            <a:solidFill>
              <a:srgbClr val="FFFDF8"/>
            </a:solidFill>
            <a:prstDash val="solid"/>
          </a:ln>
        </p:spPr>
      </p:sp>
      <p:sp>
        <p:nvSpPr>
          <p:cNvPr id="73" name="Text 65"/>
          <p:cNvSpPr txBox="1"/>
          <p:nvPr/>
        </p:nvSpPr>
        <p:spPr>
          <a:xfrm>
            <a:off x="11311128" y="1618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ar-SA" sz="1200" dirty="0"/>
          </a:p>
        </p:txBody>
      </p:sp>
      <p:sp>
        <p:nvSpPr>
          <p:cNvPr id="74" name="Text 66"/>
          <p:cNvSpPr txBox="1"/>
          <p:nvPr/>
        </p:nvSpPr>
        <p:spPr>
          <a:xfrm>
            <a:off x="8183880" y="16002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5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المعاملات الموكلة</a:t>
            </a:r>
            <a:endParaRPr lang="ar-SA" sz="1550" dirty="0"/>
          </a:p>
        </p:txBody>
      </p:sp>
      <p:sp>
        <p:nvSpPr>
          <p:cNvPr id="75" name="Shape 67"/>
          <p:cNvSpPr/>
          <p:nvPr/>
        </p:nvSpPr>
        <p:spPr>
          <a:xfrm>
            <a:off x="11311128" y="2176272"/>
            <a:ext cx="329184" cy="329184"/>
          </a:xfrm>
          <a:prstGeom prst="ellipse">
            <a:avLst/>
          </a:prstGeom>
          <a:solidFill>
            <a:srgbClr val="8A1832"/>
          </a:solidFill>
          <a:ln w="25400">
            <a:solidFill>
              <a:srgbClr val="FFFDF8"/>
            </a:solidFill>
            <a:prstDash val="solid"/>
          </a:ln>
        </p:spPr>
      </p:sp>
      <p:sp>
        <p:nvSpPr>
          <p:cNvPr id="76" name="Text 68"/>
          <p:cNvSpPr txBox="1"/>
          <p:nvPr/>
        </p:nvSpPr>
        <p:spPr>
          <a:xfrm>
            <a:off x="11311128" y="2176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ar-SA" sz="1200" dirty="0"/>
          </a:p>
        </p:txBody>
      </p:sp>
      <p:sp>
        <p:nvSpPr>
          <p:cNvPr id="77" name="Text 69"/>
          <p:cNvSpPr txBox="1"/>
          <p:nvPr/>
        </p:nvSpPr>
        <p:spPr>
          <a:xfrm>
            <a:off x="8183880" y="215798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5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الإجراء المطلوب</a:t>
            </a:r>
            <a:endParaRPr lang="ar-SA" sz="1550" dirty="0"/>
          </a:p>
        </p:txBody>
      </p:sp>
      <p:sp>
        <p:nvSpPr>
          <p:cNvPr id="78" name="Shape 70"/>
          <p:cNvSpPr/>
          <p:nvPr/>
        </p:nvSpPr>
        <p:spPr>
          <a:xfrm>
            <a:off x="11311128" y="2734056"/>
            <a:ext cx="329184" cy="329184"/>
          </a:xfrm>
          <a:prstGeom prst="ellipse">
            <a:avLst/>
          </a:prstGeom>
          <a:solidFill>
            <a:srgbClr val="8A1832"/>
          </a:solidFill>
          <a:ln w="25400">
            <a:solidFill>
              <a:srgbClr val="FFFDF8"/>
            </a:solidFill>
            <a:prstDash val="solid"/>
          </a:ln>
        </p:spPr>
      </p:sp>
      <p:sp>
        <p:nvSpPr>
          <p:cNvPr id="79" name="Text 71"/>
          <p:cNvSpPr txBox="1"/>
          <p:nvPr/>
        </p:nvSpPr>
        <p:spPr>
          <a:xfrm>
            <a:off x="11311128" y="27340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ar-SA" sz="1200" dirty="0"/>
          </a:p>
        </p:txBody>
      </p:sp>
      <p:sp>
        <p:nvSpPr>
          <p:cNvPr id="80" name="Text 72"/>
          <p:cNvSpPr txBox="1"/>
          <p:nvPr/>
        </p:nvSpPr>
        <p:spPr>
          <a:xfrm>
            <a:off x="8183880" y="271576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5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وقت الاستلام</a:t>
            </a:r>
            <a:endParaRPr lang="ar-SA" sz="1550" dirty="0"/>
          </a:p>
        </p:txBody>
      </p:sp>
      <p:sp>
        <p:nvSpPr>
          <p:cNvPr id="81" name="Shape 73"/>
          <p:cNvSpPr/>
          <p:nvPr/>
        </p:nvSpPr>
        <p:spPr>
          <a:xfrm>
            <a:off x="11311128" y="3291840"/>
            <a:ext cx="329184" cy="329184"/>
          </a:xfrm>
          <a:prstGeom prst="ellipse">
            <a:avLst/>
          </a:prstGeom>
          <a:solidFill>
            <a:srgbClr val="8A1832"/>
          </a:solidFill>
          <a:ln w="25400">
            <a:solidFill>
              <a:srgbClr val="FFFDF8"/>
            </a:solidFill>
            <a:prstDash val="solid"/>
          </a:ln>
        </p:spPr>
      </p:sp>
      <p:sp>
        <p:nvSpPr>
          <p:cNvPr id="82" name="Text 74"/>
          <p:cNvSpPr txBox="1"/>
          <p:nvPr/>
        </p:nvSpPr>
        <p:spPr>
          <a:xfrm>
            <a:off x="11311128" y="3291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ar-SA" sz="1200" dirty="0"/>
          </a:p>
        </p:txBody>
      </p:sp>
      <p:sp>
        <p:nvSpPr>
          <p:cNvPr id="83" name="Text 75"/>
          <p:cNvSpPr txBox="1"/>
          <p:nvPr/>
        </p:nvSpPr>
        <p:spPr>
          <a:xfrm>
            <a:off x="8183880" y="327355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5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التحويل إلى الدائرة التالية</a:t>
            </a:r>
            <a:endParaRPr lang="ar-SA" sz="1550" dirty="0"/>
          </a:p>
        </p:txBody>
      </p:sp>
      <p:sp>
        <p:nvSpPr>
          <p:cNvPr id="84" name="Shape 76"/>
          <p:cNvSpPr/>
          <p:nvPr/>
        </p:nvSpPr>
        <p:spPr>
          <a:xfrm>
            <a:off x="11311128" y="3849624"/>
            <a:ext cx="329184" cy="329184"/>
          </a:xfrm>
          <a:prstGeom prst="ellipse">
            <a:avLst/>
          </a:prstGeom>
          <a:solidFill>
            <a:srgbClr val="B54242"/>
          </a:solidFill>
          <a:ln w="25400">
            <a:solidFill>
              <a:srgbClr val="FFFDF8"/>
            </a:solidFill>
            <a:prstDash val="solid"/>
          </a:ln>
        </p:spPr>
      </p:sp>
      <p:sp>
        <p:nvSpPr>
          <p:cNvPr id="85" name="Text 77"/>
          <p:cNvSpPr txBox="1"/>
          <p:nvPr/>
        </p:nvSpPr>
        <p:spPr>
          <a:xfrm>
            <a:off x="11311128" y="38496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ar-SA" sz="1200" dirty="0"/>
          </a:p>
        </p:txBody>
      </p:sp>
      <p:sp>
        <p:nvSpPr>
          <p:cNvPr id="86" name="Text 78"/>
          <p:cNvSpPr txBox="1"/>
          <p:nvPr/>
        </p:nvSpPr>
        <p:spPr>
          <a:xfrm>
            <a:off x="8183880" y="383133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550" b="1" dirty="0">
                <a:solidFill>
                  <a:srgbClr val="B5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سبب التوقف الإلزامي</a:t>
            </a:r>
            <a:endParaRPr lang="ar-SA" sz="1550" dirty="0"/>
          </a:p>
        </p:txBody>
      </p:sp>
      <p:sp>
        <p:nvSpPr>
          <p:cNvPr id="87" name="Shape 79"/>
          <p:cNvSpPr/>
          <p:nvPr/>
        </p:nvSpPr>
        <p:spPr>
          <a:xfrm>
            <a:off x="11311128" y="4407408"/>
            <a:ext cx="329184" cy="329184"/>
          </a:xfrm>
          <a:prstGeom prst="ellipse">
            <a:avLst/>
          </a:prstGeom>
          <a:solidFill>
            <a:srgbClr val="8A1832"/>
          </a:solidFill>
          <a:ln w="25400">
            <a:solidFill>
              <a:srgbClr val="FFFDF8"/>
            </a:solidFill>
            <a:prstDash val="solid"/>
          </a:ln>
        </p:spPr>
      </p:sp>
      <p:sp>
        <p:nvSpPr>
          <p:cNvPr id="88" name="Text 80"/>
          <p:cNvSpPr txBox="1"/>
          <p:nvPr/>
        </p:nvSpPr>
        <p:spPr>
          <a:xfrm>
            <a:off x="11311128" y="4407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ar-SA" sz="1200" dirty="0"/>
          </a:p>
        </p:txBody>
      </p:sp>
      <p:sp>
        <p:nvSpPr>
          <p:cNvPr id="89" name="Text 81"/>
          <p:cNvSpPr txBox="1"/>
          <p:nvPr/>
        </p:nvSpPr>
        <p:spPr>
          <a:xfrm>
            <a:off x="8183880" y="43891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5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 الإجراءات</a:t>
            </a:r>
            <a:endParaRPr lang="ar-SA" sz="1550" dirty="0"/>
          </a:p>
        </p:txBody>
      </p:sp>
      <p:sp>
        <p:nvSpPr>
          <p:cNvPr id="90" name="Shape 82"/>
          <p:cNvSpPr/>
          <p:nvPr/>
        </p:nvSpPr>
        <p:spPr>
          <a:xfrm>
            <a:off x="11311128" y="4965192"/>
            <a:ext cx="329184" cy="329184"/>
          </a:xfrm>
          <a:prstGeom prst="ellipse">
            <a:avLst/>
          </a:prstGeom>
          <a:solidFill>
            <a:srgbClr val="8A1832"/>
          </a:solidFill>
          <a:ln w="25400">
            <a:solidFill>
              <a:srgbClr val="FFFDF8"/>
            </a:solidFill>
            <a:prstDash val="solid"/>
          </a:ln>
        </p:spPr>
      </p:sp>
      <p:sp>
        <p:nvSpPr>
          <p:cNvPr id="91" name="Text 83"/>
          <p:cNvSpPr txBox="1"/>
          <p:nvPr/>
        </p:nvSpPr>
        <p:spPr>
          <a:xfrm>
            <a:off x="11311128" y="4965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ar-SA" sz="1200" dirty="0"/>
          </a:p>
        </p:txBody>
      </p:sp>
      <p:sp>
        <p:nvSpPr>
          <p:cNvPr id="92" name="Text 84"/>
          <p:cNvSpPr txBox="1"/>
          <p:nvPr/>
        </p:nvSpPr>
        <p:spPr>
          <a:xfrm>
            <a:off x="8183880" y="494690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5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إبلاغ المواطن</a:t>
            </a:r>
            <a:endParaRPr lang="ar-SA" sz="1550" dirty="0"/>
          </a:p>
        </p:txBody>
      </p:sp>
      <p:sp>
        <p:nvSpPr>
          <p:cNvPr id="93" name="Text 85"/>
          <p:cNvSpPr txBox="1"/>
          <p:nvPr/>
        </p:nvSpPr>
        <p:spPr>
          <a:xfrm>
            <a:off x="1828800" y="5897880"/>
            <a:ext cx="9811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2000" b="1" dirty="0">
                <a:solidFill>
                  <a:srgbClr val="596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النظام يقلل الاجتهاد الشخصي ويحافظ على دور الموظف</a:t>
            </a:r>
            <a:endParaRPr lang="ar-SA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2743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943600" y="457200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200" b="1" dirty="0">
                <a:solidFill>
                  <a:srgbClr val="596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لقطة من النظام الفعلي</a:t>
            </a:r>
            <a:endParaRPr lang="ar-SA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97280" y="73152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200" b="1" dirty="0">
                <a:solidFill>
                  <a:srgbClr val="8A1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شاشة الموظف الفعلية أثناء العمل</a:t>
            </a:r>
            <a:endParaRPr lang="ar-SA" sz="3200" dirty="0"/>
          </a:p>
        </p:txBody>
      </p:sp>
      <p:sp>
        <p:nvSpPr>
          <p:cNvPr id="128" name="ShotCard"/>
          <p:cNvSpPr/>
          <p:nvPr/>
        </p:nvSpPr>
        <p:spPr>
          <a:xfrm>
            <a:off x="2719600" y="1950000"/>
            <a:ext cx="6752800" cy="4488000"/>
          </a:xfrm>
          <a:prstGeom prst="roundRect">
            <a:avLst>
              <a:gd name="adj" fmla="val 3000"/>
            </a:avLst>
          </a:prstGeom>
          <a:solidFill>
            <a:srgbClr val="FFFDF8"/>
          </a:solidFill>
          <a:ln w="12700">
            <a:solidFill>
              <a:srgbClr val="CBB9A5"/>
            </a:solidFill>
            <a:prstDash val="solid"/>
          </a:ln>
          <a:effectLst>
            <a:outerShdw blurRad="180000" dist="60000" dir="5400000" rotWithShape="0">
              <a:srgbClr val="3A1520">
                <a:alpha val="22000"/>
              </a:srgbClr>
            </a:outerShdw>
          </a:effectLst>
        </p:spPr>
      </p:sp>
      <p:sp>
        <p:nvSpPr>
          <p:cNvPr id="132" name="dot"/>
          <p:cNvSpPr/>
          <p:nvPr/>
        </p:nvSpPr>
        <p:spPr>
          <a:xfrm>
            <a:off x="2789600" y="2019000"/>
            <a:ext cx="92000" cy="92000"/>
          </a:xfrm>
          <a:prstGeom prst="ellipse">
            <a:avLst/>
          </a:prstGeom>
          <a:solidFill>
            <a:srgbClr val="8A1832"/>
          </a:solidFill>
          <a:ln>
            <a:noFill/>
          </a:ln>
        </p:spPr>
      </p:sp>
      <p:sp>
        <p:nvSpPr>
          <p:cNvPr id="133" name="dot"/>
          <p:cNvSpPr/>
          <p:nvPr/>
        </p:nvSpPr>
        <p:spPr>
          <a:xfrm>
            <a:off x="2865600" y="2019000"/>
            <a:ext cx="92000" cy="92000"/>
          </a:xfrm>
          <a:prstGeom prst="ellipse">
            <a:avLst/>
          </a:prstGeom>
          <a:solidFill>
            <a:srgbClr val="CBB9A5"/>
          </a:solidFill>
          <a:ln>
            <a:noFill/>
          </a:ln>
        </p:spPr>
      </p:sp>
      <p:sp>
        <p:nvSpPr>
          <p:cNvPr id="134" name="dot"/>
          <p:cNvSpPr/>
          <p:nvPr/>
        </p:nvSpPr>
        <p:spPr>
          <a:xfrm>
            <a:off x="2941600" y="2019000"/>
            <a:ext cx="92000" cy="92000"/>
          </a:xfrm>
          <a:prstGeom prst="ellipse">
            <a:avLst/>
          </a:prstGeom>
          <a:solidFill>
            <a:srgbClr val="59613A"/>
          </a:solidFill>
          <a:ln>
            <a:noFill/>
          </a:ln>
        </p:spPr>
      </p:sp>
      <p:sp>
        <p:nvSpPr>
          <p:cNvPr id="129" name="ChromeDivider"/>
          <p:cNvSpPr/>
          <p:nvPr/>
        </p:nvSpPr>
        <p:spPr>
          <a:xfrm>
            <a:off x="2719600" y="2180000"/>
            <a:ext cx="6752800" cy="12700"/>
          </a:xfrm>
          <a:prstGeom prst="rect">
            <a:avLst/>
          </a:prstGeom>
          <a:solidFill>
            <a:srgbClr val="CBB9A5"/>
          </a:solidFill>
          <a:ln>
            <a:noFill/>
          </a:ln>
        </p:spPr>
      </p:sp>
      <p:sp>
        <p:nvSpPr>
          <p:cNvPr id="130" name="ChromeLabel"/>
          <p:cNvSpPr txBox="1"/>
          <p:nvPr/>
        </p:nvSpPr>
        <p:spPr>
          <a:xfrm>
            <a:off x="3057600" y="1950000"/>
            <a:ext cx="63348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ar-SA" sz="1100" dirty="0">
                <a:solidFill>
                  <a:srgbClr val="6B6259"/>
                </a:solidFill>
                <a:latin typeface="Arial" pitchFamily="34" charset="0"/>
              </a:rPr>
              <a:t>tarfalkhayt.ps</a:t>
            </a:r>
          </a:p>
        </p:txBody>
      </p:sp>
      <p:pic>
        <p:nvPicPr>
          <p:cNvPr id="131" name="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9600" y="2230000"/>
            <a:ext cx="6652800" cy="4158000"/>
          </a:xfrm>
          <a:prstGeom prst="rect">
            <a:avLst/>
          </a:prstGeom>
        </p:spPr>
      </p:pic>
      <p:sp>
        <p:nvSpPr>
          <p:cNvPr id="135" name="Sub"/>
          <p:cNvSpPr txBox="1"/>
          <p:nvPr/>
        </p:nvSpPr>
        <p:spPr>
          <a:xfrm>
            <a:off x="1097280" y="149352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400" dirty="0">
                <a:solidFill>
                  <a:srgbClr val="6B6259"/>
                </a:solidFill>
                <a:latin typeface="Arial" pitchFamily="34" charset="0"/>
              </a:rPr>
              <a:t>بيانات مقدّم الطلب، إجراء المرحلة، وسجل المسار — كله بصفحة وحدة.</a:t>
            </a:r>
          </a:p>
        </p:txBody>
      </p:sp>
      <p:sp>
        <p:nvSpPr>
          <p:cNvPr id="136" name="Caption"/>
          <p:cNvSpPr txBox="1"/>
          <p:nvPr/>
        </p:nvSpPr>
        <p:spPr>
          <a:xfrm>
            <a:off x="548640" y="6400800"/>
            <a:ext cx="600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1">
              <a:buNone/>
            </a:pPr>
            <a:r>
              <a:rPr lang="ar-SA" altLang="en-US" sz="1000" i="1" dirty="0">
                <a:solidFill>
                  <a:srgbClr val="CBB9A5"/>
                </a:solidFill>
                <a:latin typeface="Arial" pitchFamily="34" charset="0"/>
              </a:rPr>
              <a:t>شاشة حيّة من tarfalkhayt — لا تصميم، لا محاكاة.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2743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943600" y="457200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200" b="1" dirty="0">
                <a:solidFill>
                  <a:srgbClr val="596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٠٧ — واجهة المدير</a:t>
            </a:r>
            <a:endParaRPr lang="ar-SA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97280" y="73152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200" b="1" dirty="0">
                <a:solidFill>
                  <a:srgbClr val="8A1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المدير يرى الاختناق قبل وصول الشكوى</a:t>
            </a:r>
            <a:endParaRPr lang="ar-SA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000" dirty="0">
                <a:solidFill>
                  <a:srgbClr val="CBB9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6949440" cy="4160520"/>
          </a:xfrm>
          <a:prstGeom prst="roundRect">
            <a:avLst>
              <a:gd name="adj" fmla="val 2198"/>
            </a:avLst>
          </a:prstGeom>
          <a:solidFill>
            <a:srgbClr val="FFFDF8"/>
          </a:solidFill>
          <a:ln w="19050">
            <a:solidFill>
              <a:srgbClr val="292622"/>
            </a:solidFill>
            <a:prstDash val="solid"/>
          </a:ln>
          <a:effectLst>
            <a:outerShdw blurRad="127000" dist="38100" dir="5400000" algn="bl" rotWithShape="0">
              <a:srgbClr val="5A4636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66928" y="1618488"/>
            <a:ext cx="6912864" cy="310896"/>
          </a:xfrm>
          <a:prstGeom prst="rect">
            <a:avLst/>
          </a:prstGeom>
          <a:solidFill>
            <a:srgbClr val="F1E8DA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1719072"/>
            <a:ext cx="100584" cy="100584"/>
          </a:xfrm>
          <a:prstGeom prst="ellipse">
            <a:avLst/>
          </a:prstGeom>
          <a:solidFill>
            <a:srgbClr val="CBB9A5"/>
          </a:solidFill>
          <a:ln/>
        </p:spPr>
      </p:sp>
      <p:sp>
        <p:nvSpPr>
          <p:cNvPr id="9" name="Shape 6"/>
          <p:cNvSpPr/>
          <p:nvPr/>
        </p:nvSpPr>
        <p:spPr>
          <a:xfrm>
            <a:off x="896112" y="1719072"/>
            <a:ext cx="100584" cy="100584"/>
          </a:xfrm>
          <a:prstGeom prst="ellipse">
            <a:avLst/>
          </a:prstGeom>
          <a:solidFill>
            <a:srgbClr val="CBB9A5"/>
          </a:solidFill>
          <a:ln/>
        </p:spPr>
      </p:sp>
      <p:sp>
        <p:nvSpPr>
          <p:cNvPr id="10" name="Shape 7"/>
          <p:cNvSpPr/>
          <p:nvPr/>
        </p:nvSpPr>
        <p:spPr>
          <a:xfrm>
            <a:off x="1060704" y="1719072"/>
            <a:ext cx="100584" cy="100584"/>
          </a:xfrm>
          <a:prstGeom prst="ellipse">
            <a:avLst/>
          </a:prstGeom>
          <a:solidFill>
            <a:srgbClr val="CBB9A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029200" y="161848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100" b="1" dirty="0">
                <a:solidFill>
                  <a:srgbClr val="561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المدير</a:t>
            </a:r>
            <a:endParaRPr lang="ar-SA" sz="1100" dirty="0"/>
          </a:p>
        </p:txBody>
      </p:sp>
      <p:sp>
        <p:nvSpPr>
          <p:cNvPr id="12" name="Shape 9"/>
          <p:cNvSpPr/>
          <p:nvPr/>
        </p:nvSpPr>
        <p:spPr>
          <a:xfrm>
            <a:off x="5166360" y="210312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4D9C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303520" y="215798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altLang="en-US" sz="3000" b="1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5303520" y="27249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200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المعاملات النشطة</a:t>
            </a:r>
            <a:endParaRPr lang="ar-SA" sz="1200" dirty="0"/>
          </a:p>
        </p:txBody>
      </p:sp>
      <p:sp>
        <p:nvSpPr>
          <p:cNvPr id="15" name="Shape 12"/>
          <p:cNvSpPr/>
          <p:nvPr/>
        </p:nvSpPr>
        <p:spPr>
          <a:xfrm>
            <a:off x="2971800" y="210312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4D9C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108960" y="215798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altLang="en-US" sz="3000" b="1" dirty="0">
                <a:solidFill>
                  <a:srgbClr val="C96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3108960" y="27249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200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المتأخرة</a:t>
            </a:r>
            <a:endParaRPr lang="ar-SA" sz="1200" dirty="0"/>
          </a:p>
        </p:txBody>
      </p:sp>
      <p:sp>
        <p:nvSpPr>
          <p:cNvPr id="18" name="Shape 15"/>
          <p:cNvSpPr/>
          <p:nvPr/>
        </p:nvSpPr>
        <p:spPr>
          <a:xfrm>
            <a:off x="777240" y="210312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B5424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14400" y="215798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altLang="en-US" sz="3000" b="1" dirty="0">
                <a:solidFill>
                  <a:srgbClr val="B5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0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27249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200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تحتاج تدخلًا</a:t>
            </a:r>
            <a:endParaRPr lang="ar-SA" sz="1200" dirty="0"/>
          </a:p>
        </p:txBody>
      </p:sp>
      <p:sp>
        <p:nvSpPr>
          <p:cNvPr id="21" name="Shape 18"/>
          <p:cNvSpPr/>
          <p:nvPr/>
        </p:nvSpPr>
        <p:spPr>
          <a:xfrm>
            <a:off x="777240" y="3291840"/>
            <a:ext cx="64922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4D9C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657600" y="340156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300" b="1" dirty="0">
                <a:solidFill>
                  <a:srgbClr val="561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أين يحدث التأخير؟</a:t>
            </a:r>
            <a:endParaRPr lang="ar-SA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5852160" y="3840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150" b="1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الهندسة</a:t>
            </a:r>
            <a:endParaRPr lang="ar-SA" sz="1150" dirty="0"/>
          </a:p>
        </p:txBody>
      </p:sp>
      <p:sp>
        <p:nvSpPr>
          <p:cNvPr id="24" name="Shape 21"/>
          <p:cNvSpPr/>
          <p:nvPr/>
        </p:nvSpPr>
        <p:spPr>
          <a:xfrm>
            <a:off x="1874520" y="3886200"/>
            <a:ext cx="3840480" cy="182880"/>
          </a:xfrm>
          <a:prstGeom prst="roundRect">
            <a:avLst>
              <a:gd name="adj" fmla="val 50000"/>
            </a:avLst>
          </a:prstGeom>
          <a:solidFill>
            <a:srgbClr val="B5424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5852160" y="4251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1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المالية</a:t>
            </a:r>
            <a:endParaRPr lang="ar-SA" sz="1150" dirty="0"/>
          </a:p>
        </p:txBody>
      </p:sp>
      <p:sp>
        <p:nvSpPr>
          <p:cNvPr id="26" name="Shape 23"/>
          <p:cNvSpPr/>
          <p:nvPr/>
        </p:nvSpPr>
        <p:spPr>
          <a:xfrm>
            <a:off x="3063240" y="4297680"/>
            <a:ext cx="2651760" cy="182880"/>
          </a:xfrm>
          <a:prstGeom prst="roundRect">
            <a:avLst>
              <a:gd name="adj" fmla="val 50000"/>
            </a:avLst>
          </a:prstGeom>
          <a:solidFill>
            <a:srgbClr val="C96E3B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5852160" y="4663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1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خدمات الجمهور</a:t>
            </a:r>
            <a:endParaRPr lang="ar-SA" sz="1150" dirty="0"/>
          </a:p>
        </p:txBody>
      </p:sp>
      <p:sp>
        <p:nvSpPr>
          <p:cNvPr id="28" name="Shape 25"/>
          <p:cNvSpPr/>
          <p:nvPr/>
        </p:nvSpPr>
        <p:spPr>
          <a:xfrm>
            <a:off x="4251960" y="4709160"/>
            <a:ext cx="1463040" cy="182880"/>
          </a:xfrm>
          <a:prstGeom prst="roundRect">
            <a:avLst>
              <a:gd name="adj" fmla="val 50000"/>
            </a:avLst>
          </a:prstGeom>
          <a:solidFill>
            <a:srgbClr val="CBB9A5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852160" y="5074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1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الإدارة</a:t>
            </a:r>
            <a:endParaRPr lang="ar-SA" sz="1150" dirty="0"/>
          </a:p>
        </p:txBody>
      </p:sp>
      <p:sp>
        <p:nvSpPr>
          <p:cNvPr id="30" name="Shape 27"/>
          <p:cNvSpPr/>
          <p:nvPr/>
        </p:nvSpPr>
        <p:spPr>
          <a:xfrm>
            <a:off x="4892040" y="5120640"/>
            <a:ext cx="822960" cy="182880"/>
          </a:xfrm>
          <a:prstGeom prst="roundRect">
            <a:avLst>
              <a:gd name="adj" fmla="val 50000"/>
            </a:avLst>
          </a:prstGeom>
          <a:solidFill>
            <a:srgbClr val="CBB9A5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868680" y="5303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1">
              <a:buNone/>
            </a:pPr>
            <a:r>
              <a:rPr lang="ar-SA" altLang="en-US" sz="900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بيانات توضيحية</a:t>
            </a:r>
            <a:endParaRPr lang="ar-SA" sz="900" dirty="0"/>
          </a:p>
        </p:txBody>
      </p:sp>
      <p:sp>
        <p:nvSpPr>
          <p:cNvPr id="32" name="Shape 29"/>
          <p:cNvSpPr/>
          <p:nvPr/>
        </p:nvSpPr>
        <p:spPr>
          <a:xfrm>
            <a:off x="7269480" y="3840480"/>
            <a:ext cx="612648" cy="137160"/>
          </a:xfrm>
          <a:custGeom>
            <a:avLst/>
            <a:gdLst/>
            <a:ahLst/>
            <a:cxnLst/>
            <a:rect l="l" t="t" r="r" b="b"/>
            <a:pathLst>
              <a:path w="612648" h="137160">
                <a:moveTo>
                  <a:pt x="0" y="137160"/>
                </a:moveTo>
                <a:cubicBezTo>
                  <a:pt x="53340" y="114300"/>
                  <a:pt x="217932" y="0"/>
                  <a:pt x="320040" y="0"/>
                </a:cubicBezTo>
                <a:cubicBezTo>
                  <a:pt x="422148" y="0"/>
                  <a:pt x="563880" y="114300"/>
                  <a:pt x="612648" y="137160"/>
                </a:cubicBezTo>
              </a:path>
            </a:pathLst>
          </a:custGeom>
          <a:ln w="38100">
            <a:solidFill>
              <a:srgbClr val="B54242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863840" y="1600200"/>
            <a:ext cx="3776472" cy="4160520"/>
          </a:xfrm>
          <a:prstGeom prst="roundRect">
            <a:avLst>
              <a:gd name="adj" fmla="val 3874"/>
            </a:avLst>
          </a:prstGeom>
          <a:solidFill>
            <a:srgbClr val="561322"/>
          </a:solidFill>
          <a:ln w="31750">
            <a:solidFill>
              <a:srgbClr val="B54242"/>
            </a:solidFill>
            <a:prstDash val="solid"/>
          </a:ln>
          <a:effectLst>
            <a:outerShdw blurRad="127000" dist="38100" dir="5400000" algn="bl" rotWithShape="0">
              <a:srgbClr val="5A4636">
                <a:alpha val="14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9628632" y="182880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B54242"/>
          </a:solidFill>
          <a:ln/>
        </p:spPr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1672" y="1920240"/>
            <a:ext cx="201168" cy="201168"/>
          </a:xfrm>
          <a:prstGeom prst="rect">
            <a:avLst/>
          </a:prstGeom>
        </p:spPr>
      </p:pic>
      <p:sp>
        <p:nvSpPr>
          <p:cNvPr id="36" name="Text 32"/>
          <p:cNvSpPr txBox="1"/>
          <p:nvPr/>
        </p:nvSpPr>
        <p:spPr>
          <a:xfrm>
            <a:off x="9692640" y="18288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تنبيه تلقائي</a:t>
            </a:r>
            <a:endParaRPr lang="ar-SA" sz="1300" dirty="0"/>
          </a:p>
        </p:txBody>
      </p:sp>
      <p:sp>
        <p:nvSpPr>
          <p:cNvPr id="37" name="Text 33"/>
          <p:cNvSpPr txBox="1"/>
          <p:nvPr/>
        </p:nvSpPr>
        <p:spPr>
          <a:xfrm>
            <a:off x="8092440" y="2377440"/>
            <a:ext cx="3319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800" b="1" dirty="0">
                <a:solidFill>
                  <a:srgbClr val="FFF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رخصة بناء #2034 تجاوزت المدة المحددة</a:t>
            </a:r>
            <a:endParaRPr lang="ar-SA" sz="1800" dirty="0"/>
          </a:p>
        </p:txBody>
      </p:sp>
      <p:sp>
        <p:nvSpPr>
          <p:cNvPr id="38" name="Text 34"/>
          <p:cNvSpPr txBox="1"/>
          <p:nvPr/>
        </p:nvSpPr>
        <p:spPr>
          <a:xfrm>
            <a:off x="9966960" y="320040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150" dirty="0">
                <a:solidFill>
                  <a:srgbClr val="CBB9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الدائرة</a:t>
            </a:r>
            <a:endParaRPr lang="ar-SA" sz="1150" dirty="0"/>
          </a:p>
        </p:txBody>
      </p:sp>
      <p:sp>
        <p:nvSpPr>
          <p:cNvPr id="39" name="Text 35"/>
          <p:cNvSpPr txBox="1"/>
          <p:nvPr/>
        </p:nvSpPr>
        <p:spPr>
          <a:xfrm>
            <a:off x="8092440" y="3200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الهندسة</a:t>
            </a:r>
            <a:endParaRPr lang="ar-SA" sz="1300" dirty="0"/>
          </a:p>
        </p:txBody>
      </p:sp>
      <p:sp>
        <p:nvSpPr>
          <p:cNvPr id="40" name="Shape 36"/>
          <p:cNvSpPr/>
          <p:nvPr/>
        </p:nvSpPr>
        <p:spPr>
          <a:xfrm>
            <a:off x="8092440" y="3621024"/>
            <a:ext cx="3319272" cy="0"/>
          </a:xfrm>
          <a:prstGeom prst="line">
            <a:avLst/>
          </a:prstGeom>
          <a:noFill/>
          <a:ln w="9525">
            <a:solidFill>
              <a:srgbClr val="8A1832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9966960" y="3675888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150" dirty="0">
                <a:solidFill>
                  <a:srgbClr val="CBB9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الموظف المسؤول</a:t>
            </a:r>
            <a:endParaRPr lang="ar-SA" sz="1150" dirty="0"/>
          </a:p>
        </p:txBody>
      </p:sp>
      <p:sp>
        <p:nvSpPr>
          <p:cNvPr id="42" name="Text 38"/>
          <p:cNvSpPr txBox="1"/>
          <p:nvPr/>
        </p:nvSpPr>
        <p:spPr>
          <a:xfrm>
            <a:off x="8092440" y="36758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المهندس المراجع</a:t>
            </a:r>
            <a:endParaRPr lang="ar-SA" sz="1300" dirty="0"/>
          </a:p>
        </p:txBody>
      </p:sp>
      <p:sp>
        <p:nvSpPr>
          <p:cNvPr id="43" name="Shape 39"/>
          <p:cNvSpPr/>
          <p:nvPr/>
        </p:nvSpPr>
        <p:spPr>
          <a:xfrm>
            <a:off x="8092440" y="4096512"/>
            <a:ext cx="3319272" cy="0"/>
          </a:xfrm>
          <a:prstGeom prst="line">
            <a:avLst/>
          </a:prstGeom>
          <a:noFill/>
          <a:ln w="9525">
            <a:solidFill>
              <a:srgbClr val="8A1832"/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9966960" y="4151376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150" dirty="0">
                <a:solidFill>
                  <a:srgbClr val="CBB9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مدة التأخير</a:t>
            </a:r>
            <a:endParaRPr lang="ar-SA" sz="1150" dirty="0"/>
          </a:p>
        </p:txBody>
      </p:sp>
      <p:sp>
        <p:nvSpPr>
          <p:cNvPr id="45" name="Text 41"/>
          <p:cNvSpPr txBox="1"/>
          <p:nvPr/>
        </p:nvSpPr>
        <p:spPr>
          <a:xfrm>
            <a:off x="8092440" y="415137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 أيام بعد المهلة</a:t>
            </a:r>
            <a:endParaRPr lang="ar-SA" sz="1300" dirty="0"/>
          </a:p>
        </p:txBody>
      </p:sp>
      <p:sp>
        <p:nvSpPr>
          <p:cNvPr id="46" name="Shape 42"/>
          <p:cNvSpPr/>
          <p:nvPr/>
        </p:nvSpPr>
        <p:spPr>
          <a:xfrm>
            <a:off x="8092440" y="4572000"/>
            <a:ext cx="3319272" cy="0"/>
          </a:xfrm>
          <a:prstGeom prst="line">
            <a:avLst/>
          </a:prstGeom>
          <a:noFill/>
          <a:ln w="9525">
            <a:solidFill>
              <a:srgbClr val="8A1832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9966960" y="4626864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150" dirty="0">
                <a:solidFill>
                  <a:srgbClr val="CBB9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سبب التوقف</a:t>
            </a:r>
            <a:endParaRPr lang="ar-SA" sz="1150" dirty="0"/>
          </a:p>
        </p:txBody>
      </p:sp>
      <p:sp>
        <p:nvSpPr>
          <p:cNvPr id="48" name="Text 44"/>
          <p:cNvSpPr txBox="1"/>
          <p:nvPr/>
        </p:nvSpPr>
        <p:spPr>
          <a:xfrm>
            <a:off x="8092440" y="46268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بانتظار مخطط الموقع</a:t>
            </a:r>
            <a:endParaRPr lang="ar-SA" sz="1300" dirty="0"/>
          </a:p>
        </p:txBody>
      </p:sp>
      <p:sp>
        <p:nvSpPr>
          <p:cNvPr id="49" name="Shape 45"/>
          <p:cNvSpPr/>
          <p:nvPr/>
        </p:nvSpPr>
        <p:spPr>
          <a:xfrm>
            <a:off x="8092440" y="5166360"/>
            <a:ext cx="3319272" cy="411480"/>
          </a:xfrm>
          <a:prstGeom prst="roundRect">
            <a:avLst>
              <a:gd name="adj" fmla="val 17778"/>
            </a:avLst>
          </a:prstGeom>
          <a:solidFill>
            <a:srgbClr val="FFFDF8"/>
          </a:solidFill>
          <a:ln/>
        </p:spPr>
      </p:sp>
      <p:sp>
        <p:nvSpPr>
          <p:cNvPr id="50" name="Text 46"/>
          <p:cNvSpPr txBox="1"/>
          <p:nvPr/>
        </p:nvSpPr>
        <p:spPr>
          <a:xfrm>
            <a:off x="8092440" y="5166360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300" b="1" dirty="0">
                <a:solidFill>
                  <a:srgbClr val="561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التدخل أو إعادة الإسناد</a:t>
            </a:r>
            <a:endParaRPr lang="ar-SA" sz="1300" dirty="0"/>
          </a:p>
        </p:txBody>
      </p:sp>
      <p:sp>
        <p:nvSpPr>
          <p:cNvPr id="51" name="Text 47"/>
          <p:cNvSpPr txBox="1"/>
          <p:nvPr/>
        </p:nvSpPr>
        <p:spPr>
          <a:xfrm>
            <a:off x="1828800" y="5943600"/>
            <a:ext cx="9811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800" b="1" dirty="0">
                <a:solidFill>
                  <a:srgbClr val="8A1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يصل التنبيه دون انتظار شكوى المواطن</a:t>
            </a:r>
            <a:endParaRPr lang="ar-SA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2743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943600" y="457200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200" b="1" dirty="0">
                <a:solidFill>
                  <a:srgbClr val="596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لقطة من النظام الفعلي</a:t>
            </a:r>
            <a:endParaRPr lang="ar-SA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97280" y="73152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200" b="1" dirty="0">
                <a:solidFill>
                  <a:srgbClr val="8A1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المدير كما تُستخدم فعليًا</a:t>
            </a:r>
            <a:endParaRPr lang="ar-SA" sz="3200" dirty="0"/>
          </a:p>
        </p:txBody>
      </p:sp>
      <p:sp>
        <p:nvSpPr>
          <p:cNvPr id="137" name="ShotCard"/>
          <p:cNvSpPr/>
          <p:nvPr/>
        </p:nvSpPr>
        <p:spPr>
          <a:xfrm>
            <a:off x="2719600" y="1950000"/>
            <a:ext cx="6752800" cy="4488000"/>
          </a:xfrm>
          <a:prstGeom prst="roundRect">
            <a:avLst>
              <a:gd name="adj" fmla="val 3000"/>
            </a:avLst>
          </a:prstGeom>
          <a:solidFill>
            <a:srgbClr val="FFFDF8"/>
          </a:solidFill>
          <a:ln w="12700">
            <a:solidFill>
              <a:srgbClr val="CBB9A5"/>
            </a:solidFill>
            <a:prstDash val="solid"/>
          </a:ln>
          <a:effectLst>
            <a:outerShdw blurRad="180000" dist="60000" dir="5400000" rotWithShape="0">
              <a:srgbClr val="3A1520">
                <a:alpha val="22000"/>
              </a:srgbClr>
            </a:outerShdw>
          </a:effectLst>
        </p:spPr>
      </p:sp>
      <p:sp>
        <p:nvSpPr>
          <p:cNvPr id="141" name="dot"/>
          <p:cNvSpPr/>
          <p:nvPr/>
        </p:nvSpPr>
        <p:spPr>
          <a:xfrm>
            <a:off x="2789600" y="2019000"/>
            <a:ext cx="92000" cy="92000"/>
          </a:xfrm>
          <a:prstGeom prst="ellipse">
            <a:avLst/>
          </a:prstGeom>
          <a:solidFill>
            <a:srgbClr val="8A1832"/>
          </a:solidFill>
          <a:ln>
            <a:noFill/>
          </a:ln>
        </p:spPr>
      </p:sp>
      <p:sp>
        <p:nvSpPr>
          <p:cNvPr id="142" name="dot"/>
          <p:cNvSpPr/>
          <p:nvPr/>
        </p:nvSpPr>
        <p:spPr>
          <a:xfrm>
            <a:off x="2865600" y="2019000"/>
            <a:ext cx="92000" cy="92000"/>
          </a:xfrm>
          <a:prstGeom prst="ellipse">
            <a:avLst/>
          </a:prstGeom>
          <a:solidFill>
            <a:srgbClr val="CBB9A5"/>
          </a:solidFill>
          <a:ln>
            <a:noFill/>
          </a:ln>
        </p:spPr>
      </p:sp>
      <p:sp>
        <p:nvSpPr>
          <p:cNvPr id="143" name="dot"/>
          <p:cNvSpPr/>
          <p:nvPr/>
        </p:nvSpPr>
        <p:spPr>
          <a:xfrm>
            <a:off x="2941600" y="2019000"/>
            <a:ext cx="92000" cy="92000"/>
          </a:xfrm>
          <a:prstGeom prst="ellipse">
            <a:avLst/>
          </a:prstGeom>
          <a:solidFill>
            <a:srgbClr val="59613A"/>
          </a:solidFill>
          <a:ln>
            <a:noFill/>
          </a:ln>
        </p:spPr>
      </p:sp>
      <p:sp>
        <p:nvSpPr>
          <p:cNvPr id="138" name="ChromeDivider"/>
          <p:cNvSpPr/>
          <p:nvPr/>
        </p:nvSpPr>
        <p:spPr>
          <a:xfrm>
            <a:off x="2719600" y="2180000"/>
            <a:ext cx="6752800" cy="12700"/>
          </a:xfrm>
          <a:prstGeom prst="rect">
            <a:avLst/>
          </a:prstGeom>
          <a:solidFill>
            <a:srgbClr val="CBB9A5"/>
          </a:solidFill>
          <a:ln>
            <a:noFill/>
          </a:ln>
        </p:spPr>
      </p:sp>
      <p:sp>
        <p:nvSpPr>
          <p:cNvPr id="139" name="ChromeLabel"/>
          <p:cNvSpPr txBox="1"/>
          <p:nvPr/>
        </p:nvSpPr>
        <p:spPr>
          <a:xfrm>
            <a:off x="3057600" y="1950000"/>
            <a:ext cx="63348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ar-SA" sz="1100" dirty="0">
                <a:solidFill>
                  <a:srgbClr val="6B6259"/>
                </a:solidFill>
                <a:latin typeface="Arial" pitchFamily="34" charset="0"/>
              </a:rPr>
              <a:t>tarfalkhayt.ps</a:t>
            </a:r>
          </a:p>
        </p:txBody>
      </p:sp>
      <p:pic>
        <p:nvPicPr>
          <p:cNvPr id="140" name="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9600" y="2230000"/>
            <a:ext cx="6652800" cy="4158000"/>
          </a:xfrm>
          <a:prstGeom prst="rect">
            <a:avLst/>
          </a:prstGeom>
        </p:spPr>
      </p:pic>
      <p:sp>
        <p:nvSpPr>
          <p:cNvPr id="144" name="Sub"/>
          <p:cNvSpPr txBox="1"/>
          <p:nvPr/>
        </p:nvSpPr>
        <p:spPr>
          <a:xfrm>
            <a:off x="1097280" y="149352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400" dirty="0">
                <a:solidFill>
                  <a:srgbClr val="6B6259"/>
                </a:solidFill>
                <a:latin typeface="Arial" pitchFamily="34" charset="0"/>
              </a:rPr>
              <a:t>التنبيهات، توزيع المعاملات، ومتوسط مدة المعالجة — بيانات حيّة لا نماذج.</a:t>
            </a:r>
          </a:p>
        </p:txBody>
      </p:sp>
      <p:sp>
        <p:nvSpPr>
          <p:cNvPr id="145" name="Caption"/>
          <p:cNvSpPr txBox="1"/>
          <p:nvPr/>
        </p:nvSpPr>
        <p:spPr>
          <a:xfrm>
            <a:off x="548640" y="6400800"/>
            <a:ext cx="600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1">
              <a:buNone/>
            </a:pPr>
            <a:r>
              <a:rPr lang="ar-SA" altLang="en-US" sz="1000" i="1" dirty="0">
                <a:solidFill>
                  <a:srgbClr val="CBB9A5"/>
                </a:solidFill>
                <a:latin typeface="Arial" pitchFamily="34" charset="0"/>
              </a:rPr>
              <a:t>شاشة حيّة من tarfalkhayt — لا تصميم، لا محاكاة.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2743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943600" y="457200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200" b="1" dirty="0">
                <a:solidFill>
                  <a:srgbClr val="596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٠٨ — القيمة</a:t>
            </a:r>
            <a:endParaRPr lang="ar-SA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97280" y="73152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200" b="1" dirty="0">
                <a:solidFill>
                  <a:srgbClr val="8A1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قيمة النظام لكل طرف</a:t>
            </a:r>
            <a:endParaRPr lang="ar-SA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000" dirty="0">
                <a:solidFill>
                  <a:srgbClr val="CBB9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092440" y="1554480"/>
            <a:ext cx="3547872" cy="1920240"/>
          </a:xfrm>
          <a:prstGeom prst="roundRect">
            <a:avLst>
              <a:gd name="adj" fmla="val 6667"/>
            </a:avLst>
          </a:prstGeom>
          <a:solidFill>
            <a:srgbClr val="F1E8DA">
              <a:alpha val="8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1554480"/>
            <a:ext cx="3547872" cy="1920240"/>
          </a:xfrm>
          <a:prstGeom prst="roundRect">
            <a:avLst>
              <a:gd name="adj" fmla="val 6667"/>
            </a:avLst>
          </a:prstGeom>
          <a:solidFill>
            <a:srgbClr val="F1E8DA">
              <a:alpha val="8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8092440" y="3794760"/>
            <a:ext cx="3547872" cy="1920240"/>
          </a:xfrm>
          <a:prstGeom prst="roundRect">
            <a:avLst>
              <a:gd name="adj" fmla="val 6667"/>
            </a:avLst>
          </a:prstGeom>
          <a:solidFill>
            <a:srgbClr val="F1E8DA">
              <a:alpha val="8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794760"/>
            <a:ext cx="3547872" cy="1920240"/>
          </a:xfrm>
          <a:prstGeom prst="roundRect">
            <a:avLst>
              <a:gd name="adj" fmla="val 6667"/>
            </a:avLst>
          </a:prstGeom>
          <a:solidFill>
            <a:srgbClr val="F1E8DA">
              <a:alpha val="8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6663233" y="2514600"/>
            <a:ext cx="1429207" cy="731063"/>
          </a:xfrm>
          <a:custGeom>
            <a:avLst/>
            <a:gdLst/>
            <a:ahLst/>
            <a:cxnLst/>
            <a:rect l="l" t="t" r="r" b="b"/>
            <a:pathLst>
              <a:path w="1429207" h="731063">
                <a:moveTo>
                  <a:pt x="0" y="731063"/>
                </a:moveTo>
                <a:cubicBezTo>
                  <a:pt x="119101" y="631713"/>
                  <a:pt x="476402" y="256809"/>
                  <a:pt x="714604" y="134965"/>
                </a:cubicBezTo>
                <a:cubicBezTo>
                  <a:pt x="952805" y="13122"/>
                  <a:pt x="1310107" y="22494"/>
                  <a:pt x="1429207" y="0"/>
                </a:cubicBezTo>
              </a:path>
            </a:pathLst>
          </a:custGeom>
          <a:ln w="38100">
            <a:solidFill>
              <a:srgbClr val="8A183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001000" y="2423160"/>
            <a:ext cx="182880" cy="182880"/>
          </a:xfrm>
          <a:prstGeom prst="ellipse">
            <a:avLst/>
          </a:prstGeom>
          <a:solidFill>
            <a:srgbClr val="8A1832"/>
          </a:solidFill>
          <a:ln w="15875">
            <a:solidFill>
              <a:srgbClr val="FFFDF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096512" y="2514600"/>
            <a:ext cx="1432865" cy="731063"/>
          </a:xfrm>
          <a:custGeom>
            <a:avLst/>
            <a:gdLst/>
            <a:ahLst/>
            <a:cxnLst/>
            <a:rect l="l" t="t" r="r" b="b"/>
            <a:pathLst>
              <a:path w="1432865" h="731063">
                <a:moveTo>
                  <a:pt x="1432865" y="731063"/>
                </a:moveTo>
                <a:cubicBezTo>
                  <a:pt x="1313459" y="631713"/>
                  <a:pt x="955243" y="256809"/>
                  <a:pt x="716432" y="134965"/>
                </a:cubicBezTo>
                <a:cubicBezTo>
                  <a:pt x="477622" y="13122"/>
                  <a:pt x="119405" y="22494"/>
                  <a:pt x="0" y="0"/>
                </a:cubicBezTo>
              </a:path>
            </a:pathLst>
          </a:custGeom>
          <a:ln w="38100">
            <a:solidFill>
              <a:srgbClr val="8A183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005072" y="2423160"/>
            <a:ext cx="182880" cy="182880"/>
          </a:xfrm>
          <a:prstGeom prst="ellipse">
            <a:avLst/>
          </a:prstGeom>
          <a:solidFill>
            <a:srgbClr val="8A1832"/>
          </a:solidFill>
          <a:ln w="15875">
            <a:solidFill>
              <a:srgbClr val="FFFDF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663233" y="4029761"/>
            <a:ext cx="1429207" cy="725119"/>
          </a:xfrm>
          <a:custGeom>
            <a:avLst/>
            <a:gdLst/>
            <a:ahLst/>
            <a:cxnLst/>
            <a:rect l="l" t="t" r="r" b="b"/>
            <a:pathLst>
              <a:path w="1429207" h="725119">
                <a:moveTo>
                  <a:pt x="0" y="0"/>
                </a:moveTo>
                <a:cubicBezTo>
                  <a:pt x="119101" y="98542"/>
                  <a:pt x="476402" y="470398"/>
                  <a:pt x="714604" y="591251"/>
                </a:cubicBezTo>
                <a:cubicBezTo>
                  <a:pt x="952805" y="712104"/>
                  <a:pt x="1310107" y="702808"/>
                  <a:pt x="1429207" y="725119"/>
                </a:cubicBezTo>
              </a:path>
            </a:pathLst>
          </a:custGeom>
          <a:ln w="38100">
            <a:solidFill>
              <a:srgbClr val="8A183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001000" y="4663440"/>
            <a:ext cx="182880" cy="182880"/>
          </a:xfrm>
          <a:prstGeom prst="ellipse">
            <a:avLst/>
          </a:prstGeom>
          <a:solidFill>
            <a:srgbClr val="8A1832"/>
          </a:solidFill>
          <a:ln w="15875">
            <a:solidFill>
              <a:srgbClr val="FFFDF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096512" y="4029761"/>
            <a:ext cx="1432865" cy="725119"/>
          </a:xfrm>
          <a:custGeom>
            <a:avLst/>
            <a:gdLst/>
            <a:ahLst/>
            <a:cxnLst/>
            <a:rect l="l" t="t" r="r" b="b"/>
            <a:pathLst>
              <a:path w="1432865" h="725119">
                <a:moveTo>
                  <a:pt x="1432865" y="0"/>
                </a:moveTo>
                <a:cubicBezTo>
                  <a:pt x="1313459" y="98542"/>
                  <a:pt x="955243" y="470398"/>
                  <a:pt x="716432" y="591251"/>
                </a:cubicBezTo>
                <a:cubicBezTo>
                  <a:pt x="477622" y="712104"/>
                  <a:pt x="119405" y="702808"/>
                  <a:pt x="0" y="725119"/>
                </a:cubicBezTo>
              </a:path>
            </a:pathLst>
          </a:custGeom>
          <a:ln w="38100">
            <a:solidFill>
              <a:srgbClr val="8A183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05072" y="4663440"/>
            <a:ext cx="182880" cy="182880"/>
          </a:xfrm>
          <a:prstGeom prst="ellipse">
            <a:avLst/>
          </a:prstGeom>
          <a:solidFill>
            <a:srgbClr val="8A1832"/>
          </a:solidFill>
          <a:ln w="15875">
            <a:solidFill>
              <a:srgbClr val="FFFDF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136185" y="2679192"/>
            <a:ext cx="1920240" cy="1920240"/>
          </a:xfrm>
          <a:prstGeom prst="ellipse">
            <a:avLst/>
          </a:prstGeom>
          <a:ln w="19050">
            <a:solidFill>
              <a:srgbClr val="CBB9A5"/>
            </a:solidFill>
            <a:prstDash val="dash"/>
          </a:ln>
        </p:spPr>
      </p:sp>
      <p:sp>
        <p:nvSpPr>
          <p:cNvPr id="19" name="Shape 16"/>
          <p:cNvSpPr/>
          <p:nvPr/>
        </p:nvSpPr>
        <p:spPr>
          <a:xfrm>
            <a:off x="5410505" y="2953512"/>
            <a:ext cx="1371600" cy="1371600"/>
          </a:xfrm>
          <a:prstGeom prst="ellipse">
            <a:avLst/>
          </a:prstGeom>
          <a:solidFill>
            <a:srgbClr val="8A1832"/>
          </a:solidFill>
          <a:ln w="38100">
            <a:solidFill>
              <a:srgbClr val="FFFDF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10505" y="336499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مسار واحد</a:t>
            </a:r>
            <a:endParaRPr lang="ar-SA" sz="1700" dirty="0"/>
          </a:p>
        </p:txBody>
      </p:sp>
      <p:sp>
        <p:nvSpPr>
          <p:cNvPr id="21" name="Shape 18"/>
          <p:cNvSpPr/>
          <p:nvPr/>
        </p:nvSpPr>
        <p:spPr>
          <a:xfrm>
            <a:off x="10899648" y="1737360"/>
            <a:ext cx="530352" cy="530352"/>
          </a:xfrm>
          <a:prstGeom prst="ellipse">
            <a:avLst/>
          </a:prstGeom>
          <a:solidFill>
            <a:srgbClr val="8A1832"/>
          </a:solidFill>
          <a:ln/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7664" y="1865376"/>
            <a:ext cx="274320" cy="27432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8321040" y="173736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100" b="1" dirty="0">
                <a:solidFill>
                  <a:srgbClr val="8A1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البلدية</a:t>
            </a:r>
            <a:endParaRPr lang="ar-SA" sz="2100" dirty="0"/>
          </a:p>
        </p:txBody>
      </p:sp>
      <p:sp>
        <p:nvSpPr>
          <p:cNvPr id="24" name="Shape 20"/>
          <p:cNvSpPr/>
          <p:nvPr/>
        </p:nvSpPr>
        <p:spPr>
          <a:xfrm>
            <a:off x="11119104" y="2551176"/>
            <a:ext cx="100584" cy="100584"/>
          </a:xfrm>
          <a:prstGeom prst="ellipse">
            <a:avLst/>
          </a:prstGeom>
          <a:solidFill>
            <a:srgbClr val="59613A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8321040" y="2450592"/>
            <a:ext cx="2670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4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إجراءات موحدة</a:t>
            </a:r>
            <a:endParaRPr lang="ar-SA" sz="1450" dirty="0"/>
          </a:p>
        </p:txBody>
      </p:sp>
      <p:sp>
        <p:nvSpPr>
          <p:cNvPr id="26" name="Shape 22"/>
          <p:cNvSpPr/>
          <p:nvPr/>
        </p:nvSpPr>
        <p:spPr>
          <a:xfrm>
            <a:off x="11119104" y="2889504"/>
            <a:ext cx="100584" cy="100584"/>
          </a:xfrm>
          <a:prstGeom prst="ellipse">
            <a:avLst/>
          </a:prstGeom>
          <a:solidFill>
            <a:srgbClr val="59613A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321040" y="2788920"/>
            <a:ext cx="2670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4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قياس الأداء</a:t>
            </a:r>
            <a:endParaRPr lang="ar-SA" sz="1450" dirty="0"/>
          </a:p>
        </p:txBody>
      </p:sp>
      <p:sp>
        <p:nvSpPr>
          <p:cNvPr id="28" name="Shape 24"/>
          <p:cNvSpPr/>
          <p:nvPr/>
        </p:nvSpPr>
        <p:spPr>
          <a:xfrm>
            <a:off x="11119104" y="3227832"/>
            <a:ext cx="100584" cy="100584"/>
          </a:xfrm>
          <a:prstGeom prst="ellipse">
            <a:avLst/>
          </a:prstGeom>
          <a:solidFill>
            <a:srgbClr val="59613A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8321040" y="3127248"/>
            <a:ext cx="2670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4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كشف نقاط الاختناق</a:t>
            </a:r>
            <a:endParaRPr lang="ar-SA" sz="1450" dirty="0"/>
          </a:p>
        </p:txBody>
      </p:sp>
      <p:sp>
        <p:nvSpPr>
          <p:cNvPr id="30" name="Shape 26"/>
          <p:cNvSpPr/>
          <p:nvPr/>
        </p:nvSpPr>
        <p:spPr>
          <a:xfrm>
            <a:off x="3355848" y="1737360"/>
            <a:ext cx="530352" cy="530352"/>
          </a:xfrm>
          <a:prstGeom prst="ellipse">
            <a:avLst/>
          </a:prstGeom>
          <a:solidFill>
            <a:srgbClr val="8A1832"/>
          </a:solidFill>
          <a:ln/>
        </p:spPr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1865376"/>
            <a:ext cx="274320" cy="274320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777240" y="173736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100" b="1" dirty="0">
                <a:solidFill>
                  <a:srgbClr val="8A1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الموظف</a:t>
            </a:r>
            <a:endParaRPr lang="ar-SA" sz="2100" dirty="0"/>
          </a:p>
        </p:txBody>
      </p:sp>
      <p:sp>
        <p:nvSpPr>
          <p:cNvPr id="33" name="Shape 28"/>
          <p:cNvSpPr/>
          <p:nvPr/>
        </p:nvSpPr>
        <p:spPr>
          <a:xfrm>
            <a:off x="3575304" y="2551176"/>
            <a:ext cx="100584" cy="100584"/>
          </a:xfrm>
          <a:prstGeom prst="ellipse">
            <a:avLst/>
          </a:prstGeom>
          <a:solidFill>
            <a:srgbClr val="59613A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777240" y="2450592"/>
            <a:ext cx="2670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4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مهام واضحة</a:t>
            </a:r>
            <a:endParaRPr lang="ar-SA" sz="1450" dirty="0"/>
          </a:p>
        </p:txBody>
      </p:sp>
      <p:sp>
        <p:nvSpPr>
          <p:cNvPr id="35" name="Shape 30"/>
          <p:cNvSpPr/>
          <p:nvPr/>
        </p:nvSpPr>
        <p:spPr>
          <a:xfrm>
            <a:off x="3575304" y="2889504"/>
            <a:ext cx="100584" cy="100584"/>
          </a:xfrm>
          <a:prstGeom prst="ellipse">
            <a:avLst/>
          </a:prstGeom>
          <a:solidFill>
            <a:srgbClr val="59613A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777240" y="2788920"/>
            <a:ext cx="2670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4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تسليم موثّق</a:t>
            </a:r>
            <a:endParaRPr lang="ar-SA" sz="1450" dirty="0"/>
          </a:p>
        </p:txBody>
      </p:sp>
      <p:sp>
        <p:nvSpPr>
          <p:cNvPr id="37" name="Shape 32"/>
          <p:cNvSpPr/>
          <p:nvPr/>
        </p:nvSpPr>
        <p:spPr>
          <a:xfrm>
            <a:off x="3575304" y="3227832"/>
            <a:ext cx="100584" cy="100584"/>
          </a:xfrm>
          <a:prstGeom prst="ellipse">
            <a:avLst/>
          </a:prstGeom>
          <a:solidFill>
            <a:srgbClr val="59613A"/>
          </a:solidFill>
          <a:ln/>
        </p:spPr>
      </p:sp>
      <p:sp>
        <p:nvSpPr>
          <p:cNvPr id="38" name="Text 33"/>
          <p:cNvSpPr txBox="1"/>
          <p:nvPr/>
        </p:nvSpPr>
        <p:spPr>
          <a:xfrm>
            <a:off x="777240" y="3127248"/>
            <a:ext cx="2670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4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تقليل تضارب المسؤوليات</a:t>
            </a:r>
            <a:endParaRPr lang="ar-SA" sz="1450" dirty="0"/>
          </a:p>
        </p:txBody>
      </p:sp>
      <p:sp>
        <p:nvSpPr>
          <p:cNvPr id="39" name="Shape 34"/>
          <p:cNvSpPr/>
          <p:nvPr/>
        </p:nvSpPr>
        <p:spPr>
          <a:xfrm>
            <a:off x="10899648" y="3977640"/>
            <a:ext cx="530352" cy="530352"/>
          </a:xfrm>
          <a:prstGeom prst="ellipse">
            <a:avLst/>
          </a:prstGeom>
          <a:solidFill>
            <a:srgbClr val="8A1832"/>
          </a:solidFill>
          <a:ln/>
        </p:spPr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27664" y="4105656"/>
            <a:ext cx="274320" cy="274320"/>
          </a:xfrm>
          <a:prstGeom prst="rect">
            <a:avLst/>
          </a:prstGeom>
        </p:spPr>
      </p:pic>
      <p:sp>
        <p:nvSpPr>
          <p:cNvPr id="41" name="Text 35"/>
          <p:cNvSpPr txBox="1"/>
          <p:nvPr/>
        </p:nvSpPr>
        <p:spPr>
          <a:xfrm>
            <a:off x="8321040" y="397764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100" b="1" dirty="0">
                <a:solidFill>
                  <a:srgbClr val="8A1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المدير</a:t>
            </a:r>
            <a:endParaRPr lang="ar-SA" sz="2100" dirty="0"/>
          </a:p>
        </p:txBody>
      </p:sp>
      <p:sp>
        <p:nvSpPr>
          <p:cNvPr id="42" name="Shape 36"/>
          <p:cNvSpPr/>
          <p:nvPr/>
        </p:nvSpPr>
        <p:spPr>
          <a:xfrm>
            <a:off x="11119104" y="4791456"/>
            <a:ext cx="100584" cy="100584"/>
          </a:xfrm>
          <a:prstGeom prst="ellipse">
            <a:avLst/>
          </a:prstGeom>
          <a:solidFill>
            <a:srgbClr val="59613A"/>
          </a:solidFill>
          <a:ln/>
        </p:spPr>
      </p:sp>
      <p:sp>
        <p:nvSpPr>
          <p:cNvPr id="43" name="Text 37"/>
          <p:cNvSpPr txBox="1"/>
          <p:nvPr/>
        </p:nvSpPr>
        <p:spPr>
          <a:xfrm>
            <a:off x="8321040" y="4690872"/>
            <a:ext cx="2670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4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تنبيهات مبكرة</a:t>
            </a:r>
            <a:endParaRPr lang="ar-SA" sz="1450" dirty="0"/>
          </a:p>
        </p:txBody>
      </p:sp>
      <p:sp>
        <p:nvSpPr>
          <p:cNvPr id="44" name="Shape 38"/>
          <p:cNvSpPr/>
          <p:nvPr/>
        </p:nvSpPr>
        <p:spPr>
          <a:xfrm>
            <a:off x="11119104" y="5129784"/>
            <a:ext cx="100584" cy="100584"/>
          </a:xfrm>
          <a:prstGeom prst="ellipse">
            <a:avLst/>
          </a:prstGeom>
          <a:solidFill>
            <a:srgbClr val="59613A"/>
          </a:solidFill>
          <a:ln/>
        </p:spPr>
      </p:sp>
      <p:sp>
        <p:nvSpPr>
          <p:cNvPr id="45" name="Text 39"/>
          <p:cNvSpPr txBox="1"/>
          <p:nvPr/>
        </p:nvSpPr>
        <p:spPr>
          <a:xfrm>
            <a:off x="8321040" y="5029200"/>
            <a:ext cx="2670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4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رؤية تشغيلية</a:t>
            </a:r>
            <a:endParaRPr lang="ar-SA" sz="1450" dirty="0"/>
          </a:p>
        </p:txBody>
      </p:sp>
      <p:sp>
        <p:nvSpPr>
          <p:cNvPr id="46" name="Shape 40"/>
          <p:cNvSpPr/>
          <p:nvPr/>
        </p:nvSpPr>
        <p:spPr>
          <a:xfrm>
            <a:off x="11119104" y="5468112"/>
            <a:ext cx="100584" cy="100584"/>
          </a:xfrm>
          <a:prstGeom prst="ellipse">
            <a:avLst/>
          </a:prstGeom>
          <a:solidFill>
            <a:srgbClr val="59613A"/>
          </a:solidFill>
          <a:ln/>
        </p:spPr>
      </p:sp>
      <p:sp>
        <p:nvSpPr>
          <p:cNvPr id="47" name="Text 41"/>
          <p:cNvSpPr txBox="1"/>
          <p:nvPr/>
        </p:nvSpPr>
        <p:spPr>
          <a:xfrm>
            <a:off x="8321040" y="5367528"/>
            <a:ext cx="2670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4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قرارات مبنية على سجل</a:t>
            </a:r>
            <a:endParaRPr lang="ar-SA" sz="1450" dirty="0"/>
          </a:p>
        </p:txBody>
      </p:sp>
      <p:sp>
        <p:nvSpPr>
          <p:cNvPr id="48" name="Shape 42"/>
          <p:cNvSpPr/>
          <p:nvPr/>
        </p:nvSpPr>
        <p:spPr>
          <a:xfrm>
            <a:off x="3355848" y="3977640"/>
            <a:ext cx="530352" cy="530352"/>
          </a:xfrm>
          <a:prstGeom prst="ellipse">
            <a:avLst/>
          </a:prstGeom>
          <a:solidFill>
            <a:srgbClr val="59613A"/>
          </a:solidFill>
          <a:ln/>
        </p:spPr>
      </p:sp>
      <p:pic>
        <p:nvPicPr>
          <p:cNvPr id="4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4105656"/>
            <a:ext cx="274320" cy="274320"/>
          </a:xfrm>
          <a:prstGeom prst="rect">
            <a:avLst/>
          </a:prstGeom>
        </p:spPr>
      </p:pic>
      <p:sp>
        <p:nvSpPr>
          <p:cNvPr id="50" name="Text 43"/>
          <p:cNvSpPr txBox="1"/>
          <p:nvPr/>
        </p:nvSpPr>
        <p:spPr>
          <a:xfrm>
            <a:off x="777240" y="397764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100" b="1" dirty="0">
                <a:solidFill>
                  <a:srgbClr val="596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المواطن</a:t>
            </a:r>
            <a:endParaRPr lang="ar-SA" sz="2100" dirty="0"/>
          </a:p>
        </p:txBody>
      </p:sp>
      <p:sp>
        <p:nvSpPr>
          <p:cNvPr id="51" name="Shape 44"/>
          <p:cNvSpPr/>
          <p:nvPr/>
        </p:nvSpPr>
        <p:spPr>
          <a:xfrm>
            <a:off x="3575304" y="4791456"/>
            <a:ext cx="100584" cy="100584"/>
          </a:xfrm>
          <a:prstGeom prst="ellipse">
            <a:avLst/>
          </a:prstGeom>
          <a:solidFill>
            <a:srgbClr val="59613A"/>
          </a:solidFill>
          <a:ln/>
        </p:spPr>
      </p:sp>
      <p:sp>
        <p:nvSpPr>
          <p:cNvPr id="52" name="Text 45"/>
          <p:cNvSpPr txBox="1"/>
          <p:nvPr/>
        </p:nvSpPr>
        <p:spPr>
          <a:xfrm>
            <a:off x="777240" y="4690872"/>
            <a:ext cx="2670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4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سبب واضح للتأخير</a:t>
            </a:r>
            <a:endParaRPr lang="ar-SA" sz="1450" dirty="0"/>
          </a:p>
        </p:txBody>
      </p:sp>
      <p:sp>
        <p:nvSpPr>
          <p:cNvPr id="53" name="Shape 46"/>
          <p:cNvSpPr/>
          <p:nvPr/>
        </p:nvSpPr>
        <p:spPr>
          <a:xfrm>
            <a:off x="3575304" y="5129784"/>
            <a:ext cx="100584" cy="100584"/>
          </a:xfrm>
          <a:prstGeom prst="ellipse">
            <a:avLst/>
          </a:prstGeom>
          <a:solidFill>
            <a:srgbClr val="59613A"/>
          </a:solidFill>
          <a:ln/>
        </p:spPr>
      </p:sp>
      <p:sp>
        <p:nvSpPr>
          <p:cNvPr id="54" name="Text 47"/>
          <p:cNvSpPr txBox="1"/>
          <p:nvPr/>
        </p:nvSpPr>
        <p:spPr>
          <a:xfrm>
            <a:off x="777240" y="5029200"/>
            <a:ext cx="2670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4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حالة مفهومة</a:t>
            </a:r>
            <a:endParaRPr lang="ar-SA" sz="1450" dirty="0"/>
          </a:p>
        </p:txBody>
      </p:sp>
      <p:sp>
        <p:nvSpPr>
          <p:cNvPr id="55" name="Shape 48"/>
          <p:cNvSpPr/>
          <p:nvPr/>
        </p:nvSpPr>
        <p:spPr>
          <a:xfrm>
            <a:off x="3575304" y="5468112"/>
            <a:ext cx="100584" cy="100584"/>
          </a:xfrm>
          <a:prstGeom prst="ellipse">
            <a:avLst/>
          </a:prstGeom>
          <a:solidFill>
            <a:srgbClr val="59613A"/>
          </a:solidFill>
          <a:ln/>
        </p:spPr>
      </p:sp>
      <p:sp>
        <p:nvSpPr>
          <p:cNvPr id="56" name="Text 49"/>
          <p:cNvSpPr txBox="1"/>
          <p:nvPr/>
        </p:nvSpPr>
        <p:spPr>
          <a:xfrm>
            <a:off x="777240" y="5367528"/>
            <a:ext cx="2670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45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توقع زمني أفضل</a:t>
            </a:r>
            <a:endParaRPr lang="ar-SA" sz="1450" dirty="0"/>
          </a:p>
        </p:txBody>
      </p:sp>
      <p:sp>
        <p:nvSpPr>
          <p:cNvPr id="57" name="Text 50"/>
          <p:cNvSpPr txBox="1"/>
          <p:nvPr/>
        </p:nvSpPr>
        <p:spPr>
          <a:xfrm>
            <a:off x="2286000" y="5897880"/>
            <a:ext cx="7616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2100" b="1" dirty="0">
                <a:solidFill>
                  <a:srgbClr val="8A1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الشفافية نتيجة لمسار داخلي منضبط</a:t>
            </a:r>
            <a:endParaRPr lang="ar-SA" sz="2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274320"/>
          </a:xfrm>
          <a:prstGeom prst="rect">
            <a:avLst/>
          </a:prstGeom>
        </p:spPr>
      </p:pic>
      <p:pic>
        <p:nvPicPr>
          <p:cNvPr id="3" name="Image 1" descr="assets/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83680"/>
            <a:ext cx="12191695" cy="274320"/>
          </a:xfrm>
          <a:prstGeom prst="rect">
            <a:avLst/>
          </a:prstGeom>
        </p:spPr>
      </p:pic>
      <p:pic>
        <p:nvPicPr>
          <p:cNvPr id="4" name="Image 2" descr="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51692"/>
            <a:ext cx="3392072" cy="3488788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4023360" y="822960"/>
            <a:ext cx="76169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10000"/>
              </a:lnSpc>
              <a:buNone/>
            </a:pPr>
            <a:r>
              <a:rPr lang="ar-SA" altLang="en-US" sz="3400" b="1" dirty="0">
                <a:solidFill>
                  <a:srgbClr val="8A1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إذا عرف كل موظف طرف الخيط،</a:t>
            </a:r>
            <a:endParaRPr lang="ar-SA" sz="3400" dirty="0"/>
          </a:p>
          <a:p>
            <a:pPr marL="0" indent="0" algn="r" rtl="1">
              <a:lnSpc>
                <a:spcPct val="110000"/>
              </a:lnSpc>
              <a:buNone/>
            </a:pPr>
            <a:r>
              <a:rPr lang="ar-SA" altLang="en-US" sz="3400" b="1" dirty="0">
                <a:solidFill>
                  <a:srgbClr val="8A1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فلن تضيع المعاملة بين الدوائر</a:t>
            </a:r>
            <a:endParaRPr lang="ar-SA" sz="3400" dirty="0"/>
          </a:p>
        </p:txBody>
      </p:sp>
      <p:sp>
        <p:nvSpPr>
          <p:cNvPr id="6" name="Text 1"/>
          <p:cNvSpPr txBox="1"/>
          <p:nvPr/>
        </p:nvSpPr>
        <p:spPr>
          <a:xfrm>
            <a:off x="4023360" y="2880360"/>
            <a:ext cx="7616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2000" dirty="0">
                <a:solidFill>
                  <a:srgbClr val="29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نظام واحد يربط الإجراء بالمسؤول والوقت والأثر</a:t>
            </a:r>
            <a:endParaRPr lang="ar-SA" sz="2000" dirty="0"/>
          </a:p>
        </p:txBody>
      </p:sp>
      <p:sp>
        <p:nvSpPr>
          <p:cNvPr id="7" name="Shape 2"/>
          <p:cNvSpPr/>
          <p:nvPr/>
        </p:nvSpPr>
        <p:spPr>
          <a:xfrm>
            <a:off x="1188720" y="4526280"/>
            <a:ext cx="11018520" cy="18288"/>
          </a:xfrm>
          <a:custGeom>
            <a:avLst/>
            <a:gdLst/>
            <a:ahLst/>
            <a:cxnLst/>
            <a:rect l="l" t="t" r="r" b="b"/>
            <a:pathLst>
              <a:path w="11018520" h="18288">
                <a:moveTo>
                  <a:pt x="11018520" y="0"/>
                </a:moveTo>
                <a:cubicBezTo>
                  <a:pt x="9182100" y="0"/>
                  <a:pt x="1836420" y="0"/>
                  <a:pt x="0" y="0"/>
                </a:cubicBezTo>
              </a:path>
            </a:pathLst>
          </a:custGeom>
          <a:ln w="50800">
            <a:solidFill>
              <a:srgbClr val="8A1832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9985248" y="4361688"/>
            <a:ext cx="329184" cy="329184"/>
          </a:xfrm>
          <a:prstGeom prst="ellipse">
            <a:avLst/>
          </a:prstGeom>
          <a:solidFill>
            <a:srgbClr val="8A1832"/>
          </a:solidFill>
          <a:ln w="31750">
            <a:solidFill>
              <a:srgbClr val="FFFDF8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923544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1250" b="1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خدمات الجمهور</a:t>
            </a:r>
            <a:endParaRPr lang="ar-SA" sz="1250" dirty="0"/>
          </a:p>
        </p:txBody>
      </p:sp>
      <p:sp>
        <p:nvSpPr>
          <p:cNvPr id="10" name="Shape 5"/>
          <p:cNvSpPr/>
          <p:nvPr/>
        </p:nvSpPr>
        <p:spPr>
          <a:xfrm>
            <a:off x="7790688" y="4361688"/>
            <a:ext cx="329184" cy="329184"/>
          </a:xfrm>
          <a:prstGeom prst="ellipse">
            <a:avLst/>
          </a:prstGeom>
          <a:solidFill>
            <a:srgbClr val="8A1832"/>
          </a:solidFill>
          <a:ln w="31750">
            <a:solidFill>
              <a:srgbClr val="FFFDF8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704088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1250" b="1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الهندسة</a:t>
            </a:r>
            <a:endParaRPr lang="ar-SA" sz="1250" dirty="0"/>
          </a:p>
        </p:txBody>
      </p:sp>
      <p:sp>
        <p:nvSpPr>
          <p:cNvPr id="12" name="Shape 7"/>
          <p:cNvSpPr/>
          <p:nvPr/>
        </p:nvSpPr>
        <p:spPr>
          <a:xfrm>
            <a:off x="5596128" y="4361688"/>
            <a:ext cx="329184" cy="329184"/>
          </a:xfrm>
          <a:prstGeom prst="ellipse">
            <a:avLst/>
          </a:prstGeom>
          <a:solidFill>
            <a:srgbClr val="8A1832"/>
          </a:solidFill>
          <a:ln w="31750">
            <a:solidFill>
              <a:srgbClr val="FFFDF8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484632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1250" b="1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المالية</a:t>
            </a:r>
            <a:endParaRPr lang="ar-SA" sz="1250" dirty="0"/>
          </a:p>
        </p:txBody>
      </p:sp>
      <p:sp>
        <p:nvSpPr>
          <p:cNvPr id="14" name="Shape 9"/>
          <p:cNvSpPr/>
          <p:nvPr/>
        </p:nvSpPr>
        <p:spPr>
          <a:xfrm>
            <a:off x="3401568" y="4361688"/>
            <a:ext cx="329184" cy="329184"/>
          </a:xfrm>
          <a:prstGeom prst="ellipse">
            <a:avLst/>
          </a:prstGeom>
          <a:solidFill>
            <a:srgbClr val="8A1832"/>
          </a:solidFill>
          <a:ln w="31750">
            <a:solidFill>
              <a:srgbClr val="FFFDF8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265176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1250" b="1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المدير</a:t>
            </a:r>
            <a:endParaRPr lang="ar-SA" sz="1250" dirty="0"/>
          </a:p>
        </p:txBody>
      </p:sp>
      <p:sp>
        <p:nvSpPr>
          <p:cNvPr id="16" name="Shape 11"/>
          <p:cNvSpPr/>
          <p:nvPr/>
        </p:nvSpPr>
        <p:spPr>
          <a:xfrm>
            <a:off x="731520" y="4160520"/>
            <a:ext cx="731520" cy="731520"/>
          </a:xfrm>
          <a:prstGeom prst="ellipse">
            <a:avLst/>
          </a:prstGeom>
          <a:solidFill>
            <a:srgbClr val="59613A"/>
          </a:solidFill>
          <a:ln w="38100">
            <a:solidFill>
              <a:srgbClr val="FFFDF8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" y="4334256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82880" y="49651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1300" b="1" dirty="0">
                <a:solidFill>
                  <a:srgbClr val="596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إنجاز</a:t>
            </a:r>
            <a:endParaRPr lang="ar-SA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2286000" y="5532120"/>
            <a:ext cx="7616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2800" b="1" dirty="0">
                <a:solidFill>
                  <a:srgbClr val="596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إجراءات أوضح، خدمة أفضل</a:t>
            </a:r>
            <a:endParaRPr lang="ar-SA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379</TotalTime>
  <Words>827</Words>
  <Application>Microsoft Office PowerPoint</Application>
  <PresentationFormat>Custom</PresentationFormat>
  <Paragraphs>267</Paragraphs>
  <Slides>15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طرف الخيط</dc:title>
  <dc:subject>PptxGenJS Presentation</dc:subject>
  <dc:creator>Tarf Al-Khayt</dc:creator>
  <cp:lastModifiedBy>Razan Shalabi</cp:lastModifiedBy>
  <cp:revision>5</cp:revision>
  <dcterms:created xsi:type="dcterms:W3CDTF">2026-09-21T14:33:10Z</dcterms:created>
  <dcterms:modified xsi:type="dcterms:W3CDTF">2026-09-21T21:58:13Z</dcterms:modified>
</cp:coreProperties>
</file>